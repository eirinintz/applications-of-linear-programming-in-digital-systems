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69" r:id="rId12"/>
    <p:sldId id="270" r:id="rId13"/>
    <p:sldId id="271" r:id="rId14"/>
    <p:sldId id="272" r:id="rId15"/>
    <p:sldId id="273" r:id="rId16"/>
    <p:sldId id="265" r:id="rId17"/>
    <p:sldId id="266" r:id="rId18"/>
  </p:sldIdLst>
  <p:sldSz cx="9144000" cy="6858000" type="screen4x3"/>
  <p:notesSz cx="6858000" cy="9144000"/>
  <p:defaultTextStyle>
    <a:defPPr>
      <a:defRPr lang="el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368" autoAdjust="0"/>
    <p:restoredTop sz="94660"/>
  </p:normalViewPr>
  <p:slideViewPr>
    <p:cSldViewPr>
      <p:cViewPr varScale="1">
        <p:scale>
          <a:sx n="68" d="100"/>
          <a:sy n="68" d="100"/>
        </p:scale>
        <p:origin x="-1452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- Ορθογώνιο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- Ευθεία γραμμή σύνδεσης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11 - Τίτλος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25" name="24 - Υπότιτλος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l-GR" smtClean="0"/>
              <a:t>Κάντε κλικ για να επεξεργαστείτε τον υπότιτλο του υποδείγματος</a:t>
            </a:r>
            <a:endParaRPr kumimoji="0" lang="en-US"/>
          </a:p>
        </p:txBody>
      </p:sp>
      <p:sp>
        <p:nvSpPr>
          <p:cNvPr id="31" name="30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18" name="17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el-GR"/>
          </a:p>
        </p:txBody>
      </p:sp>
      <p:sp>
        <p:nvSpPr>
          <p:cNvPr id="29" name="28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Αντι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περιεχομένου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6" name="5 - Θέση περιεχομένου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7" name="6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8" name="7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9" name="8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5" name="4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3" name="2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el-GR"/>
          </a:p>
        </p:txBody>
      </p:sp>
      <p:sp>
        <p:nvSpPr>
          <p:cNvPr id="4" name="3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ειμένου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l-GR" smtClean="0"/>
              <a:t>Kλικ για επεξεργασία των στυλ του υποδείγματος</a:t>
            </a:r>
          </a:p>
        </p:txBody>
      </p:sp>
      <p:sp>
        <p:nvSpPr>
          <p:cNvPr id="4" name="3 - Θέση περιεχομένου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- Ορθογώνιο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8 - Ορθογώνιο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 dirty="0"/>
          </a:p>
        </p:txBody>
      </p:sp>
      <p:sp>
        <p:nvSpPr>
          <p:cNvPr id="4" name="3 - Θέση κειμένου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l-GR" smtClean="0"/>
              <a:t>Kλικ για επεξεργασία των στυλ του υποδείγματος</a:t>
            </a:r>
          </a:p>
        </p:txBody>
      </p:sp>
      <p:sp>
        <p:nvSpPr>
          <p:cNvPr id="5" name="4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6" name="5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7" name="6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  <p:sp>
        <p:nvSpPr>
          <p:cNvPr id="10" name="9 - Θέση εικόνας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l-GR" smtClean="0"/>
              <a:t>Κάντε κλικ στο εικονίδιο για να προσθέσετε μια εικόνα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Κατακόρυφος τίτλος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" name="2 - Θέση κατακόρυφου κειμένου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lang="el-GR" smtClean="0"/>
              <a:t>Δεύτερου επιπέδου</a:t>
            </a:r>
          </a:p>
          <a:p>
            <a:pPr lvl="2" eaLnBrk="1" latinLnBrk="0" hangingPunct="1"/>
            <a:r>
              <a:rPr lang="el-GR" smtClean="0"/>
              <a:t>Τρίτου επιπέδου</a:t>
            </a:r>
          </a:p>
          <a:p>
            <a:pPr lvl="3" eaLnBrk="1" latinLnBrk="0" hangingPunct="1"/>
            <a:r>
              <a:rPr lang="el-GR" smtClean="0"/>
              <a:t>Τέταρτου επιπέδου</a:t>
            </a:r>
          </a:p>
          <a:p>
            <a:pPr lvl="4" eaLnBrk="1" latinLnBrk="0" hangingPunct="1"/>
            <a:r>
              <a:rPr lang="el-GR" smtClean="0"/>
              <a:t>Πέμπτου επιπέδου</a:t>
            </a:r>
            <a:endParaRPr kumimoji="0" lang="en-US"/>
          </a:p>
        </p:txBody>
      </p:sp>
      <p:sp>
        <p:nvSpPr>
          <p:cNvPr id="4" name="3 - Θέση ημερομηνίας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5" name="4 - Θέση υποσέλιδου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>
            <a:extLst/>
          </a:lstStyle>
          <a:p>
            <a:endParaRPr lang="el-GR"/>
          </a:p>
        </p:txBody>
      </p:sp>
      <p:sp>
        <p:nvSpPr>
          <p:cNvPr id="6" name="5 - Θέση αριθμού διαφάνειας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- Ορθογώνιο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3" name="2 - Θέση τίτλου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>
            <a:extLst/>
          </a:lstStyle>
          <a:p>
            <a:r>
              <a:rPr kumimoji="0" lang="el-GR" smtClean="0"/>
              <a:t>Kλικ για επεξεργασία του τίτλου</a:t>
            </a:r>
            <a:endParaRPr kumimoji="0" lang="en-US"/>
          </a:p>
        </p:txBody>
      </p:sp>
      <p:sp>
        <p:nvSpPr>
          <p:cNvPr id="31" name="30 - Θέση κειμένου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l-GR" smtClean="0"/>
              <a:t>Kλικ για επεξεργασία των στυλ του υποδείγματος</a:t>
            </a:r>
          </a:p>
          <a:p>
            <a:pPr lvl="1" eaLnBrk="1" latinLnBrk="0" hangingPunct="1"/>
            <a:r>
              <a:rPr kumimoji="0" lang="el-GR" smtClean="0"/>
              <a:t>Δεύτερου επιπέδου</a:t>
            </a:r>
          </a:p>
          <a:p>
            <a:pPr lvl="2" eaLnBrk="1" latinLnBrk="0" hangingPunct="1"/>
            <a:r>
              <a:rPr kumimoji="0" lang="el-GR" smtClean="0"/>
              <a:t>Τρίτου επιπέδου</a:t>
            </a:r>
          </a:p>
          <a:p>
            <a:pPr lvl="3" eaLnBrk="1" latinLnBrk="0" hangingPunct="1"/>
            <a:r>
              <a:rPr kumimoji="0" lang="el-GR" smtClean="0"/>
              <a:t>Τέταρτου επιπέδου</a:t>
            </a:r>
          </a:p>
          <a:p>
            <a:pPr lvl="4" eaLnBrk="1" latinLnBrk="0" hangingPunct="1"/>
            <a:r>
              <a:rPr kumimoji="0" lang="el-GR" smtClean="0"/>
              <a:t>Πέμπτου επιπέδου</a:t>
            </a:r>
            <a:endParaRPr kumimoji="0" lang="en-US"/>
          </a:p>
        </p:txBody>
      </p:sp>
      <p:sp>
        <p:nvSpPr>
          <p:cNvPr id="27" name="26 - Θέση ημερομηνίας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838EE886-0D7A-4B7B-A277-F092F4FA9F81}" type="datetimeFigureOut">
              <a:rPr lang="el-GR" smtClean="0"/>
              <a:pPr/>
              <a:t>12/11/2025</a:t>
            </a:fld>
            <a:endParaRPr lang="el-GR"/>
          </a:p>
        </p:txBody>
      </p:sp>
      <p:sp>
        <p:nvSpPr>
          <p:cNvPr id="4" name="3 - Θέση υποσέλιδου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el-GR"/>
          </a:p>
        </p:txBody>
      </p:sp>
      <p:sp>
        <p:nvSpPr>
          <p:cNvPr id="16" name="15 - Θέση αριθμού διαφάνειας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DFF4E068-FAC0-4888-9AE3-B06103564640}" type="slidenum">
              <a:rPr lang="el-GR" smtClean="0"/>
              <a:pPr/>
              <a:t>‹#›</a:t>
            </a:fld>
            <a:endParaRPr lang="el-G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 smtClean="0"/>
              <a:t>Applications of linear programming in digital Systems</a:t>
            </a:r>
            <a:endParaRPr lang="el-GR" sz="4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642918"/>
            <a:ext cx="7239000" cy="820122"/>
          </a:xfrm>
        </p:spPr>
        <p:txBody>
          <a:bodyPr>
            <a:normAutofit/>
          </a:bodyPr>
          <a:lstStyle/>
          <a:p>
            <a:pPr algn="ctr"/>
            <a:r>
              <a:rPr lang="en-US" sz="3400" dirty="0" smtClean="0"/>
              <a:t>INTRODUCTION</a:t>
            </a:r>
            <a:endParaRPr lang="el-GR" sz="34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2000240"/>
            <a:ext cx="7239000" cy="4455496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Linear Programming is a method whose goal is the best possible result in a problem whose prerequisites are the linear relationships of the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variables</a:t>
            </a:r>
          </a:p>
          <a:p>
            <a:r>
              <a:rPr lang="en-US" dirty="0" smtClean="0">
                <a:latin typeface="Calibri" pitchFamily="34" charset="0"/>
                <a:cs typeface="Calibri" pitchFamily="34" charset="0"/>
              </a:rPr>
              <a:t>Linear Programming is a powerful mathematical optimization tool for determining the appropriate allocation of resources (such as raw materials, human resources, time, money) to competing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demands</a:t>
            </a:r>
          </a:p>
          <a:p>
            <a:endParaRPr lang="el-GR" sz="22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28596" y="214290"/>
            <a:ext cx="7239000" cy="1143000"/>
          </a:xfrm>
        </p:spPr>
        <p:txBody>
          <a:bodyPr>
            <a:normAutofit/>
          </a:bodyPr>
          <a:lstStyle/>
          <a:p>
            <a:pPr algn="ctr"/>
            <a:r>
              <a:rPr lang="en-US" sz="3400" dirty="0" smtClean="0"/>
              <a:t>Properties of linear programming</a:t>
            </a:r>
            <a:endParaRPr lang="el-GR" sz="34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Limited resources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problem is based on constraints on available resources (time, materials, etc.) 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Objective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a clear goal of maximization or minimization (e.g. profit or cost) 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Linearity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objective function and constraints are linear (not products of variables or exponents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)</a:t>
            </a: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Homogeneity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constraints do not include fixed terms (optional in practical applications) 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Divisibility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variables can take continuous (e.g. decimal) values</a:t>
            </a:r>
            <a:endParaRPr lang="el-GR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Fundamental concepts of linear programming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Objective function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mathematical expression of the goal (e.g. maximum profit, minimum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cost)</a:t>
            </a: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Constraints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equations or inequalities that bind the variables </a:t>
            </a:r>
            <a:endParaRPr lang="en-US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Feasible 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Space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set of solutions that satisfy the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constraints</a:t>
            </a: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Optimal solution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point that optimizes the objective function within the feasible 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space</a:t>
            </a:r>
          </a:p>
          <a:p>
            <a:r>
              <a:rPr lang="en-US" i="1" dirty="0" smtClean="0">
                <a:latin typeface="Calibri" pitchFamily="34" charset="0"/>
                <a:cs typeface="Calibri" pitchFamily="34" charset="0"/>
              </a:rPr>
              <a:t>Simplex </a:t>
            </a:r>
            <a:r>
              <a:rPr lang="en-US" i="1" dirty="0" smtClean="0">
                <a:latin typeface="Calibri" pitchFamily="34" charset="0"/>
                <a:cs typeface="Calibri" pitchFamily="34" charset="0"/>
              </a:rPr>
              <a:t>method</a:t>
            </a:r>
            <a:r>
              <a:rPr lang="en-US" dirty="0" smtClean="0">
                <a:latin typeface="Calibri" pitchFamily="34" charset="0"/>
                <a:cs typeface="Calibri" pitchFamily="34" charset="0"/>
              </a:rPr>
              <a:t>: the most well-known algorithmic technique for solving LP problems to find the optimal solution</a:t>
            </a:r>
            <a:endParaRPr lang="el-GR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Applications of linear programming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Load management in cloud infrastructures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(e.g. VM allocation to physical machines to minimize energy consumption)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Optimization </a:t>
            </a: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of data transmission channels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Allocating bandwidth in networks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Task </a:t>
            </a: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scheduling in multi-core systems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Maximizing performance without overloading CPU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units</a:t>
            </a: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Bandwidth optimization in computer networks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(e.g. </a:t>
            </a:r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QoS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routing)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Power </a:t>
            </a: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management in Data Centers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(e.g. VM allocation to physical machines)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Circuit </a:t>
            </a: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design and optimization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(e.g. latency minimization) 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Efficient </a:t>
            </a: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project assignment in robotics or IoT systems</a:t>
            </a:r>
            <a:endParaRPr lang="en-US" sz="2400" i="1" dirty="0" smtClean="0">
              <a:latin typeface="Calibri" pitchFamily="34" charset="0"/>
              <a:cs typeface="Calibri" pitchFamily="34" charset="0"/>
            </a:endParaRPr>
          </a:p>
          <a:p>
            <a:endParaRPr lang="el-GR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 smtClean="0"/>
              <a:t>TRANSPORT AND ASSIGNMENT </a:t>
            </a:r>
            <a:r>
              <a:rPr lang="en-US" dirty="0" smtClean="0"/>
              <a:t>PROBLEMS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609416"/>
            <a:ext cx="7239000" cy="5105732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Calibri" pitchFamily="34" charset="0"/>
                <a:cs typeface="Calibri" pitchFamily="34" charset="0"/>
              </a:rPr>
              <a:t>Transportation and assignment problems are special cases of Linear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Programming</a:t>
            </a: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Transportation Problem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optimal transportation of products from different sources to different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destinations</a:t>
            </a:r>
          </a:p>
          <a:p>
            <a:pPr lvl="2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Purpose of the problem: minimizing transportation costs </a:t>
            </a:r>
          </a:p>
          <a:p>
            <a:pPr lvl="2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Modified Distribution Method (MODI)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algorithm</a:t>
            </a:r>
          </a:p>
          <a:p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Assignment Problem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concerns the allocation of projects or tasks to people or machines</a:t>
            </a:r>
          </a:p>
          <a:p>
            <a:pPr marL="795528" lvl="4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Problem objective: cost minimization or utility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maximization</a:t>
            </a:r>
          </a:p>
          <a:p>
            <a:pPr marL="795528" lvl="4" indent="-274320">
              <a:spcBef>
                <a:spcPts val="600"/>
              </a:spcBef>
              <a:buClr>
                <a:schemeClr val="tx2"/>
              </a:buClr>
              <a:buSzPct val="73000"/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Hungarian Algorithm</a:t>
            </a:r>
            <a:endParaRPr lang="en-US" sz="2200" dirty="0" smtClean="0">
              <a:latin typeface="Calibri" pitchFamily="34" charset="0"/>
              <a:cs typeface="Calibri" pitchFamily="34" charset="0"/>
            </a:endParaRPr>
          </a:p>
          <a:p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 smtClean="0"/>
              <a:t>SOLUTION WITH SPECIAL ALGORITHMS OR GENERAL METHODS (1/6)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Home Solution -&gt; Methods -&gt; Northwest Corner, Least Cost, Vogel 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MODI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Algorithm Steps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define the variables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</a:t>
            </a:r>
          </a:p>
          <a:p>
            <a:pPr marL="941832" lvl="2" indent="-45720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1800" baseline="-25000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sz="1800" baseline="-25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1800" dirty="0" smtClean="0"/>
              <a:t>: </a:t>
            </a:r>
            <a:r>
              <a:rPr lang="en-US" sz="1800" dirty="0" smtClean="0"/>
              <a:t>variable for the </a:t>
            </a:r>
            <a:r>
              <a:rPr lang="en-US" sz="1800" dirty="0" err="1" smtClean="0"/>
              <a:t>i</a:t>
            </a:r>
            <a:r>
              <a:rPr lang="en-US" sz="1800" dirty="0" smtClean="0"/>
              <a:t> row (origin</a:t>
            </a:r>
            <a:r>
              <a:rPr lang="en-US" sz="1800" dirty="0" smtClean="0"/>
              <a:t>),</a:t>
            </a:r>
          </a:p>
          <a:p>
            <a:pPr marL="941832" lvl="2" indent="-45720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800" dirty="0" smtClean="0"/>
              <a:t>Kⱼ: variable for the </a:t>
            </a:r>
            <a:r>
              <a:rPr lang="en-US" sz="1800" dirty="0" err="1" smtClean="0"/>
              <a:t>jth</a:t>
            </a:r>
            <a:r>
              <a:rPr lang="en-US" sz="1800" dirty="0" smtClean="0"/>
              <a:t> column (destination</a:t>
            </a:r>
            <a:r>
              <a:rPr lang="en-US" sz="1800" dirty="0" smtClean="0"/>
              <a:t>),</a:t>
            </a:r>
          </a:p>
          <a:p>
            <a:pPr marL="941832" lvl="2" indent="-457200">
              <a:buClr>
                <a:schemeClr val="tx2"/>
              </a:buClr>
              <a:buFont typeface="Wingdings" pitchFamily="2" charset="2"/>
              <a:buChar char="§"/>
            </a:pPr>
            <a:r>
              <a:rPr lang="en-US" sz="1800" dirty="0" err="1" smtClean="0">
                <a:latin typeface="Calibri" pitchFamily="34" charset="0"/>
                <a:cs typeface="Calibri" pitchFamily="34" charset="0"/>
              </a:rPr>
              <a:t>C</a:t>
            </a:r>
            <a:r>
              <a:rPr lang="en-US" sz="1800" baseline="-25000" dirty="0" err="1" smtClean="0">
                <a:latin typeface="Calibri" pitchFamily="34" charset="0"/>
                <a:cs typeface="Calibri" pitchFamily="34" charset="0"/>
              </a:rPr>
              <a:t>ij</a:t>
            </a:r>
            <a:r>
              <a:rPr lang="en-US" sz="1800" dirty="0" smtClean="0"/>
              <a:t> </a:t>
            </a:r>
            <a:r>
              <a:rPr lang="en-US" sz="1800" dirty="0" smtClean="0"/>
              <a:t>: cost of corresponding route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System of equations with unknowns as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2000" baseline="-25000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+ Kⱼ =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</a:t>
            </a:r>
            <a:r>
              <a:rPr lang="en-US" sz="2000" baseline="-25000" dirty="0" err="1" smtClean="0">
                <a:latin typeface="Calibri" pitchFamily="34" charset="0"/>
                <a:cs typeface="Calibri" pitchFamily="34" charset="0"/>
              </a:rPr>
              <a:t>ij</a:t>
            </a:r>
            <a:endParaRPr lang="en-US" sz="2000" dirty="0" smtClean="0">
              <a:latin typeface="Calibri" pitchFamily="34" charset="0"/>
              <a:cs typeface="Calibri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calculate the values ​​of the source and destination variables by setting R</a:t>
            </a:r>
            <a:r>
              <a:rPr lang="el-GR" sz="2000" baseline="-25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baseline="-25000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= 0 and solving for the remaining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variables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calculate the improvement index with the following formula: ΔΒ = 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C</a:t>
            </a:r>
            <a:r>
              <a:rPr lang="en-US" sz="2000" baseline="-25000" dirty="0" err="1" smtClean="0">
                <a:latin typeface="Calibri" pitchFamily="34" charset="0"/>
                <a:cs typeface="Calibri" pitchFamily="34" charset="0"/>
              </a:rPr>
              <a:t>ij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–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</a:t>
            </a:r>
            <a:r>
              <a:rPr lang="en-US" sz="2000" dirty="0" err="1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2000" baseline="-25000" dirty="0" err="1" smtClean="0">
                <a:latin typeface="Calibri" pitchFamily="34" charset="0"/>
                <a:cs typeface="Calibri" pitchFamily="34" charset="0"/>
              </a:rPr>
              <a:t>i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+ Kⱼ ) for each unused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route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choose the path with the smallest negative index</a:t>
            </a:r>
            <a:endParaRPr lang="el-GR" sz="20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 smtClean="0"/>
              <a:t>SOLUTION WITH SPECIAL ALGORITHMS OR GENERAL METHODS </a:t>
            </a:r>
            <a:r>
              <a:rPr lang="en-US" sz="3000" dirty="0" smtClean="0"/>
              <a:t>(2/6</a:t>
            </a:r>
            <a:r>
              <a:rPr lang="en-US" sz="3000" dirty="0" smtClean="0"/>
              <a:t>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500174"/>
            <a:ext cx="7239000" cy="521497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Exercise: 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Transfer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Table: Supply (row) x Demand (column), Cost (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box)</a:t>
            </a:r>
          </a:p>
          <a:p>
            <a:pPr>
              <a:buNone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Supply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Α, Β, Γ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Demand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Π1, Π2, Π3</a:t>
            </a:r>
            <a:endParaRPr lang="en-US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 smtClean="0"/>
              <a:t>Solution Steps: </a:t>
            </a:r>
            <a:endParaRPr lang="el-GR" sz="1800" dirty="0" smtClean="0"/>
          </a:p>
          <a:p>
            <a:pPr marL="342900" indent="-342900">
              <a:buNone/>
            </a:pPr>
            <a:r>
              <a:rPr lang="el-GR" sz="1800" dirty="0" smtClean="0"/>
              <a:t>1.</a:t>
            </a:r>
            <a:r>
              <a:rPr lang="en-US" sz="1800" dirty="0" smtClean="0"/>
              <a:t>Definition </a:t>
            </a:r>
            <a:r>
              <a:rPr lang="en-US" sz="1800" dirty="0" smtClean="0"/>
              <a:t>of variables: </a:t>
            </a:r>
            <a:endParaRPr lang="el-GR" sz="1800" dirty="0" smtClean="0"/>
          </a:p>
          <a:p>
            <a:pPr marL="342900" indent="-342900">
              <a:buNone/>
            </a:pPr>
            <a:r>
              <a:rPr lang="el-GR" sz="1600" dirty="0" smtClean="0"/>
              <a:t>   </a:t>
            </a:r>
            <a:r>
              <a:rPr lang="en-US" sz="1600" dirty="0" smtClean="0"/>
              <a:t>- </a:t>
            </a:r>
            <a:r>
              <a:rPr lang="en-US" sz="1600" dirty="0" smtClean="0"/>
              <a:t>Rᵢ: for row </a:t>
            </a:r>
            <a:r>
              <a:rPr lang="en-US" sz="1600" dirty="0" err="1" smtClean="0"/>
              <a:t>i</a:t>
            </a:r>
            <a:r>
              <a:rPr lang="en-US" sz="1600" dirty="0" smtClean="0"/>
              <a:t> (origin) </a:t>
            </a:r>
            <a:endParaRPr lang="el-GR" sz="1600" dirty="0" smtClean="0"/>
          </a:p>
          <a:p>
            <a:pPr marL="342900" indent="-342900">
              <a:buNone/>
            </a:pPr>
            <a:r>
              <a:rPr lang="el-GR" sz="1600" dirty="0" smtClean="0"/>
              <a:t> </a:t>
            </a:r>
            <a:r>
              <a:rPr lang="el-GR" sz="1600" dirty="0" smtClean="0"/>
              <a:t>  </a:t>
            </a:r>
            <a:r>
              <a:rPr lang="en-US" sz="1600" dirty="0" smtClean="0"/>
              <a:t>– Kⱼ</a:t>
            </a:r>
            <a:r>
              <a:rPr lang="en-US" sz="1600" dirty="0" smtClean="0"/>
              <a:t>: for column j (destination) </a:t>
            </a:r>
            <a:endParaRPr lang="el-GR" sz="1600" dirty="0" smtClean="0"/>
          </a:p>
          <a:p>
            <a:pPr marL="342900" indent="-342900">
              <a:buNone/>
            </a:pPr>
            <a:r>
              <a:rPr lang="el-GR" sz="1600" dirty="0" smtClean="0"/>
              <a:t>   </a:t>
            </a:r>
            <a:r>
              <a:rPr lang="en-US" sz="1600" dirty="0" smtClean="0"/>
              <a:t>- </a:t>
            </a:r>
            <a:r>
              <a:rPr lang="en-US" sz="1600" dirty="0" smtClean="0"/>
              <a:t>Cᵢⱼ: cost of transportation from </a:t>
            </a:r>
            <a:r>
              <a:rPr lang="en-US" sz="1600" dirty="0" err="1" smtClean="0"/>
              <a:t>i</a:t>
            </a:r>
            <a:r>
              <a:rPr lang="en-US" sz="1600" dirty="0" smtClean="0"/>
              <a:t> to </a:t>
            </a:r>
            <a:r>
              <a:rPr lang="en-US" sz="1600" dirty="0" smtClean="0"/>
              <a:t>j</a:t>
            </a:r>
            <a:endParaRPr lang="el-GR" sz="1600" dirty="0" smtClean="0"/>
          </a:p>
          <a:p>
            <a:pPr marL="342900" indent="-342900">
              <a:buNone/>
            </a:pPr>
            <a:r>
              <a:rPr lang="en-US" sz="1600" dirty="0" smtClean="0"/>
              <a:t>2. </a:t>
            </a:r>
            <a:r>
              <a:rPr lang="en-US" sz="1800" dirty="0" smtClean="0"/>
              <a:t>Initial basic feasible solution with Northwest Corner:</a:t>
            </a:r>
            <a:endParaRPr lang="el-GR" sz="1800" dirty="0" smtClean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" name="9 - Εικόνα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8860" y="2357430"/>
            <a:ext cx="5748659" cy="1285884"/>
          </a:xfrm>
          <a:prstGeom prst="rect">
            <a:avLst/>
          </a:prstGeom>
        </p:spPr>
      </p:pic>
      <p:pic>
        <p:nvPicPr>
          <p:cNvPr id="11" name="10 - Εικόνα" descr="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348" y="5643578"/>
            <a:ext cx="6926707" cy="121442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 smtClean="0"/>
              <a:t>SOLUTION WITH SPECIAL ALGORITHMS OR GENERAL METHODS </a:t>
            </a:r>
            <a:r>
              <a:rPr lang="en-US" sz="3000" dirty="0" smtClean="0"/>
              <a:t>(</a:t>
            </a:r>
            <a:r>
              <a:rPr lang="el-GR" sz="3000" dirty="0" smtClean="0"/>
              <a:t>3</a:t>
            </a:r>
            <a:r>
              <a:rPr lang="en-US" sz="3000" dirty="0" smtClean="0"/>
              <a:t>/6</a:t>
            </a:r>
            <a:r>
              <a:rPr lang="en-US" sz="3000" dirty="0" smtClean="0"/>
              <a:t>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214282" y="1428736"/>
            <a:ext cx="7481918" cy="542926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3. Calculation of variables R and K: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set R₁ =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0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From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the basic cells we have: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l-GR" sz="1800" dirty="0" smtClean="0">
                <a:latin typeface="Calibri" pitchFamily="34" charset="0"/>
                <a:cs typeface="Calibri" pitchFamily="34" charset="0"/>
              </a:rPr>
              <a:t>-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R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₁ + K₁ = 4 ⇒ K₁ = 4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            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R₂ + K₁ = 6 ⇒ R₂ = 2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           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R₂ + K₂ = 4 ⇒ K₂ = 2 </a:t>
            </a:r>
            <a:endParaRPr lang="el-GR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1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R₃ + K₂ = 6 ⇒ R₃ = 4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          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R₃ + K₃ = 4 ⇒ K₃ = 0 </a:t>
            </a:r>
            <a:endParaRPr lang="el-GR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l-GR" sz="2000" dirty="0" smtClean="0">
                <a:latin typeface="Calibri" pitchFamily="34" charset="0"/>
                <a:cs typeface="Calibri" pitchFamily="34" charset="0"/>
              </a:rPr>
              <a:t>4.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Calculation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of Improvement Index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Δ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ᵢⱼ: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l-GR" sz="1800" dirty="0" smtClean="0">
                <a:latin typeface="Calibri" pitchFamily="34" charset="0"/>
                <a:cs typeface="Calibri" pitchFamily="34" charset="0"/>
              </a:rPr>
              <a:t>- 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A–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Π2: Δ = 8 - (0+2) = 6 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      -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A–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Π3: Δ = 5 - (0+0) = 5  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    -</a:t>
            </a:r>
            <a:r>
              <a:rPr lang="en-US" sz="1800" dirty="0" smtClean="0">
                <a:latin typeface="Calibri" pitchFamily="34" charset="0"/>
                <a:cs typeface="Calibri" pitchFamily="34" charset="0"/>
              </a:rPr>
              <a:t>B–</a:t>
            </a:r>
            <a:r>
              <a:rPr lang="el-GR" sz="1800" dirty="0" smtClean="0">
                <a:latin typeface="Calibri" pitchFamily="34" charset="0"/>
                <a:cs typeface="Calibri" pitchFamily="34" charset="0"/>
              </a:rPr>
              <a:t>Π3: Δ = 3 - (2+0) = 1 </a:t>
            </a:r>
            <a:endParaRPr lang="el-GR" sz="18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All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Δ &gt; 0 ⇒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the solution is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optimal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Final Solution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 Total cost: (20×4) + (10×6) + (20×4) + (5×6) = 250</a:t>
            </a:r>
            <a:endParaRPr lang="el-GR" sz="20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3 - Εικόνα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786" y="5286388"/>
            <a:ext cx="6926843" cy="1214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n-US" sz="3000" dirty="0" smtClean="0"/>
              <a:t>SOLUTION WITH SPECIAL ALGORITHMS OR GENERAL METHODS </a:t>
            </a:r>
            <a:r>
              <a:rPr lang="en-US" sz="3000" dirty="0" smtClean="0"/>
              <a:t>(</a:t>
            </a:r>
            <a:r>
              <a:rPr lang="el-GR" sz="3000" dirty="0" smtClean="0"/>
              <a:t>4</a:t>
            </a:r>
            <a:r>
              <a:rPr lang="en-US" sz="3000" dirty="0" smtClean="0"/>
              <a:t>/6</a:t>
            </a:r>
            <a:r>
              <a:rPr lang="en-US" sz="3000" dirty="0" smtClean="0"/>
              <a:t>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500174"/>
            <a:ext cx="7239000" cy="5143536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No Initial Solution -&gt; No Method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Hungarian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Algorithm Steps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 marL="635508" lvl="1" indent="-342900">
              <a:buClr>
                <a:schemeClr val="tx2"/>
              </a:buClr>
              <a:buFont typeface="+mj-lt"/>
              <a:buAutoNum type="arabicPeriod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Finding the minimum values ​​of the columns of the cost table and subtracting them from the elements of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each column</a:t>
            </a:r>
            <a:endParaRPr lang="el-GR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635508" lvl="1" indent="-342900">
              <a:buClr>
                <a:schemeClr val="tx2"/>
              </a:buClr>
              <a:buFont typeface="+mj-lt"/>
              <a:buAutoNum type="arabicPeriod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Separation of the zeros of the table into "framed" independent and deleted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ones</a:t>
            </a:r>
            <a:endParaRPr lang="el-GR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635508" lvl="1" indent="-342900">
              <a:buClr>
                <a:schemeClr val="tx2"/>
              </a:buClr>
              <a:buFont typeface="+mj-lt"/>
              <a:buAutoNum type="arabicPeriod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The rows in which there are no leading zeros are marked, the columns that have a leading zero in at least one of the marked rows are marked, the rows that have a leading zero in a marked column are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marked</a:t>
            </a:r>
            <a:endParaRPr lang="el-GR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635508" lvl="1" indent="-342900">
              <a:buClr>
                <a:schemeClr val="tx2"/>
              </a:buClr>
              <a:buFont typeface="+mj-lt"/>
              <a:buAutoNum type="arabicPeriod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Covering the unmarked rows and marked columns. Finding the minimum value of the uncovered elements of the </a:t>
            </a: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array</a:t>
            </a:r>
            <a:endParaRPr lang="el-GR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635508" lvl="1" indent="-342900">
              <a:buClr>
                <a:schemeClr val="tx2"/>
              </a:buClr>
              <a:buFont typeface="+mj-lt"/>
              <a:buAutoNum type="arabicPeriod"/>
            </a:pPr>
            <a:r>
              <a:rPr lang="en-US" sz="20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Subtract the minimum value from the uncovered elements, add it to the twice-covered elements (intersections of covered rows and columns), and then repeat from the second step</a:t>
            </a:r>
            <a:endParaRPr lang="el-GR" sz="2000" dirty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 smtClean="0"/>
              <a:t>SOLUTION WITH SPECIAL ALGORITHMS OR GENERAL METHODS </a:t>
            </a:r>
            <a:r>
              <a:rPr lang="en-US" sz="3000" dirty="0" smtClean="0"/>
              <a:t>(</a:t>
            </a:r>
            <a:r>
              <a:rPr lang="el-GR" sz="3000" dirty="0" smtClean="0"/>
              <a:t>5</a:t>
            </a:r>
            <a:r>
              <a:rPr lang="en-US" sz="3000" dirty="0" smtClean="0"/>
              <a:t>/6</a:t>
            </a:r>
            <a:r>
              <a:rPr lang="en-US" sz="3000" dirty="0" smtClean="0"/>
              <a:t>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500174"/>
            <a:ext cx="7239000" cy="5357826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Exercise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: </a:t>
            </a: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Step </a:t>
            </a: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1: Subtracting minimums by column </a:t>
            </a:r>
            <a:endParaRPr lang="el-GR" sz="2200" u="sng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Initial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Cost Table: </a:t>
            </a: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Minimum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column values: [5, 2, 1, 4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]</a:t>
            </a: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New table after subtraction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:</a:t>
            </a: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Step </a:t>
            </a:r>
            <a:r>
              <a:rPr lang="en-US" sz="2200" u="sng" dirty="0" smtClean="0">
                <a:latin typeface="Calibri" pitchFamily="34" charset="0"/>
                <a:cs typeface="Calibri" pitchFamily="34" charset="0"/>
              </a:rPr>
              <a:t>2: Select independent zeros </a:t>
            </a:r>
            <a:endParaRPr lang="el-GR" sz="2200" u="sng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Select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zeros that are not in the same row or column: </a:t>
            </a:r>
            <a:r>
              <a:rPr lang="el-GR" sz="2200" dirty="0" smtClean="0">
                <a:latin typeface="Calibri" pitchFamily="34" charset="0"/>
                <a:cs typeface="Calibri" pitchFamily="34" charset="0"/>
              </a:rPr>
              <a:t>Γ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-E1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(0), A-E2 (0), </a:t>
            </a:r>
            <a:r>
              <a:rPr lang="el-GR" sz="2200" dirty="0" smtClean="0">
                <a:latin typeface="Calibri" pitchFamily="34" charset="0"/>
                <a:cs typeface="Calibri" pitchFamily="34" charset="0"/>
              </a:rPr>
              <a:t>Δ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-E4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(0) </a:t>
            </a:r>
            <a:endParaRPr lang="el-GR" sz="2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Not </a:t>
            </a:r>
            <a:r>
              <a:rPr lang="en-US" sz="2200" dirty="0" smtClean="0">
                <a:latin typeface="Calibri" pitchFamily="34" charset="0"/>
                <a:cs typeface="Calibri" pitchFamily="34" charset="0"/>
              </a:rPr>
              <a:t>enough (3 instead of 4), continue to Step 3</a:t>
            </a:r>
            <a:endParaRPr lang="el-GR" sz="22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3 - Εικόνα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76" y="2714620"/>
            <a:ext cx="5632239" cy="1194717"/>
          </a:xfrm>
          <a:prstGeom prst="rect">
            <a:avLst/>
          </a:prstGeom>
        </p:spPr>
      </p:pic>
      <p:pic>
        <p:nvPicPr>
          <p:cNvPr id="5" name="4 - Εικόνα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0100" y="4286256"/>
            <a:ext cx="5632239" cy="119471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000" dirty="0" smtClean="0"/>
              <a:t>SOLUTION WITH SPECIAL ALGORITHMS OR GENERAL METHODS </a:t>
            </a:r>
            <a:r>
              <a:rPr lang="en-US" sz="3000" dirty="0" smtClean="0"/>
              <a:t>(</a:t>
            </a:r>
            <a:r>
              <a:rPr lang="el-GR" sz="3000" dirty="0" smtClean="0"/>
              <a:t>6</a:t>
            </a:r>
            <a:r>
              <a:rPr lang="en-US" sz="3000" dirty="0" smtClean="0"/>
              <a:t>/6</a:t>
            </a:r>
            <a:r>
              <a:rPr lang="en-US" sz="3000" dirty="0" smtClean="0"/>
              <a:t>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Step 3: Notes </a:t>
            </a:r>
            <a:endParaRPr lang="el-GR" sz="2000" u="sng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–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Rows without a framed zero: B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–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Columns with a crossed out zero: E1, E2, E3, E4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–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Rows with a framed zero in these columns: A,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Γ, Δ</a:t>
            </a:r>
          </a:p>
          <a:p>
            <a:pPr>
              <a:buNone/>
            </a:pPr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Step 4: Cover and minimum uncovered </a:t>
            </a:r>
            <a:endParaRPr lang="el-GR" sz="2000" u="sng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All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rows and columns are covered, no uncovered elements, so let's repeat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Step </a:t>
            </a:r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5: Reassign and terminate </a:t>
            </a:r>
            <a:endParaRPr lang="el-GR" sz="2000" u="sng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choose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 A-E2 (2), B-E1 (6),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-E3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(1),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Δ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-E4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(4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n-US" sz="2000" dirty="0" smtClean="0">
                <a:latin typeface="Calibri" pitchFamily="34" charset="0"/>
                <a:cs typeface="Calibri" pitchFamily="34" charset="0"/>
              </a:rPr>
              <a:t>Final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Assignment: Total Minimum Cost: 13</a:t>
            </a:r>
            <a:endParaRPr lang="el-GR" sz="2000" dirty="0"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3 - Εικόνα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4414" y="5429264"/>
            <a:ext cx="6143668" cy="122341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357158" y="142852"/>
            <a:ext cx="7239000" cy="820122"/>
          </a:xfrm>
        </p:spPr>
        <p:txBody>
          <a:bodyPr/>
          <a:lstStyle/>
          <a:p>
            <a:pPr algn="ctr"/>
            <a:r>
              <a:rPr lang="en-US" dirty="0" smtClean="0"/>
              <a:t>MODI exercise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071546"/>
            <a:ext cx="7239000" cy="5572164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Sources (Supply): Warehouse A = 15, Warehouse B = 25, Warehouse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Γ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= 20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Destinations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(Demand): Store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Π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1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= 10, Store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Π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2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= 20,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r>
              <a:rPr lang="el-GR" sz="20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    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Store </a:t>
            </a:r>
            <a:r>
              <a:rPr lang="el-GR" sz="2000" dirty="0" smtClean="0">
                <a:latin typeface="Calibri" pitchFamily="34" charset="0"/>
                <a:cs typeface="Calibri" pitchFamily="34" charset="0"/>
              </a:rPr>
              <a:t>Π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3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= 30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Transportation 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Cost Table (Cᵢⱼ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):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Solution Steps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 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Definition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of variables: Rᵢ = value for each row (A, B, C), Kⱼ = value for each column (Π1, Π2, Π3), Cᵢⱼ = cost of moving from </a:t>
            </a:r>
            <a:r>
              <a:rPr lang="en-US" sz="17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i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 to </a:t>
            </a:r>
            <a:r>
              <a:rPr lang="en-US" sz="17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j</a:t>
            </a:r>
            <a:endParaRPr lang="el-GR" sz="17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Initial Basic Feasible Solution with Northwest Corner: starting from top left, putting in quantities, subtracting from supply/demand, etc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.)</a:t>
            </a:r>
            <a:endParaRPr lang="el-GR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Calculation of Rᵢ and Kⱼ from the basic cells (those that have quantity) </a:t>
            </a:r>
            <a:endParaRPr lang="el-GR" sz="18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Calculation </a:t>
            </a:r>
            <a:r>
              <a:rPr lang="en-US" sz="18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of Improvement Index Δᵢⱼ: For all non-basic cells, you calculate: Δᵢⱼ = Cᵢⱼ - (Rᵢ + Kⱼ) and check: If all Δ ≥ 0 → the solution is optimal, If any Δ &lt; 0 → you make an improvement (alternations)</a:t>
            </a:r>
            <a:endParaRPr lang="el-GR" sz="1700" dirty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3 - Εικόνα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290" y="2643182"/>
            <a:ext cx="5187268" cy="139586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357158" y="285728"/>
            <a:ext cx="7239000" cy="820122"/>
          </a:xfrm>
        </p:spPr>
        <p:txBody>
          <a:bodyPr/>
          <a:lstStyle/>
          <a:p>
            <a:pPr algn="ctr"/>
            <a:r>
              <a:rPr lang="en-US" dirty="0" smtClean="0"/>
              <a:t>Hungarian exercise</a:t>
            </a:r>
            <a:endParaRPr lang="el-GR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1214422"/>
            <a:ext cx="7239000" cy="5429288"/>
          </a:xfrm>
        </p:spPr>
        <p:txBody>
          <a:bodyPr>
            <a:normAutofit/>
          </a:bodyPr>
          <a:lstStyle/>
          <a:p>
            <a:r>
              <a:rPr lang="en-US" sz="2000" dirty="0" smtClean="0">
                <a:latin typeface="Calibri" pitchFamily="34" charset="0"/>
                <a:cs typeface="Calibri" pitchFamily="34" charset="0"/>
              </a:rPr>
              <a:t>We have 4 employees and 4 projects. We want to assign each employee a project with the lowest possible cost. The cost table is as follows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000" u="sng" dirty="0" smtClean="0">
                <a:latin typeface="Calibri" pitchFamily="34" charset="0"/>
                <a:cs typeface="Calibri" pitchFamily="34" charset="0"/>
              </a:rPr>
              <a:t>Solution Steps</a:t>
            </a:r>
            <a:r>
              <a:rPr lang="en-US" sz="2000" dirty="0" smtClean="0">
                <a:latin typeface="Calibri" pitchFamily="34" charset="0"/>
                <a:cs typeface="Calibri" pitchFamily="34" charset="0"/>
              </a:rPr>
              <a:t>:</a:t>
            </a:r>
            <a:endParaRPr lang="el-GR" sz="2000" dirty="0" smtClean="0"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Subtracting the minimum values ​​per column from each element of the corresponding column </a:t>
            </a:r>
            <a:endParaRPr lang="el-GR" sz="19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Selecting </a:t>
            </a: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independent zeros </a:t>
            </a:r>
            <a:endParaRPr lang="el-GR" sz="19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Notes </a:t>
            </a: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on covered and uncovered rows and columns </a:t>
            </a:r>
            <a:endParaRPr lang="el-GR" sz="19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Covering </a:t>
            </a: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rows and columns and calculating the minimum uncovered element </a:t>
            </a:r>
            <a:endParaRPr lang="el-GR" sz="1900" dirty="0" smtClean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  <a:p>
            <a:pPr marL="704088" lvl="1" indent="-457200">
              <a:buClr>
                <a:schemeClr val="tx2"/>
              </a:buClr>
              <a:buFont typeface="+mj-lt"/>
              <a:buAutoNum type="arabicPeriod"/>
            </a:pP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Reassigning </a:t>
            </a:r>
            <a:r>
              <a:rPr lang="en-US" sz="19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cs typeface="Calibri" pitchFamily="34" charset="0"/>
              </a:rPr>
              <a:t>and calculating the total minimum cost</a:t>
            </a:r>
            <a:endParaRPr lang="el-GR" sz="1900" dirty="0">
              <a:solidFill>
                <a:schemeClr val="tx1">
                  <a:lumMod val="95000"/>
                  <a:lumOff val="5000"/>
                </a:schemeClr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4" name="3 - Εικόνα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52" y="2285992"/>
            <a:ext cx="5217745" cy="1292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/>
          <p:cNvSpPr>
            <a:spLocks noGrp="1"/>
          </p:cNvSpPr>
          <p:nvPr>
            <p:ph type="title"/>
          </p:nvPr>
        </p:nvSpPr>
        <p:spPr>
          <a:xfrm>
            <a:off x="500034" y="214290"/>
            <a:ext cx="7239000" cy="519546"/>
          </a:xfrm>
        </p:spPr>
        <p:txBody>
          <a:bodyPr>
            <a:normAutofit/>
          </a:bodyPr>
          <a:lstStyle/>
          <a:p>
            <a:pPr algn="ctr"/>
            <a:r>
              <a:rPr lang="el-GR" sz="3000" dirty="0" smtClean="0"/>
              <a:t>ΒΙΒΛΙΟΓΡΑΦΙΑ (1/2)</a:t>
            </a:r>
            <a:endParaRPr lang="el-GR" sz="3000" dirty="0"/>
          </a:p>
        </p:txBody>
      </p:sp>
      <p:sp>
        <p:nvSpPr>
          <p:cNvPr id="3" name="Θέση περιεχομένου 2"/>
          <p:cNvSpPr>
            <a:spLocks noGrp="1"/>
          </p:cNvSpPr>
          <p:nvPr>
            <p:ph idx="1"/>
          </p:nvPr>
        </p:nvSpPr>
        <p:spPr>
          <a:xfrm>
            <a:off x="428596" y="928670"/>
            <a:ext cx="7239000" cy="5715040"/>
          </a:xfrm>
        </p:spPr>
        <p:txBody>
          <a:bodyPr>
            <a:normAutofit/>
          </a:bodyPr>
          <a:lstStyle/>
          <a:p>
            <a:r>
              <a:rPr lang="el-GR" sz="1700" dirty="0" err="1" smtClean="0"/>
              <a:t>Taha</a:t>
            </a:r>
            <a:r>
              <a:rPr lang="el-GR" sz="1700" dirty="0" smtClean="0"/>
              <a:t>, H. A. (2017). </a:t>
            </a:r>
            <a:r>
              <a:rPr lang="el-GR" sz="1700" i="1" dirty="0" smtClean="0"/>
              <a:t>Εισαγωγή στην ΕΠΙΧΕΙΡΗΣΙΑΚΗ ΕΡΕΥΝΑ.</a:t>
            </a:r>
            <a:r>
              <a:rPr lang="el-GR" sz="1700" dirty="0" smtClean="0"/>
              <a:t> Θεσσαλονίκη: ΔΕΚΑΤΗ ΕΚΔΟΣΗ, ΕΚΔΟΣΕΙΣ ΤΖΙΟΛΑ.</a:t>
            </a:r>
          </a:p>
          <a:p>
            <a:r>
              <a:rPr lang="el-GR" sz="1700" i="1" dirty="0" smtClean="0"/>
              <a:t>Γραμμικός προγραμματισμός - </a:t>
            </a:r>
            <a:r>
              <a:rPr lang="el-GR" sz="1700" i="1" dirty="0" err="1" smtClean="0"/>
              <a:t>Βικιπαίδεια</a:t>
            </a:r>
            <a:r>
              <a:rPr lang="el-GR" sz="1700" dirty="0" smtClean="0"/>
              <a:t>. (2016, 9 27). Ανάκτηση 4 25, 2025, από https://el.wikipedia.org/wiki/%CE%A0%CF%8D%CE%BB%CE%B7:%CE%9A%CF%8D%CF%81%CE%B9%CE%B1: https://el.wikipedia.org/wiki/%CE%93%CF%81%CE%B1%CE%BC%CE%BC%CE%B9%CE%BA%CF%8C%CF%82_%CF%80%CF%81%CE%BF%CE%B3%CF%81%CE%B1%CE%BC%CE%BC%CE%B1%CF%84%CE%B9%CF%83%CE%BC%CF%8C%CF%82</a:t>
            </a:r>
          </a:p>
          <a:p>
            <a:r>
              <a:rPr lang="el-GR" sz="1700" i="1" dirty="0" smtClean="0"/>
              <a:t>ΓΡΑΜΜΙΚΟΣ ΠΡΟΓΡΑΜΜΑΤΙΣΜΟΣ</a:t>
            </a:r>
            <a:r>
              <a:rPr lang="el-GR" sz="1700" dirty="0" smtClean="0"/>
              <a:t>. (2025, 4 25). Ανάκτηση από https://www.google.com/search?q=%CE%B3%CF%81%CE%B1%CE%BC%CE%BC%CE%B9%CE%BA%CF%8C%CF%83+%CF%80%CF%81%CE%BF%CE%B3%CF%81%CE%B1%CE%BC%CE%BC%CE%B1%CF%84%CE%B9%CF%83%CE%BC%CF%8C%CF%83+%CF%84%CE%BC%CE%B7%CE%BC%CE%B1+%CE%BC%CE%B7%CF%87%CE%B1%CE%BD%CE%B9%CE%BA%CF%: chrome-extension://efaidnbmnnnibpcajpcglclefindmkaj/https://people.iee.ihu.gr/~vkostogl/files/Epixeirisiaki/Grammikos%20Programmatismos.pdf</a:t>
            </a:r>
          </a:p>
        </p:txBody>
      </p:sp>
    </p:spTree>
    <p:extLst>
      <p:ext uri="{BB962C8B-B14F-4D97-AF65-F5344CB8AC3E}">
        <p14:creationId xmlns="" xmlns:p14="http://schemas.microsoft.com/office/powerpoint/2010/main" val="3481166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500034" y="142852"/>
            <a:ext cx="7239000" cy="605808"/>
          </a:xfrm>
        </p:spPr>
        <p:txBody>
          <a:bodyPr>
            <a:normAutofit/>
          </a:bodyPr>
          <a:lstStyle/>
          <a:p>
            <a:pPr algn="ctr"/>
            <a:r>
              <a:rPr lang="el-GR" sz="3000" dirty="0" smtClean="0"/>
              <a:t>ΒΙΒΛΙΟΓΡΑΦΙΑ (2/2)</a:t>
            </a:r>
            <a:endParaRPr lang="el-GR" sz="3000" dirty="0"/>
          </a:p>
        </p:txBody>
      </p:sp>
      <p:sp>
        <p:nvSpPr>
          <p:cNvPr id="3" name="2 - Θέση περιεχομένου"/>
          <p:cNvSpPr>
            <a:spLocks noGrp="1"/>
          </p:cNvSpPr>
          <p:nvPr>
            <p:ph idx="1"/>
          </p:nvPr>
        </p:nvSpPr>
        <p:spPr>
          <a:xfrm>
            <a:off x="457200" y="857232"/>
            <a:ext cx="7239000" cy="5786478"/>
          </a:xfrm>
        </p:spPr>
        <p:txBody>
          <a:bodyPr>
            <a:normAutofit fontScale="25000" lnSpcReduction="20000"/>
          </a:bodyPr>
          <a:lstStyle/>
          <a:p>
            <a:r>
              <a:rPr lang="el-GR" sz="6400" i="1" dirty="0" smtClean="0"/>
              <a:t>Μελέτη και αποτίμηση αλγορίθμων επίλυσης του προβλήματος ανάθεσης</a:t>
            </a:r>
            <a:r>
              <a:rPr lang="el-GR" sz="6400" dirty="0" smtClean="0"/>
              <a:t>. (2025, 4 25). Ανάκτηση από https://www.google.com/search?q=%CE%BC%CE%B5%CE%BB%CE%B5%CF%84%CE%B7+%CE%BA%CE%B1%CE%B9+%CE%B1%CF%80%CE%BF%CF%84%CE%B9%CE%BC%CE%B7%CF%83%CE%B7+%CE%B1%CE%BB%CE%B3%CE%BF%CF%81%CE%B9%CE%B8%CE%BC%CF%89%CF%82+%CE%B5%CF%80%CE%B9%CE%BB%CF%85%CF%83%CE%B7%CF%82+&amp;s: chrome-extension://efaidnbmnnnibpcajpcglclefindmkaj/https://ir.lib.uth.gr/xmlui/bitstream/handle/11615/41315/10704.pdf?sequence=1&amp;isAllowed=y</a:t>
            </a:r>
          </a:p>
          <a:p>
            <a:r>
              <a:rPr lang="el-GR" sz="6400" i="1" dirty="0" smtClean="0"/>
              <a:t>πρόβλημα μεταφοράς</a:t>
            </a:r>
            <a:r>
              <a:rPr lang="el-GR" sz="6400" dirty="0" smtClean="0"/>
              <a:t>. (2025, 4 25). Ανάκτηση από https://www.google.com/search?q=%CE%A0%CF%81%CE%BF%CE%B2%CE%BB%CE%B7%CE%BC%CE%B1+%CE%BC%CE%B5%CF%84%CE%B1%CF%86%CE%BF%CF%81%CE%B1%CF%82&amp;oq=%CE%A0%CF%81%CE%BF%CE%B2%CE%BB%CE%B7%CE%BC%CE%B1+%CE%BC%CE%B5%CF%84%CE%B1%CF%86%CE%BF%CF%81%CE%B1%CF%82&amp;gs_lcrp=EgZj: chrome-extension://efaidnbmnnnibpcajpcglclefindmkaj/https://eclass.upatras.gr/modules/document/file.php/ECON1281/%CE%A0%CE%91%CE%A1%CE%9F%CE%A5%CE%A3%CE%99%CE%91%CE%A3%CE%95%CE%99%CE%A3%20%CE%9C%CE%91%CE%98%CE%97%CE%9C%CE%91%CE%A4%CE%A9%CE%9D/%CE%95%CF%80</a:t>
            </a:r>
          </a:p>
          <a:p>
            <a:r>
              <a:rPr lang="el-GR" sz="6400" i="1" dirty="0" smtClean="0"/>
              <a:t>Τμήμα 2.4: Προβλήματα Κατανομής ή Ανάθεσης</a:t>
            </a:r>
            <a:r>
              <a:rPr lang="el-GR" sz="6400" dirty="0" smtClean="0"/>
              <a:t>. (2025, 4 25). Ανάκτηση από https://www.google.com/search?q=%CF%80%CF%81%CE%BF%CE%B2%CE%BB%CE%B7%CE%BC%CE%B1%CF%84%CE%B1+%CE%BA%CE%B1%CF%84%CE%B1%CE%BD%CE%BF%CE%BC%CE%B7%CF%82+%CE%BA%CE%B1%CE%B9+%CE%B1%CE%BD%CE%B1%CE%B8%CE%B5%CF%83%CE%B7%CF%82&amp;sca_esv=c0e29f6dcc44160e&amp;ei=R1gLaLCMBvm: https://users.uniwa.gr/vmouss/ebooks/optimee/sections/section24_problkatanathesis.html</a:t>
            </a:r>
          </a:p>
          <a:p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- Τίτλος"/>
          <p:cNvSpPr>
            <a:spLocks noGrp="1"/>
          </p:cNvSpPr>
          <p:nvPr>
            <p:ph type="title"/>
          </p:nvPr>
        </p:nvSpPr>
        <p:spPr>
          <a:xfrm>
            <a:off x="457200" y="2500306"/>
            <a:ext cx="7239000" cy="2000264"/>
          </a:xfrm>
        </p:spPr>
        <p:txBody>
          <a:bodyPr>
            <a:normAutofit/>
          </a:bodyPr>
          <a:lstStyle/>
          <a:p>
            <a:pPr algn="ctr"/>
            <a:r>
              <a:rPr lang="en-US" sz="3000" dirty="0" smtClean="0">
                <a:solidFill>
                  <a:schemeClr val="tx2"/>
                </a:solidFill>
              </a:rPr>
              <a:t>Thank you very much for your time!</a:t>
            </a:r>
            <a:r>
              <a:rPr lang="el-GR" sz="4000" dirty="0" smtClean="0">
                <a:solidFill>
                  <a:schemeClr val="tx2"/>
                </a:solidFill>
              </a:rPr>
              <a:t/>
            </a:r>
            <a:br>
              <a:rPr lang="el-GR" sz="4000" dirty="0" smtClean="0">
                <a:solidFill>
                  <a:schemeClr val="tx2"/>
                </a:solidFill>
              </a:rPr>
            </a:br>
            <a:endParaRPr lang="el-G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Αφθονία">
  <a:themeElements>
    <a:clrScheme name="Αφθονία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Αφθονία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Αφθονία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128</TotalTime>
  <Words>1565</Words>
  <Application>Microsoft Office PowerPoint</Application>
  <PresentationFormat>Προβολή στην οθόνη (4:3)</PresentationFormat>
  <Paragraphs>139</Paragraphs>
  <Slides>17</Slides>
  <Notes>0</Notes>
  <HiddenSlides>0</HiddenSlides>
  <MMClips>0</MMClips>
  <ScaleCrop>false</ScaleCrop>
  <HeadingPairs>
    <vt:vector size="4" baseType="variant">
      <vt:variant>
        <vt:lpstr>Θέμα</vt:lpstr>
      </vt:variant>
      <vt:variant>
        <vt:i4>1</vt:i4>
      </vt:variant>
      <vt:variant>
        <vt:lpstr>Τίτλοι διαφανειών</vt:lpstr>
      </vt:variant>
      <vt:variant>
        <vt:i4>17</vt:i4>
      </vt:variant>
    </vt:vector>
  </HeadingPairs>
  <TitlesOfParts>
    <vt:vector size="18" baseType="lpstr">
      <vt:lpstr>Αφθονία</vt:lpstr>
      <vt:lpstr>Applications of linear programming in digital Systems</vt:lpstr>
      <vt:lpstr>INTRODUCTION</vt:lpstr>
      <vt:lpstr>Properties of linear programming</vt:lpstr>
      <vt:lpstr>Fundamental concepts of linear programming</vt:lpstr>
      <vt:lpstr>Applications of linear programming</vt:lpstr>
      <vt:lpstr>TRANSPORT AND ASSIGNMENT PROBLEMS</vt:lpstr>
      <vt:lpstr>SOLUTION WITH SPECIAL ALGORITHMS OR GENERAL METHODS (1/6)</vt:lpstr>
      <vt:lpstr>SOLUTION WITH SPECIAL ALGORITHMS OR GENERAL METHODS (2/6)</vt:lpstr>
      <vt:lpstr>SOLUTION WITH SPECIAL ALGORITHMS OR GENERAL METHODS (3/6)</vt:lpstr>
      <vt:lpstr>SOLUTION WITH SPECIAL ALGORITHMS OR GENERAL METHODS (4/6)</vt:lpstr>
      <vt:lpstr>SOLUTION WITH SPECIAL ALGORITHMS OR GENERAL METHODS (5/6)</vt:lpstr>
      <vt:lpstr>SOLUTION WITH SPECIAL ALGORITHMS OR GENERAL METHODS (6/6)</vt:lpstr>
      <vt:lpstr>MODI exercise</vt:lpstr>
      <vt:lpstr>Hungarian exercise</vt:lpstr>
      <vt:lpstr>ΒΙΒΛΙΟΓΡΑΦΙΑ (1/2)</vt:lpstr>
      <vt:lpstr>ΒΙΒΛΙΟΓΡΑΦΙΑ (2/2)</vt:lpstr>
      <vt:lpstr>Thank you very much for your time!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linear programming in digital Systems</dc:title>
  <dc:creator>Ειρήνη</dc:creator>
  <cp:lastModifiedBy>Ειρήνη</cp:lastModifiedBy>
  <cp:revision>37</cp:revision>
  <dcterms:created xsi:type="dcterms:W3CDTF">2025-11-12T14:46:27Z</dcterms:created>
  <dcterms:modified xsi:type="dcterms:W3CDTF">2025-11-12T16:56:13Z</dcterms:modified>
</cp:coreProperties>
</file>