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7" r:id="rId4"/>
    <p:sldId id="276" r:id="rId5"/>
    <p:sldId id="272" r:id="rId6"/>
    <p:sldId id="258" r:id="rId7"/>
    <p:sldId id="270" r:id="rId8"/>
    <p:sldId id="264" r:id="rId9"/>
    <p:sldId id="268" r:id="rId10"/>
    <p:sldId id="263" r:id="rId11"/>
    <p:sldId id="265" r:id="rId12"/>
    <p:sldId id="269" r:id="rId13"/>
    <p:sldId id="260" r:id="rId14"/>
    <p:sldId id="266" r:id="rId15"/>
    <p:sldId id="261" r:id="rId16"/>
    <p:sldId id="278" r:id="rId17"/>
    <p:sldId id="271" r:id="rId18"/>
  </p:sldIdLst>
  <p:sldSz cx="9144000" cy="6858000" type="screen4x3"/>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Μεσαίο στυλ 2 - Έμφαση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584" autoAdjust="0"/>
    <p:restoredTop sz="86457" autoAdjust="0"/>
  </p:normalViewPr>
  <p:slideViewPr>
    <p:cSldViewPr>
      <p:cViewPr varScale="1">
        <p:scale>
          <a:sx n="73" d="100"/>
          <a:sy n="73" d="100"/>
        </p:scale>
        <p:origin x="-1374" y="-102"/>
      </p:cViewPr>
      <p:guideLst>
        <p:guide orient="horz" pos="2160"/>
        <p:guide pos="2880"/>
      </p:guideLst>
    </p:cSldViewPr>
  </p:slideViewPr>
  <p:outlineViewPr>
    <p:cViewPr>
      <p:scale>
        <a:sx n="33" d="100"/>
        <a:sy n="33" d="100"/>
      </p:scale>
      <p:origin x="230" y="590"/>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Διαφάνεια τίτλου">
    <p:bg>
      <p:bgRef idx="1002">
        <a:schemeClr val="bg1"/>
      </p:bgRef>
    </p:bg>
    <p:spTree>
      <p:nvGrpSpPr>
        <p:cNvPr id="1" name=""/>
        <p:cNvGrpSpPr/>
        <p:nvPr/>
      </p:nvGrpSpPr>
      <p:grpSpPr>
        <a:xfrm>
          <a:off x="0" y="0"/>
          <a:ext cx="0" cy="0"/>
          <a:chOff x="0" y="0"/>
          <a:chExt cx="0" cy="0"/>
        </a:xfrm>
      </p:grpSpPr>
      <p:sp>
        <p:nvSpPr>
          <p:cNvPr id="8" name="Ορθογώνιο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Ευθεία γραμμή σύνδεσης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Τίτλος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l-GR" smtClean="0"/>
              <a:t>Στυλ κύριου τίτλου</a:t>
            </a:r>
            <a:endParaRPr kumimoji="0" lang="en-US"/>
          </a:p>
        </p:txBody>
      </p:sp>
      <p:sp>
        <p:nvSpPr>
          <p:cNvPr id="25" name="Υπότιτλος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l-GR" smtClean="0"/>
              <a:t>Στυλ κύριου υπότιτλου</a:t>
            </a:r>
            <a:endParaRPr kumimoji="0" lang="en-US"/>
          </a:p>
        </p:txBody>
      </p:sp>
      <p:sp>
        <p:nvSpPr>
          <p:cNvPr id="31" name="Θέση ημερομηνίας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F01AE985-7B61-4359-AD30-BA5E79355099}" type="datetimeFigureOut">
              <a:rPr lang="el-GR" smtClean="0"/>
              <a:pPr/>
              <a:t>8/11/2025</a:t>
            </a:fld>
            <a:endParaRPr lang="el-GR"/>
          </a:p>
        </p:txBody>
      </p:sp>
      <p:sp>
        <p:nvSpPr>
          <p:cNvPr id="18" name="Θέση υποσέλιδου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l-GR"/>
          </a:p>
        </p:txBody>
      </p:sp>
      <p:sp>
        <p:nvSpPr>
          <p:cNvPr id="29" name="Θέση αριθμού διαφάνειας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E27BECB3-5A9B-413C-8648-B6AC85A9ACF8}" type="slidenum">
              <a:rPr lang="el-GR" smtClean="0"/>
              <a:pPr/>
              <a:t>‹#›</a:t>
            </a:fld>
            <a:endParaRPr lang="el-G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extLst/>
          </a:lstStyle>
          <a:p>
            <a:r>
              <a:rPr kumimoji="0" lang="el-GR" smtClean="0"/>
              <a:t>Στυλ κύριου τίτλου</a:t>
            </a:r>
            <a:endParaRPr kumimoji="0" lang="en-US"/>
          </a:p>
        </p:txBody>
      </p:sp>
      <p:sp>
        <p:nvSpPr>
          <p:cNvPr id="3" name="Θέση περιεχομένου 2"/>
          <p:cNvSpPr>
            <a:spLocks noGrp="1"/>
          </p:cNvSpPr>
          <p:nvPr>
            <p:ph idx="1"/>
          </p:nvPr>
        </p:nvSpPr>
        <p:spPr/>
        <p:txBody>
          <a:bodyPr/>
          <a:lstStyle>
            <a:extLst/>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kumimoji="0" lang="en-US"/>
          </a:p>
        </p:txBody>
      </p:sp>
      <p:sp>
        <p:nvSpPr>
          <p:cNvPr id="4" name="Θέση ημερομηνίας 3"/>
          <p:cNvSpPr>
            <a:spLocks noGrp="1"/>
          </p:cNvSpPr>
          <p:nvPr>
            <p:ph type="dt" sz="half" idx="10"/>
          </p:nvPr>
        </p:nvSpPr>
        <p:spPr/>
        <p:txBody>
          <a:bodyPr/>
          <a:lstStyle>
            <a:extLst/>
          </a:lstStyle>
          <a:p>
            <a:fld id="{F01AE985-7B61-4359-AD30-BA5E79355099}" type="datetimeFigureOut">
              <a:rPr lang="el-GR" smtClean="0"/>
              <a:pPr/>
              <a:t>8/11/2025</a:t>
            </a:fld>
            <a:endParaRPr lang="el-GR"/>
          </a:p>
        </p:txBody>
      </p:sp>
      <p:sp>
        <p:nvSpPr>
          <p:cNvPr id="5" name="Θέση υποσέλιδου 4"/>
          <p:cNvSpPr>
            <a:spLocks noGrp="1"/>
          </p:cNvSpPr>
          <p:nvPr>
            <p:ph type="ftr" sz="quarter" idx="11"/>
          </p:nvPr>
        </p:nvSpPr>
        <p:spPr/>
        <p:txBody>
          <a:bodyPr/>
          <a:lstStyle>
            <a:extLst/>
          </a:lstStyle>
          <a:p>
            <a:endParaRPr lang="el-GR"/>
          </a:p>
        </p:txBody>
      </p:sp>
      <p:sp>
        <p:nvSpPr>
          <p:cNvPr id="6" name="Θέση αριθμού διαφάνειας 5"/>
          <p:cNvSpPr>
            <a:spLocks noGrp="1"/>
          </p:cNvSpPr>
          <p:nvPr>
            <p:ph type="sldNum" sz="quarter" idx="12"/>
          </p:nvPr>
        </p:nvSpPr>
        <p:spPr/>
        <p:txBody>
          <a:bodyPr/>
          <a:lstStyle>
            <a:extLst/>
          </a:lstStyle>
          <a:p>
            <a:fld id="{E27BECB3-5A9B-413C-8648-B6AC85A9ACF8}" type="slidenum">
              <a:rPr lang="el-GR" smtClean="0"/>
              <a:pPr/>
              <a:t>‹#›</a:t>
            </a:fld>
            <a:endParaRPr lang="el-G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bg>
      <p:bgRef idx="1001">
        <a:schemeClr val="bg1"/>
      </p:bgRef>
    </p:bg>
    <p:spTree>
      <p:nvGrpSpPr>
        <p:cNvPr id="1" name=""/>
        <p:cNvGrpSpPr/>
        <p:nvPr/>
      </p:nvGrpSpPr>
      <p:grpSpPr>
        <a:xfrm>
          <a:off x="0" y="0"/>
          <a:ext cx="0" cy="0"/>
          <a:chOff x="0" y="0"/>
          <a:chExt cx="0" cy="0"/>
        </a:xfrm>
      </p:grpSpPr>
      <p:sp>
        <p:nvSpPr>
          <p:cNvPr id="2" name="Τίτλος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l-GR" smtClean="0"/>
              <a:t>Στυλ κύριου τίτλου</a:t>
            </a:r>
            <a:endParaRPr kumimoji="0" lang="en-US"/>
          </a:p>
        </p:txBody>
      </p:sp>
      <p:sp>
        <p:nvSpPr>
          <p:cNvPr id="3" name="Θέση κειμένου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l-GR" smtClean="0"/>
              <a:t>Στυλ υποδείγματος κειμένου</a:t>
            </a:r>
          </a:p>
        </p:txBody>
      </p:sp>
      <p:sp>
        <p:nvSpPr>
          <p:cNvPr id="4" name="Θέση ημερομηνίας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F01AE985-7B61-4359-AD30-BA5E79355099}" type="datetimeFigureOut">
              <a:rPr lang="el-GR" smtClean="0"/>
              <a:pPr/>
              <a:t>8/11/2025</a:t>
            </a:fld>
            <a:endParaRPr lang="el-GR"/>
          </a:p>
        </p:txBody>
      </p:sp>
      <p:sp>
        <p:nvSpPr>
          <p:cNvPr id="5" name="Θέση υποσέλιδου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l-GR"/>
          </a:p>
        </p:txBody>
      </p:sp>
      <p:sp>
        <p:nvSpPr>
          <p:cNvPr id="6" name="Θέση αριθμού διαφάνειας 5"/>
          <p:cNvSpPr>
            <a:spLocks noGrp="1"/>
          </p:cNvSpPr>
          <p:nvPr>
            <p:ph type="sldNum" sz="quarter" idx="12"/>
          </p:nvPr>
        </p:nvSpPr>
        <p:spPr>
          <a:xfrm>
            <a:off x="6733952" y="6555112"/>
            <a:ext cx="588336" cy="228600"/>
          </a:xfrm>
        </p:spPr>
        <p:txBody>
          <a:bodyPr/>
          <a:lstStyle>
            <a:extLst/>
          </a:lstStyle>
          <a:p>
            <a:fld id="{E27BECB3-5A9B-413C-8648-B6AC85A9ACF8}" type="slidenum">
              <a:rPr lang="el-GR" smtClean="0"/>
              <a:pPr/>
              <a:t>‹#›</a:t>
            </a:fld>
            <a:endParaRPr lang="el-G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p:cNvSpPr>
            <a:spLocks noGrp="1"/>
          </p:cNvSpPr>
          <p:nvPr>
            <p:ph type="title"/>
          </p:nvPr>
        </p:nvSpPr>
        <p:spPr>
          <a:xfrm>
            <a:off x="457200" y="320040"/>
            <a:ext cx="7242048" cy="1143000"/>
          </a:xfrm>
        </p:spPr>
        <p:txBody>
          <a:bodyPr/>
          <a:lstStyle>
            <a:extLst/>
          </a:lstStyle>
          <a:p>
            <a:r>
              <a:rPr kumimoji="0" lang="el-GR" smtClean="0"/>
              <a:t>Στυλ κύριου τίτλου</a:t>
            </a:r>
            <a:endParaRPr kumimoji="0" lang="en-US"/>
          </a:p>
        </p:txBody>
      </p:sp>
      <p:sp>
        <p:nvSpPr>
          <p:cNvPr id="3" name="Θέση περιεχομένου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kumimoji="0" lang="en-US"/>
          </a:p>
        </p:txBody>
      </p:sp>
      <p:sp>
        <p:nvSpPr>
          <p:cNvPr id="4" name="Θέση περιεχομένου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kumimoji="0" lang="en-US"/>
          </a:p>
        </p:txBody>
      </p:sp>
      <p:sp>
        <p:nvSpPr>
          <p:cNvPr id="5" name="Θέση ημερομηνίας 4"/>
          <p:cNvSpPr>
            <a:spLocks noGrp="1"/>
          </p:cNvSpPr>
          <p:nvPr>
            <p:ph type="dt" sz="half" idx="10"/>
          </p:nvPr>
        </p:nvSpPr>
        <p:spPr/>
        <p:txBody>
          <a:bodyPr/>
          <a:lstStyle>
            <a:extLst/>
          </a:lstStyle>
          <a:p>
            <a:fld id="{F01AE985-7B61-4359-AD30-BA5E79355099}" type="datetimeFigureOut">
              <a:rPr lang="el-GR" smtClean="0"/>
              <a:pPr/>
              <a:t>8/11/2025</a:t>
            </a:fld>
            <a:endParaRPr lang="el-GR"/>
          </a:p>
        </p:txBody>
      </p:sp>
      <p:sp>
        <p:nvSpPr>
          <p:cNvPr id="6" name="Θέση υποσέλιδου 5"/>
          <p:cNvSpPr>
            <a:spLocks noGrp="1"/>
          </p:cNvSpPr>
          <p:nvPr>
            <p:ph type="ftr" sz="quarter" idx="11"/>
          </p:nvPr>
        </p:nvSpPr>
        <p:spPr/>
        <p:txBody>
          <a:bodyPr/>
          <a:lstStyle>
            <a:extLst/>
          </a:lstStyle>
          <a:p>
            <a:endParaRPr lang="el-GR"/>
          </a:p>
        </p:txBody>
      </p:sp>
      <p:sp>
        <p:nvSpPr>
          <p:cNvPr id="7" name="Θέση αριθμού διαφάνειας 6"/>
          <p:cNvSpPr>
            <a:spLocks noGrp="1"/>
          </p:cNvSpPr>
          <p:nvPr>
            <p:ph type="sldNum" sz="quarter" idx="12"/>
          </p:nvPr>
        </p:nvSpPr>
        <p:spPr/>
        <p:txBody>
          <a:bodyPr/>
          <a:lstStyle>
            <a:extLst/>
          </a:lstStyle>
          <a:p>
            <a:fld id="{E27BECB3-5A9B-413C-8648-B6AC85A9ACF8}" type="slidenum">
              <a:rPr lang="el-GR" smtClean="0"/>
              <a:pPr/>
              <a:t>‹#›</a:t>
            </a:fld>
            <a:endParaRPr lang="el-G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p:cNvSpPr>
            <a:spLocks noGrp="1"/>
          </p:cNvSpPr>
          <p:nvPr>
            <p:ph type="title"/>
          </p:nvPr>
        </p:nvSpPr>
        <p:spPr>
          <a:xfrm>
            <a:off x="457200" y="320040"/>
            <a:ext cx="7242048" cy="1143000"/>
          </a:xfrm>
        </p:spPr>
        <p:txBody>
          <a:bodyPr anchor="b"/>
          <a:lstStyle>
            <a:lvl1pPr>
              <a:defRPr/>
            </a:lvl1pPr>
            <a:extLst/>
          </a:lstStyle>
          <a:p>
            <a:r>
              <a:rPr kumimoji="0" lang="el-GR" smtClean="0"/>
              <a:t>Στυλ κύριου τίτλου</a:t>
            </a:r>
            <a:endParaRPr kumimoji="0" lang="en-US"/>
          </a:p>
        </p:txBody>
      </p:sp>
      <p:sp>
        <p:nvSpPr>
          <p:cNvPr id="3" name="Θέση κειμένου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l-GR" smtClean="0"/>
              <a:t>Στυλ υποδείγματος κειμένου</a:t>
            </a:r>
          </a:p>
        </p:txBody>
      </p:sp>
      <p:sp>
        <p:nvSpPr>
          <p:cNvPr id="4" name="Θέση κειμένου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l-GR" smtClean="0"/>
              <a:t>Στυλ υποδείγματος κειμένου</a:t>
            </a:r>
          </a:p>
        </p:txBody>
      </p:sp>
      <p:sp>
        <p:nvSpPr>
          <p:cNvPr id="5" name="Θέση περιεχομένου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kumimoji="0" lang="en-US"/>
          </a:p>
        </p:txBody>
      </p:sp>
      <p:sp>
        <p:nvSpPr>
          <p:cNvPr id="6" name="Θέση περιεχομένου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kumimoji="0" lang="en-US"/>
          </a:p>
        </p:txBody>
      </p:sp>
      <p:sp>
        <p:nvSpPr>
          <p:cNvPr id="7" name="Θέση ημερομηνίας 6"/>
          <p:cNvSpPr>
            <a:spLocks noGrp="1"/>
          </p:cNvSpPr>
          <p:nvPr>
            <p:ph type="dt" sz="half" idx="10"/>
          </p:nvPr>
        </p:nvSpPr>
        <p:spPr/>
        <p:txBody>
          <a:bodyPr/>
          <a:lstStyle>
            <a:extLst/>
          </a:lstStyle>
          <a:p>
            <a:fld id="{F01AE985-7B61-4359-AD30-BA5E79355099}" type="datetimeFigureOut">
              <a:rPr lang="el-GR" smtClean="0"/>
              <a:pPr/>
              <a:t>8/11/2025</a:t>
            </a:fld>
            <a:endParaRPr lang="el-GR"/>
          </a:p>
        </p:txBody>
      </p:sp>
      <p:sp>
        <p:nvSpPr>
          <p:cNvPr id="8" name="Θέση υποσέλιδου 7"/>
          <p:cNvSpPr>
            <a:spLocks noGrp="1"/>
          </p:cNvSpPr>
          <p:nvPr>
            <p:ph type="ftr" sz="quarter" idx="11"/>
          </p:nvPr>
        </p:nvSpPr>
        <p:spPr/>
        <p:txBody>
          <a:bodyPr/>
          <a:lstStyle>
            <a:extLst/>
          </a:lstStyle>
          <a:p>
            <a:endParaRPr lang="el-GR"/>
          </a:p>
        </p:txBody>
      </p:sp>
      <p:sp>
        <p:nvSpPr>
          <p:cNvPr id="9" name="Θέση αριθμού διαφάνειας 8"/>
          <p:cNvSpPr>
            <a:spLocks noGrp="1"/>
          </p:cNvSpPr>
          <p:nvPr>
            <p:ph type="sldNum" sz="quarter" idx="12"/>
          </p:nvPr>
        </p:nvSpPr>
        <p:spPr/>
        <p:txBody>
          <a:bodyPr/>
          <a:lstStyle>
            <a:extLst/>
          </a:lstStyle>
          <a:p>
            <a:fld id="{E27BECB3-5A9B-413C-8648-B6AC85A9ACF8}" type="slidenum">
              <a:rPr lang="el-GR" smtClean="0"/>
              <a:pPr/>
              <a:t>‹#›</a:t>
            </a:fld>
            <a:endParaRPr lang="el-G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p:cNvSpPr>
            <a:spLocks noGrp="1"/>
          </p:cNvSpPr>
          <p:nvPr>
            <p:ph type="title"/>
          </p:nvPr>
        </p:nvSpPr>
        <p:spPr>
          <a:xfrm>
            <a:off x="457200" y="320040"/>
            <a:ext cx="7242048" cy="1143000"/>
          </a:xfrm>
        </p:spPr>
        <p:txBody>
          <a:bodyPr/>
          <a:lstStyle>
            <a:extLst/>
          </a:lstStyle>
          <a:p>
            <a:r>
              <a:rPr kumimoji="0" lang="el-GR" smtClean="0"/>
              <a:t>Στυλ κύριου τίτλου</a:t>
            </a:r>
            <a:endParaRPr kumimoji="0" lang="en-US"/>
          </a:p>
        </p:txBody>
      </p:sp>
      <p:sp>
        <p:nvSpPr>
          <p:cNvPr id="3" name="Θέση ημερομηνίας 2"/>
          <p:cNvSpPr>
            <a:spLocks noGrp="1"/>
          </p:cNvSpPr>
          <p:nvPr>
            <p:ph type="dt" sz="half" idx="10"/>
          </p:nvPr>
        </p:nvSpPr>
        <p:spPr/>
        <p:txBody>
          <a:bodyPr/>
          <a:lstStyle>
            <a:extLst/>
          </a:lstStyle>
          <a:p>
            <a:fld id="{F01AE985-7B61-4359-AD30-BA5E79355099}" type="datetimeFigureOut">
              <a:rPr lang="el-GR" smtClean="0"/>
              <a:pPr/>
              <a:t>8/11/2025</a:t>
            </a:fld>
            <a:endParaRPr lang="el-GR"/>
          </a:p>
        </p:txBody>
      </p:sp>
      <p:sp>
        <p:nvSpPr>
          <p:cNvPr id="4" name="Θέση υποσέλιδου 3"/>
          <p:cNvSpPr>
            <a:spLocks noGrp="1"/>
          </p:cNvSpPr>
          <p:nvPr>
            <p:ph type="ftr" sz="quarter" idx="11"/>
          </p:nvPr>
        </p:nvSpPr>
        <p:spPr/>
        <p:txBody>
          <a:bodyPr/>
          <a:lstStyle>
            <a:extLst/>
          </a:lstStyle>
          <a:p>
            <a:endParaRPr lang="el-GR"/>
          </a:p>
        </p:txBody>
      </p:sp>
      <p:sp>
        <p:nvSpPr>
          <p:cNvPr id="5" name="Θέση αριθμού διαφάνειας 4"/>
          <p:cNvSpPr>
            <a:spLocks noGrp="1"/>
          </p:cNvSpPr>
          <p:nvPr>
            <p:ph type="sldNum" sz="quarter" idx="12"/>
          </p:nvPr>
        </p:nvSpPr>
        <p:spPr/>
        <p:txBody>
          <a:bodyPr/>
          <a:lstStyle>
            <a:extLst/>
          </a:lstStyle>
          <a:p>
            <a:fld id="{E27BECB3-5A9B-413C-8648-B6AC85A9ACF8}" type="slidenum">
              <a:rPr lang="el-GR" smtClean="0"/>
              <a:pPr/>
              <a:t>‹#›</a:t>
            </a:fld>
            <a:endParaRPr lang="el-G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Θέση ημερομηνίας 1"/>
          <p:cNvSpPr>
            <a:spLocks noGrp="1"/>
          </p:cNvSpPr>
          <p:nvPr>
            <p:ph type="dt" sz="half" idx="10"/>
          </p:nvPr>
        </p:nvSpPr>
        <p:spPr/>
        <p:txBody>
          <a:bodyPr/>
          <a:lstStyle>
            <a:lvl1pPr>
              <a:defRPr>
                <a:solidFill>
                  <a:schemeClr val="tx2"/>
                </a:solidFill>
              </a:defRPr>
            </a:lvl1pPr>
            <a:extLst/>
          </a:lstStyle>
          <a:p>
            <a:fld id="{F01AE985-7B61-4359-AD30-BA5E79355099}" type="datetimeFigureOut">
              <a:rPr lang="el-GR" smtClean="0"/>
              <a:pPr/>
              <a:t>8/11/2025</a:t>
            </a:fld>
            <a:endParaRPr lang="el-GR"/>
          </a:p>
        </p:txBody>
      </p:sp>
      <p:sp>
        <p:nvSpPr>
          <p:cNvPr id="3" name="Θέση υποσέλιδου 2"/>
          <p:cNvSpPr>
            <a:spLocks noGrp="1"/>
          </p:cNvSpPr>
          <p:nvPr>
            <p:ph type="ftr" sz="quarter" idx="11"/>
          </p:nvPr>
        </p:nvSpPr>
        <p:spPr/>
        <p:txBody>
          <a:bodyPr/>
          <a:lstStyle>
            <a:lvl1pPr>
              <a:defRPr>
                <a:solidFill>
                  <a:schemeClr val="tx2"/>
                </a:solidFill>
              </a:defRPr>
            </a:lvl1pPr>
            <a:extLst/>
          </a:lstStyle>
          <a:p>
            <a:endParaRPr lang="el-GR"/>
          </a:p>
        </p:txBody>
      </p:sp>
      <p:sp>
        <p:nvSpPr>
          <p:cNvPr id="4" name="Θέση αριθμού διαφάνειας 3"/>
          <p:cNvSpPr>
            <a:spLocks noGrp="1"/>
          </p:cNvSpPr>
          <p:nvPr>
            <p:ph type="sldNum" sz="quarter" idx="12"/>
          </p:nvPr>
        </p:nvSpPr>
        <p:spPr/>
        <p:txBody>
          <a:bodyPr/>
          <a:lstStyle>
            <a:extLst/>
          </a:lstStyle>
          <a:p>
            <a:fld id="{E27BECB3-5A9B-413C-8648-B6AC85A9ACF8}" type="slidenum">
              <a:rPr lang="el-GR" smtClean="0"/>
              <a:pPr/>
              <a:t>‹#›</a:t>
            </a:fld>
            <a:endParaRPr lang="el-G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l-GR" smtClean="0"/>
              <a:t>Στυλ κύριου τίτλου</a:t>
            </a:r>
            <a:endParaRPr kumimoji="0" lang="en-US"/>
          </a:p>
        </p:txBody>
      </p:sp>
      <p:sp>
        <p:nvSpPr>
          <p:cNvPr id="3" name="Θέση κειμένου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l-GR" smtClean="0"/>
              <a:t>Στυλ υποδείγματος κειμένου</a:t>
            </a:r>
          </a:p>
        </p:txBody>
      </p:sp>
      <p:sp>
        <p:nvSpPr>
          <p:cNvPr id="4" name="Θέση περιεχομένου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kumimoji="0" lang="en-US"/>
          </a:p>
        </p:txBody>
      </p:sp>
      <p:sp>
        <p:nvSpPr>
          <p:cNvPr id="5" name="Θέση ημερομηνίας 4"/>
          <p:cNvSpPr>
            <a:spLocks noGrp="1"/>
          </p:cNvSpPr>
          <p:nvPr>
            <p:ph type="dt" sz="half" idx="10"/>
          </p:nvPr>
        </p:nvSpPr>
        <p:spPr/>
        <p:txBody>
          <a:bodyPr/>
          <a:lstStyle>
            <a:extLst/>
          </a:lstStyle>
          <a:p>
            <a:fld id="{F01AE985-7B61-4359-AD30-BA5E79355099}" type="datetimeFigureOut">
              <a:rPr lang="el-GR" smtClean="0"/>
              <a:pPr/>
              <a:t>8/11/2025</a:t>
            </a:fld>
            <a:endParaRPr lang="el-GR"/>
          </a:p>
        </p:txBody>
      </p:sp>
      <p:sp>
        <p:nvSpPr>
          <p:cNvPr id="6" name="Θέση υποσέλιδου 5"/>
          <p:cNvSpPr>
            <a:spLocks noGrp="1"/>
          </p:cNvSpPr>
          <p:nvPr>
            <p:ph type="ftr" sz="quarter" idx="11"/>
          </p:nvPr>
        </p:nvSpPr>
        <p:spPr/>
        <p:txBody>
          <a:bodyPr/>
          <a:lstStyle>
            <a:extLst/>
          </a:lstStyle>
          <a:p>
            <a:endParaRPr lang="el-GR"/>
          </a:p>
        </p:txBody>
      </p:sp>
      <p:sp>
        <p:nvSpPr>
          <p:cNvPr id="7" name="Θέση αριθμού διαφάνειας 6"/>
          <p:cNvSpPr>
            <a:spLocks noGrp="1"/>
          </p:cNvSpPr>
          <p:nvPr>
            <p:ph type="sldNum" sz="quarter" idx="12"/>
          </p:nvPr>
        </p:nvSpPr>
        <p:spPr/>
        <p:txBody>
          <a:bodyPr/>
          <a:lstStyle>
            <a:extLst/>
          </a:lstStyle>
          <a:p>
            <a:fld id="{E27BECB3-5A9B-413C-8648-B6AC85A9ACF8}" type="slidenum">
              <a:rPr lang="el-GR" smtClean="0"/>
              <a:pPr/>
              <a:t>‹#›</a:t>
            </a:fld>
            <a:endParaRPr lang="el-G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Εικόνα με λεζάντα">
    <p:bg>
      <p:bgRef idx="1002">
        <a:schemeClr val="bg2"/>
      </p:bgRef>
    </p:bg>
    <p:spTree>
      <p:nvGrpSpPr>
        <p:cNvPr id="1" name=""/>
        <p:cNvGrpSpPr/>
        <p:nvPr/>
      </p:nvGrpSpPr>
      <p:grpSpPr>
        <a:xfrm>
          <a:off x="0" y="0"/>
          <a:ext cx="0" cy="0"/>
          <a:chOff x="0" y="0"/>
          <a:chExt cx="0" cy="0"/>
        </a:xfrm>
      </p:grpSpPr>
      <p:sp>
        <p:nvSpPr>
          <p:cNvPr id="8" name="Ορθογώνιο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Ορθογώνιο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Τίτλος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l-GR" smtClean="0"/>
              <a:t>Στυλ κύριου τίτλου</a:t>
            </a:r>
            <a:endParaRPr kumimoji="0" lang="en-US" dirty="0"/>
          </a:p>
        </p:txBody>
      </p:sp>
      <p:sp>
        <p:nvSpPr>
          <p:cNvPr id="4" name="Θέση κειμένου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l-GR" smtClean="0"/>
              <a:t>Στυλ υποδείγματος κειμένου</a:t>
            </a:r>
          </a:p>
        </p:txBody>
      </p:sp>
      <p:sp>
        <p:nvSpPr>
          <p:cNvPr id="5" name="Θέση ημερομηνίας 4"/>
          <p:cNvSpPr>
            <a:spLocks noGrp="1"/>
          </p:cNvSpPr>
          <p:nvPr>
            <p:ph type="dt" sz="half" idx="10"/>
          </p:nvPr>
        </p:nvSpPr>
        <p:spPr/>
        <p:txBody>
          <a:bodyPr/>
          <a:lstStyle>
            <a:extLst/>
          </a:lstStyle>
          <a:p>
            <a:fld id="{F01AE985-7B61-4359-AD30-BA5E79355099}" type="datetimeFigureOut">
              <a:rPr lang="el-GR" smtClean="0"/>
              <a:pPr/>
              <a:t>8/11/2025</a:t>
            </a:fld>
            <a:endParaRPr lang="el-GR"/>
          </a:p>
        </p:txBody>
      </p:sp>
      <p:sp>
        <p:nvSpPr>
          <p:cNvPr id="6" name="Θέση υποσέλιδου 5"/>
          <p:cNvSpPr>
            <a:spLocks noGrp="1"/>
          </p:cNvSpPr>
          <p:nvPr>
            <p:ph type="ftr" sz="quarter" idx="11"/>
          </p:nvPr>
        </p:nvSpPr>
        <p:spPr/>
        <p:txBody>
          <a:bodyPr/>
          <a:lstStyle>
            <a:extLst/>
          </a:lstStyle>
          <a:p>
            <a:endParaRPr lang="el-GR"/>
          </a:p>
        </p:txBody>
      </p:sp>
      <p:sp>
        <p:nvSpPr>
          <p:cNvPr id="7" name="Θέση αριθμού διαφάνειας 6"/>
          <p:cNvSpPr>
            <a:spLocks noGrp="1"/>
          </p:cNvSpPr>
          <p:nvPr>
            <p:ph type="sldNum" sz="quarter" idx="12"/>
          </p:nvPr>
        </p:nvSpPr>
        <p:spPr/>
        <p:txBody>
          <a:bodyPr/>
          <a:lstStyle>
            <a:extLst/>
          </a:lstStyle>
          <a:p>
            <a:fld id="{E27BECB3-5A9B-413C-8648-B6AC85A9ACF8}" type="slidenum">
              <a:rPr lang="el-GR" smtClean="0"/>
              <a:pPr/>
              <a:t>‹#›</a:t>
            </a:fld>
            <a:endParaRPr lang="el-GR"/>
          </a:p>
        </p:txBody>
      </p:sp>
      <p:sp>
        <p:nvSpPr>
          <p:cNvPr id="10" name="Θέση εικόνας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l-GR" smtClean="0"/>
              <a:t>Κάντε κλικ στο εικονίδιο για να προσθέσετε μια εικόνα</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extLst/>
          </a:lstStyle>
          <a:p>
            <a:r>
              <a:rPr kumimoji="0" lang="el-GR" smtClean="0"/>
              <a:t>Στυλ κύριου τίτλου</a:t>
            </a:r>
            <a:endParaRPr kumimoji="0" lang="en-US"/>
          </a:p>
        </p:txBody>
      </p:sp>
      <p:sp>
        <p:nvSpPr>
          <p:cNvPr id="3" name="Θέση κατακόρυφου κειμένου 2"/>
          <p:cNvSpPr>
            <a:spLocks noGrp="1"/>
          </p:cNvSpPr>
          <p:nvPr>
            <p:ph type="body" orient="vert" idx="1"/>
          </p:nvPr>
        </p:nvSpPr>
        <p:spPr/>
        <p:txBody>
          <a:bodyPr vert="eaVert"/>
          <a:lstStyle>
            <a:extLst/>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kumimoji="0" lang="en-US"/>
          </a:p>
        </p:txBody>
      </p:sp>
      <p:sp>
        <p:nvSpPr>
          <p:cNvPr id="4" name="Θέση ημερομηνίας 3"/>
          <p:cNvSpPr>
            <a:spLocks noGrp="1"/>
          </p:cNvSpPr>
          <p:nvPr>
            <p:ph type="dt" sz="half" idx="10"/>
          </p:nvPr>
        </p:nvSpPr>
        <p:spPr/>
        <p:txBody>
          <a:bodyPr/>
          <a:lstStyle>
            <a:extLst/>
          </a:lstStyle>
          <a:p>
            <a:fld id="{F01AE985-7B61-4359-AD30-BA5E79355099}" type="datetimeFigureOut">
              <a:rPr lang="el-GR" smtClean="0"/>
              <a:pPr/>
              <a:t>8/11/2025</a:t>
            </a:fld>
            <a:endParaRPr lang="el-GR"/>
          </a:p>
        </p:txBody>
      </p:sp>
      <p:sp>
        <p:nvSpPr>
          <p:cNvPr id="5" name="Θέση υποσέλιδου 4"/>
          <p:cNvSpPr>
            <a:spLocks noGrp="1"/>
          </p:cNvSpPr>
          <p:nvPr>
            <p:ph type="ftr" sz="quarter" idx="11"/>
          </p:nvPr>
        </p:nvSpPr>
        <p:spPr/>
        <p:txBody>
          <a:bodyPr/>
          <a:lstStyle>
            <a:extLst/>
          </a:lstStyle>
          <a:p>
            <a:endParaRPr lang="el-GR"/>
          </a:p>
        </p:txBody>
      </p:sp>
      <p:sp>
        <p:nvSpPr>
          <p:cNvPr id="6" name="Θέση αριθμού διαφάνειας 5"/>
          <p:cNvSpPr>
            <a:spLocks noGrp="1"/>
          </p:cNvSpPr>
          <p:nvPr>
            <p:ph type="sldNum" sz="quarter" idx="12"/>
          </p:nvPr>
        </p:nvSpPr>
        <p:spPr/>
        <p:txBody>
          <a:bodyPr/>
          <a:lstStyle>
            <a:extLst/>
          </a:lstStyle>
          <a:p>
            <a:fld id="{E27BECB3-5A9B-413C-8648-B6AC85A9ACF8}" type="slidenum">
              <a:rPr lang="el-GR" smtClean="0"/>
              <a:pPr/>
              <a:t>‹#›</a:t>
            </a:fld>
            <a:endParaRPr lang="el-G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p:cNvSpPr>
            <a:spLocks noGrp="1"/>
          </p:cNvSpPr>
          <p:nvPr>
            <p:ph type="title" orient="vert"/>
          </p:nvPr>
        </p:nvSpPr>
        <p:spPr>
          <a:xfrm>
            <a:off x="6553200" y="274955"/>
            <a:ext cx="1524000" cy="5851525"/>
          </a:xfrm>
        </p:spPr>
        <p:txBody>
          <a:bodyPr vert="eaVert" anchor="t"/>
          <a:lstStyle>
            <a:extLst/>
          </a:lstStyle>
          <a:p>
            <a:r>
              <a:rPr kumimoji="0" lang="el-GR" smtClean="0"/>
              <a:t>Στυλ κύριου τίτλου</a:t>
            </a:r>
            <a:endParaRPr kumimoji="0" lang="en-US"/>
          </a:p>
        </p:txBody>
      </p:sp>
      <p:sp>
        <p:nvSpPr>
          <p:cNvPr id="3" name="Θέση κατακόρυφου κειμένου 2"/>
          <p:cNvSpPr>
            <a:spLocks noGrp="1"/>
          </p:cNvSpPr>
          <p:nvPr>
            <p:ph type="body" orient="vert" idx="1"/>
          </p:nvPr>
        </p:nvSpPr>
        <p:spPr>
          <a:xfrm>
            <a:off x="457200" y="274642"/>
            <a:ext cx="6019800" cy="5851525"/>
          </a:xfrm>
        </p:spPr>
        <p:txBody>
          <a:bodyPr vert="eaVert"/>
          <a:lstStyle>
            <a:extLst/>
          </a:lstStyle>
          <a:p>
            <a:pPr lvl="0" eaLnBrk="1" latinLnBrk="0" hangingPunct="1"/>
            <a:r>
              <a:rPr lang="el-GR" smtClean="0"/>
              <a:t>Στυλ υποδείγματος κειμένου</a:t>
            </a:r>
          </a:p>
          <a:p>
            <a:pPr lvl="1" eaLnBrk="1" latinLnBrk="0" hangingPunct="1"/>
            <a:r>
              <a:rPr lang="el-GR" smtClean="0"/>
              <a:t>Δεύτερου επιπέδου</a:t>
            </a:r>
          </a:p>
          <a:p>
            <a:pPr lvl="2" eaLnBrk="1" latinLnBrk="0" hangingPunct="1"/>
            <a:r>
              <a:rPr lang="el-GR" smtClean="0"/>
              <a:t>Τρίτου επιπέδου</a:t>
            </a:r>
          </a:p>
          <a:p>
            <a:pPr lvl="3" eaLnBrk="1" latinLnBrk="0" hangingPunct="1"/>
            <a:r>
              <a:rPr lang="el-GR" smtClean="0"/>
              <a:t>Τέταρτου επιπέδου</a:t>
            </a:r>
          </a:p>
          <a:p>
            <a:pPr lvl="4" eaLnBrk="1" latinLnBrk="0" hangingPunct="1"/>
            <a:r>
              <a:rPr lang="el-GR" smtClean="0"/>
              <a:t>Πέμπτου επιπέδου</a:t>
            </a:r>
            <a:endParaRPr kumimoji="0" lang="en-US"/>
          </a:p>
        </p:txBody>
      </p:sp>
      <p:sp>
        <p:nvSpPr>
          <p:cNvPr id="4" name="Θέση ημερομηνίας 3"/>
          <p:cNvSpPr>
            <a:spLocks noGrp="1"/>
          </p:cNvSpPr>
          <p:nvPr>
            <p:ph type="dt" sz="half" idx="10"/>
          </p:nvPr>
        </p:nvSpPr>
        <p:spPr>
          <a:xfrm>
            <a:off x="4242816" y="6557946"/>
            <a:ext cx="2002464" cy="226902"/>
          </a:xfrm>
        </p:spPr>
        <p:txBody>
          <a:bodyPr/>
          <a:lstStyle>
            <a:extLst/>
          </a:lstStyle>
          <a:p>
            <a:fld id="{F01AE985-7B61-4359-AD30-BA5E79355099}" type="datetimeFigureOut">
              <a:rPr lang="el-GR" smtClean="0"/>
              <a:pPr/>
              <a:t>8/11/2025</a:t>
            </a:fld>
            <a:endParaRPr lang="el-GR"/>
          </a:p>
        </p:txBody>
      </p:sp>
      <p:sp>
        <p:nvSpPr>
          <p:cNvPr id="5" name="Θέση υποσέλιδου 4"/>
          <p:cNvSpPr>
            <a:spLocks noGrp="1"/>
          </p:cNvSpPr>
          <p:nvPr>
            <p:ph type="ftr" sz="quarter" idx="11"/>
          </p:nvPr>
        </p:nvSpPr>
        <p:spPr>
          <a:xfrm>
            <a:off x="457200" y="6556248"/>
            <a:ext cx="3657600" cy="228600"/>
          </a:xfrm>
        </p:spPr>
        <p:txBody>
          <a:bodyPr/>
          <a:lstStyle>
            <a:extLst/>
          </a:lstStyle>
          <a:p>
            <a:endParaRPr lang="el-GR"/>
          </a:p>
        </p:txBody>
      </p:sp>
      <p:sp>
        <p:nvSpPr>
          <p:cNvPr id="6" name="Θέση αριθμού διαφάνειας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E27BECB3-5A9B-413C-8648-B6AC85A9ACF8}" type="slidenum">
              <a:rPr lang="el-GR" smtClean="0"/>
              <a:pPr/>
              <a:t>‹#›</a:t>
            </a:fld>
            <a:endParaRPr lang="el-G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Ορθογώνιο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Θέση τίτλου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l-GR" smtClean="0"/>
              <a:t>Στυλ κύριου τίτλου</a:t>
            </a:r>
            <a:endParaRPr kumimoji="0" lang="en-US"/>
          </a:p>
        </p:txBody>
      </p:sp>
      <p:sp>
        <p:nvSpPr>
          <p:cNvPr id="31" name="Θέση κειμένου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l-GR" smtClean="0"/>
              <a:t>Στυλ υποδείγματος κειμένου</a:t>
            </a:r>
          </a:p>
          <a:p>
            <a:pPr lvl="1" eaLnBrk="1" latinLnBrk="0" hangingPunct="1"/>
            <a:r>
              <a:rPr kumimoji="0" lang="el-GR" smtClean="0"/>
              <a:t>Δεύτερου επιπέδου</a:t>
            </a:r>
          </a:p>
          <a:p>
            <a:pPr lvl="2" eaLnBrk="1" latinLnBrk="0" hangingPunct="1"/>
            <a:r>
              <a:rPr kumimoji="0" lang="el-GR" smtClean="0"/>
              <a:t>Τρίτου επιπέδου</a:t>
            </a:r>
          </a:p>
          <a:p>
            <a:pPr lvl="3" eaLnBrk="1" latinLnBrk="0" hangingPunct="1"/>
            <a:r>
              <a:rPr kumimoji="0" lang="el-GR" smtClean="0"/>
              <a:t>Τέταρτου επιπέδου</a:t>
            </a:r>
          </a:p>
          <a:p>
            <a:pPr lvl="4" eaLnBrk="1" latinLnBrk="0" hangingPunct="1"/>
            <a:r>
              <a:rPr kumimoji="0" lang="el-GR" smtClean="0"/>
              <a:t>Πέμπτου επιπέδου</a:t>
            </a:r>
            <a:endParaRPr kumimoji="0" lang="en-US"/>
          </a:p>
        </p:txBody>
      </p:sp>
      <p:sp>
        <p:nvSpPr>
          <p:cNvPr id="27" name="Θέση ημερομηνίας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F01AE985-7B61-4359-AD30-BA5E79355099}" type="datetimeFigureOut">
              <a:rPr lang="el-GR" smtClean="0"/>
              <a:pPr/>
              <a:t>8/11/2025</a:t>
            </a:fld>
            <a:endParaRPr lang="el-GR"/>
          </a:p>
        </p:txBody>
      </p:sp>
      <p:sp>
        <p:nvSpPr>
          <p:cNvPr id="4" name="Θέση υποσέλιδου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l-GR"/>
          </a:p>
        </p:txBody>
      </p:sp>
      <p:sp>
        <p:nvSpPr>
          <p:cNvPr id="16" name="Θέση αριθμού διαφάνειας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E27BECB3-5A9B-413C-8648-B6AC85A9ACF8}" type="slidenum">
              <a:rPr lang="el-GR" smtClean="0"/>
              <a:pPr/>
              <a:t>‹#›</a:t>
            </a:fld>
            <a:endParaRPr lang="el-G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ctrTitle"/>
          </p:nvPr>
        </p:nvSpPr>
        <p:spPr>
          <a:xfrm>
            <a:off x="3419872" y="836713"/>
            <a:ext cx="5038328" cy="2763738"/>
          </a:xfrm>
        </p:spPr>
        <p:txBody>
          <a:bodyPr>
            <a:normAutofit fontScale="90000"/>
          </a:bodyPr>
          <a:lstStyle/>
          <a:p>
            <a:r>
              <a:rPr lang="el-GR" dirty="0" smtClean="0"/>
              <a:t>ΕΦΑΡΜΟΓΕΣ ΓΡΑΜΜΙΚΟΥ ΠΡΟΓΡΑΜΜΑΤΙΣΜΟΥ ΣΤΑ ΨΗΦΙΑΚΑ ΣΥΣΤΗΜΑΤΑ</a:t>
            </a:r>
            <a:endParaRPr lang="el-GR" dirty="0"/>
          </a:p>
        </p:txBody>
      </p:sp>
    </p:spTree>
    <p:extLst>
      <p:ext uri="{BB962C8B-B14F-4D97-AF65-F5344CB8AC3E}">
        <p14:creationId xmlns:p14="http://schemas.microsoft.com/office/powerpoint/2010/main" xmlns="" val="15855117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title"/>
          </p:nvPr>
        </p:nvSpPr>
        <p:spPr>
          <a:xfrm>
            <a:off x="457200" y="320040"/>
            <a:ext cx="7239000" cy="1020728"/>
          </a:xfrm>
        </p:spPr>
        <p:txBody>
          <a:bodyPr>
            <a:normAutofit/>
          </a:bodyPr>
          <a:lstStyle/>
          <a:p>
            <a:pPr algn="ctr"/>
            <a:r>
              <a:rPr lang="el-GR" sz="3000" dirty="0" smtClean="0"/>
              <a:t>ΕΙΣΑΓΩΓΗ</a:t>
            </a:r>
            <a:r>
              <a:rPr lang="en-US" sz="3000" dirty="0" smtClean="0"/>
              <a:t> </a:t>
            </a:r>
            <a:endParaRPr lang="el-GR" sz="3000" dirty="0"/>
          </a:p>
        </p:txBody>
      </p:sp>
      <p:sp>
        <p:nvSpPr>
          <p:cNvPr id="3" name="Θέση περιεχομένου 2"/>
          <p:cNvSpPr>
            <a:spLocks noGrp="1"/>
          </p:cNvSpPr>
          <p:nvPr>
            <p:ph idx="1"/>
          </p:nvPr>
        </p:nvSpPr>
        <p:spPr/>
        <p:txBody>
          <a:bodyPr>
            <a:normAutofit/>
          </a:bodyPr>
          <a:lstStyle/>
          <a:p>
            <a:r>
              <a:rPr lang="el-GR" sz="2200" dirty="0">
                <a:latin typeface="Calibri" panose="020F0502020204030204" pitchFamily="34" charset="0"/>
                <a:cs typeface="Calibri" panose="020F0502020204030204" pitchFamily="34" charset="0"/>
              </a:rPr>
              <a:t>Ο Γραμμικός Προγραμματισμός (</a:t>
            </a:r>
            <a:r>
              <a:rPr lang="en-US" sz="2200" dirty="0">
                <a:latin typeface="Calibri" panose="020F0502020204030204" pitchFamily="34" charset="0"/>
                <a:cs typeface="Calibri" panose="020F0502020204030204" pitchFamily="34" charset="0"/>
              </a:rPr>
              <a:t>Linear Programming</a:t>
            </a:r>
            <a:r>
              <a:rPr lang="el-GR" sz="2200" dirty="0">
                <a:latin typeface="Calibri" panose="020F0502020204030204" pitchFamily="34" charset="0"/>
                <a:cs typeface="Calibri" panose="020F0502020204030204" pitchFamily="34" charset="0"/>
              </a:rPr>
              <a:t>) είναι μία μέθοδος, </a:t>
            </a:r>
            <a:r>
              <a:rPr lang="el-GR" sz="2200" dirty="0" smtClean="0">
                <a:latin typeface="Calibri" panose="020F0502020204030204" pitchFamily="34" charset="0"/>
                <a:cs typeface="Calibri" panose="020F0502020204030204" pitchFamily="34" charset="0"/>
              </a:rPr>
              <a:t>όπου στόχος της είναι το </a:t>
            </a:r>
            <a:r>
              <a:rPr lang="el-GR" sz="2200" dirty="0">
                <a:latin typeface="Calibri" panose="020F0502020204030204" pitchFamily="34" charset="0"/>
                <a:cs typeface="Calibri" panose="020F0502020204030204" pitchFamily="34" charset="0"/>
              </a:rPr>
              <a:t>καλύτερο δυνατό αποτέλεσμα σε ένα </a:t>
            </a:r>
            <a:r>
              <a:rPr lang="el-GR" sz="2200" dirty="0" smtClean="0">
                <a:latin typeface="Calibri" panose="020F0502020204030204" pitchFamily="34" charset="0"/>
                <a:cs typeface="Calibri" panose="020F0502020204030204" pitchFamily="34" charset="0"/>
              </a:rPr>
              <a:t>πρόβλημα, του οποίου οι προϋποθέσεις είναι οι γραμμικές σχέσεις των μεταβλητών</a:t>
            </a:r>
          </a:p>
          <a:p>
            <a:r>
              <a:rPr lang="el-GR" sz="2200" dirty="0" smtClean="0">
                <a:latin typeface="Calibri" panose="020F0502020204030204" pitchFamily="34" charset="0"/>
                <a:cs typeface="Calibri" panose="020F0502020204030204" pitchFamily="34" charset="0"/>
              </a:rPr>
              <a:t>Ο Γραμμικός Προγραμματισμός είναι ένα ισχυρό εργαλείο μαθηματικής βελτιστοποίησης για τον καθορισμό της κατάλληλης κατανομής πόρων (όπως πρώτες ύλες, ανθρώπινο δυναμικό, χρόνο, χρήματα) σε ανταγωνιστικές απαιτήσεις</a:t>
            </a:r>
          </a:p>
          <a:p>
            <a:endParaRPr lang="el-GR" sz="2200" dirty="0" smtClean="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xmlns="" val="35553999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1480"/>
            <a:ext cx="7239000" cy="1214446"/>
          </a:xfrm>
        </p:spPr>
        <p:txBody>
          <a:bodyPr>
            <a:normAutofit fontScale="90000"/>
          </a:bodyPr>
          <a:lstStyle/>
          <a:p>
            <a:pPr algn="ctr"/>
            <a:r>
              <a:rPr lang="el-GR" sz="3000" dirty="0" smtClean="0"/>
              <a:t>Ιδιοτητεσ του γραμμικου προγραμματισμου</a:t>
            </a:r>
            <a:r>
              <a:rPr lang="en-US" sz="3000" dirty="0" smtClean="0"/>
              <a:t/>
            </a:r>
            <a:br>
              <a:rPr lang="en-US" sz="3000" dirty="0" smtClean="0"/>
            </a:br>
            <a:endParaRPr sz="3000"/>
          </a:p>
        </p:txBody>
      </p:sp>
      <p:sp>
        <p:nvSpPr>
          <p:cNvPr id="3" name="Content Placeholder 2"/>
          <p:cNvSpPr>
            <a:spLocks noGrp="1"/>
          </p:cNvSpPr>
          <p:nvPr>
            <p:ph idx="1"/>
          </p:nvPr>
        </p:nvSpPr>
        <p:spPr>
          <a:xfrm>
            <a:off x="457200" y="1785926"/>
            <a:ext cx="7239000" cy="4669810"/>
          </a:xfrm>
        </p:spPr>
        <p:txBody>
          <a:bodyPr>
            <a:normAutofit/>
          </a:bodyPr>
          <a:lstStyle/>
          <a:p>
            <a:r>
              <a:rPr lang="el-GR" sz="2200" i="1" dirty="0" smtClean="0">
                <a:latin typeface="Calibri" pitchFamily="34" charset="0"/>
                <a:cs typeface="Calibri" pitchFamily="34" charset="0"/>
              </a:rPr>
              <a:t>Περιορισμένοι πόροι</a:t>
            </a:r>
            <a:r>
              <a:rPr lang="el-GR" sz="2200" dirty="0" smtClean="0">
                <a:latin typeface="Calibri" pitchFamily="34" charset="0"/>
                <a:cs typeface="Calibri" pitchFamily="34" charset="0"/>
              </a:rPr>
              <a:t>: το πρόβλημα βασίζεται σε περιορισμούς διαθέσιμων πόρων (χρόνος, υλικά κ.λπ.)</a:t>
            </a:r>
            <a:endParaRPr lang="en-US" sz="2200" dirty="0" smtClean="0">
              <a:latin typeface="Calibri" pitchFamily="34" charset="0"/>
              <a:cs typeface="Calibri" pitchFamily="34" charset="0"/>
            </a:endParaRPr>
          </a:p>
          <a:p>
            <a:r>
              <a:rPr lang="el-GR" sz="2200" i="1" dirty="0" smtClean="0">
                <a:latin typeface="Calibri" pitchFamily="34" charset="0"/>
                <a:cs typeface="Calibri" pitchFamily="34" charset="0"/>
              </a:rPr>
              <a:t>Αντικειμενικός στόχος</a:t>
            </a:r>
            <a:r>
              <a:rPr lang="el-GR" sz="2200" dirty="0" smtClean="0">
                <a:latin typeface="Calibri" pitchFamily="34" charset="0"/>
                <a:cs typeface="Calibri" pitchFamily="34" charset="0"/>
              </a:rPr>
              <a:t>: σαφής στόχος μεγιστοποίησης ή ελαχιστοποίησης (π.χ. κέρδους ή κόστους)</a:t>
            </a:r>
            <a:endParaRPr lang="en-US" sz="2200" dirty="0" smtClean="0">
              <a:latin typeface="Calibri" pitchFamily="34" charset="0"/>
              <a:cs typeface="Calibri" pitchFamily="34" charset="0"/>
            </a:endParaRPr>
          </a:p>
          <a:p>
            <a:r>
              <a:rPr lang="el-GR" sz="2200" i="1" dirty="0" smtClean="0">
                <a:latin typeface="Calibri" pitchFamily="34" charset="0"/>
                <a:cs typeface="Calibri" pitchFamily="34" charset="0"/>
              </a:rPr>
              <a:t>Γραμμικότητα</a:t>
            </a:r>
            <a:r>
              <a:rPr lang="el-GR" sz="2200" dirty="0" smtClean="0">
                <a:latin typeface="Calibri" pitchFamily="34" charset="0"/>
                <a:cs typeface="Calibri" pitchFamily="34" charset="0"/>
              </a:rPr>
              <a:t>: η αντικειμενική συνάρτηση και οι περιορισμοί είναι γραμμικοί (όχι γινόμενα μεταβλητών ή εκθέτες)</a:t>
            </a:r>
          </a:p>
          <a:p>
            <a:r>
              <a:rPr lang="el-GR" sz="2200" i="1" dirty="0" smtClean="0">
                <a:latin typeface="Calibri" pitchFamily="34" charset="0"/>
                <a:cs typeface="Calibri" pitchFamily="34" charset="0"/>
              </a:rPr>
              <a:t>Ομογένεια</a:t>
            </a:r>
            <a:r>
              <a:rPr lang="el-GR" sz="2200" dirty="0" smtClean="0">
                <a:latin typeface="Calibri" pitchFamily="34" charset="0"/>
                <a:cs typeface="Calibri" pitchFamily="34" charset="0"/>
              </a:rPr>
              <a:t>: οι περιορισμοί δεν περιλαμβάνουν σταθερούς όρους (προαιρετικό στις πρακτικές εφαρμογές)</a:t>
            </a:r>
          </a:p>
          <a:p>
            <a:r>
              <a:rPr lang="el-GR" sz="2200" i="1" dirty="0" smtClean="0">
                <a:latin typeface="Calibri" pitchFamily="34" charset="0"/>
                <a:cs typeface="Calibri" pitchFamily="34" charset="0"/>
              </a:rPr>
              <a:t>Διαιρετότητα</a:t>
            </a:r>
            <a:r>
              <a:rPr lang="el-GR" sz="2200" dirty="0" smtClean="0">
                <a:latin typeface="Calibri" pitchFamily="34" charset="0"/>
                <a:cs typeface="Calibri" pitchFamily="34" charset="0"/>
              </a:rPr>
              <a:t>: οι μεταβλητές μπορούν να παίρνουν συνεχείς (π.χ. δεκαδικές) τιμές</a:t>
            </a:r>
          </a:p>
          <a:p>
            <a:endParaRPr lang="en-US" sz="2400" dirty="0" smtClean="0">
              <a:latin typeface="Calibri" pitchFamily="34" charset="0"/>
              <a:cs typeface="Calibri" pitchFamily="34" charset="0"/>
            </a:endParaRPr>
          </a:p>
          <a:p>
            <a:endParaRPr>
              <a:latin typeface="Calibri" pitchFamily="34" charset="0"/>
              <a:cs typeface="Calibri" pitchFamily="34" charset="0"/>
            </a:endParaRPr>
          </a:p>
          <a:p>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l-GR" sz="3000" dirty="0" smtClean="0"/>
              <a:t>Θεμελιωδεισ εννοιεσ του γραμμικου προγραμματισμου</a:t>
            </a:r>
            <a:endParaRPr sz="3000"/>
          </a:p>
        </p:txBody>
      </p:sp>
      <p:sp>
        <p:nvSpPr>
          <p:cNvPr id="3" name="Content Placeholder 2"/>
          <p:cNvSpPr>
            <a:spLocks noGrp="1"/>
          </p:cNvSpPr>
          <p:nvPr>
            <p:ph idx="1"/>
          </p:nvPr>
        </p:nvSpPr>
        <p:spPr>
          <a:xfrm>
            <a:off x="457200" y="1785926"/>
            <a:ext cx="7239000" cy="4669810"/>
          </a:xfrm>
        </p:spPr>
        <p:txBody>
          <a:bodyPr>
            <a:normAutofit/>
          </a:bodyPr>
          <a:lstStyle/>
          <a:p>
            <a:pPr marL="274320" lvl="1" indent="-274320">
              <a:spcBef>
                <a:spcPts val="600"/>
              </a:spcBef>
              <a:buClr>
                <a:schemeClr val="tx2"/>
              </a:buClr>
              <a:buSzPct val="73000"/>
              <a:buFont typeface="Wingdings 2"/>
              <a:buChar char=""/>
            </a:pPr>
            <a:r>
              <a:rPr lang="el-GR" sz="2200" i="1" dirty="0" smtClean="0">
                <a:solidFill>
                  <a:schemeClr val="tx1"/>
                </a:solidFill>
                <a:latin typeface="Calibri" pitchFamily="34" charset="0"/>
                <a:cs typeface="Calibri" pitchFamily="34" charset="0"/>
              </a:rPr>
              <a:t>Αντικειμενική συνάρτηση</a:t>
            </a:r>
            <a:r>
              <a:rPr lang="el-GR" sz="2200" dirty="0" smtClean="0">
                <a:solidFill>
                  <a:schemeClr val="tx1"/>
                </a:solidFill>
                <a:latin typeface="Calibri" pitchFamily="34" charset="0"/>
                <a:cs typeface="Calibri" pitchFamily="34" charset="0"/>
              </a:rPr>
              <a:t>: η μαθηματική έκφραση του στόχου (π.χ. μέγιστο κέρδος, ελάχιστο κόστος)</a:t>
            </a:r>
          </a:p>
          <a:p>
            <a:pPr marL="274320" lvl="1" indent="-274320">
              <a:spcBef>
                <a:spcPts val="600"/>
              </a:spcBef>
              <a:buClr>
                <a:schemeClr val="tx2"/>
              </a:buClr>
              <a:buSzPct val="73000"/>
              <a:buFont typeface="Wingdings 2"/>
              <a:buChar char=""/>
            </a:pPr>
            <a:r>
              <a:rPr lang="el-GR" sz="2200" i="1" dirty="0" smtClean="0">
                <a:solidFill>
                  <a:schemeClr val="tx1"/>
                </a:solidFill>
                <a:latin typeface="Calibri" pitchFamily="34" charset="0"/>
                <a:cs typeface="Calibri" pitchFamily="34" charset="0"/>
              </a:rPr>
              <a:t>Περιορισμοί</a:t>
            </a:r>
            <a:r>
              <a:rPr lang="el-GR" sz="2200" dirty="0" smtClean="0">
                <a:solidFill>
                  <a:schemeClr val="tx1"/>
                </a:solidFill>
                <a:latin typeface="Calibri" pitchFamily="34" charset="0"/>
                <a:cs typeface="Calibri" pitchFamily="34" charset="0"/>
              </a:rPr>
              <a:t>: εξισώσεις ή ανισότητες που δεσμεύουν τις μεταβλητές</a:t>
            </a:r>
          </a:p>
          <a:p>
            <a:pPr marL="274320" lvl="1" indent="-274320">
              <a:spcBef>
                <a:spcPts val="600"/>
              </a:spcBef>
              <a:buClr>
                <a:schemeClr val="tx2"/>
              </a:buClr>
              <a:buSzPct val="73000"/>
              <a:buFont typeface="Wingdings 2"/>
              <a:buChar char=""/>
            </a:pPr>
            <a:r>
              <a:rPr lang="el-GR" sz="2200" i="1" dirty="0" smtClean="0">
                <a:solidFill>
                  <a:schemeClr val="tx1"/>
                </a:solidFill>
                <a:latin typeface="Calibri" pitchFamily="34" charset="0"/>
                <a:cs typeface="Calibri" pitchFamily="34" charset="0"/>
              </a:rPr>
              <a:t>Εφικτός Χώρος</a:t>
            </a:r>
            <a:r>
              <a:rPr lang="el-GR" sz="2200" dirty="0" smtClean="0">
                <a:solidFill>
                  <a:schemeClr val="tx1"/>
                </a:solidFill>
                <a:latin typeface="Calibri" pitchFamily="34" charset="0"/>
                <a:cs typeface="Calibri" pitchFamily="34" charset="0"/>
              </a:rPr>
              <a:t>: το σύνολο των λύσεων που ικανοποιούν τους περιορισμούς</a:t>
            </a:r>
          </a:p>
          <a:p>
            <a:pPr marL="274320" lvl="1" indent="-274320">
              <a:spcBef>
                <a:spcPts val="600"/>
              </a:spcBef>
              <a:buClr>
                <a:schemeClr val="tx2"/>
              </a:buClr>
              <a:buSzPct val="73000"/>
              <a:buFont typeface="Wingdings 2"/>
              <a:buChar char=""/>
            </a:pPr>
            <a:r>
              <a:rPr lang="el-GR" sz="2200" i="1" dirty="0" smtClean="0">
                <a:solidFill>
                  <a:schemeClr val="tx1"/>
                </a:solidFill>
                <a:latin typeface="Calibri" pitchFamily="34" charset="0"/>
                <a:cs typeface="Calibri" pitchFamily="34" charset="0"/>
              </a:rPr>
              <a:t>Βέλτιστη λύση</a:t>
            </a:r>
            <a:r>
              <a:rPr lang="el-GR" sz="2200" dirty="0" smtClean="0">
                <a:solidFill>
                  <a:schemeClr val="tx1"/>
                </a:solidFill>
                <a:latin typeface="Calibri" pitchFamily="34" charset="0"/>
                <a:cs typeface="Calibri" pitchFamily="34" charset="0"/>
              </a:rPr>
              <a:t>: το σημείο που βελτιστοποιεί την αντικειμενική συνάρτηση μέσα στον εφικτό χώρο</a:t>
            </a:r>
          </a:p>
          <a:p>
            <a:pPr marL="274320" lvl="1" indent="-274320">
              <a:spcBef>
                <a:spcPts val="600"/>
              </a:spcBef>
              <a:buClr>
                <a:schemeClr val="tx2"/>
              </a:buClr>
              <a:buSzPct val="73000"/>
              <a:buFont typeface="Wingdings 2"/>
              <a:buChar char=""/>
            </a:pPr>
            <a:r>
              <a:rPr lang="el-GR" sz="2200" i="1" dirty="0" smtClean="0">
                <a:solidFill>
                  <a:schemeClr val="tx1"/>
                </a:solidFill>
                <a:latin typeface="Calibri" pitchFamily="34" charset="0"/>
                <a:cs typeface="Calibri" pitchFamily="34" charset="0"/>
              </a:rPr>
              <a:t>Μέθοδος Simplex</a:t>
            </a:r>
            <a:r>
              <a:rPr lang="el-GR" sz="2200" dirty="0" smtClean="0">
                <a:solidFill>
                  <a:schemeClr val="tx1"/>
                </a:solidFill>
                <a:latin typeface="Calibri" pitchFamily="34" charset="0"/>
                <a:cs typeface="Calibri" pitchFamily="34" charset="0"/>
              </a:rPr>
              <a:t>: η πιο γνωστή αλγοριθμική τεχνική επίλυσης LP προβλημάτων ώστε να εντοπιστεί η βέλτιστη λύση</a:t>
            </a:r>
          </a:p>
          <a:p>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a:xfrm>
            <a:off x="428596" y="0"/>
            <a:ext cx="7239000" cy="1143000"/>
          </a:xfrm>
        </p:spPr>
        <p:txBody>
          <a:bodyPr>
            <a:normAutofit/>
          </a:bodyPr>
          <a:lstStyle/>
          <a:p>
            <a:pPr algn="ctr"/>
            <a:r>
              <a:rPr lang="el-GR" sz="3000" dirty="0" smtClean="0"/>
              <a:t>Εφαρμογεσ του γραμμικου προγραμματισμου </a:t>
            </a:r>
            <a:endParaRPr lang="el-GR" sz="3000" dirty="0"/>
          </a:p>
        </p:txBody>
      </p:sp>
      <p:sp>
        <p:nvSpPr>
          <p:cNvPr id="3" name="2 - Θέση περιεχομένου"/>
          <p:cNvSpPr>
            <a:spLocks noGrp="1"/>
          </p:cNvSpPr>
          <p:nvPr>
            <p:ph idx="1"/>
          </p:nvPr>
        </p:nvSpPr>
        <p:spPr>
          <a:xfrm>
            <a:off x="457200" y="1357298"/>
            <a:ext cx="7239000" cy="5286412"/>
          </a:xfrm>
        </p:spPr>
        <p:txBody>
          <a:bodyPr>
            <a:normAutofit fontScale="92500" lnSpcReduction="10000"/>
          </a:bodyPr>
          <a:lstStyle/>
          <a:p>
            <a:r>
              <a:rPr lang="el-GR" sz="2400" i="1" dirty="0" smtClean="0">
                <a:latin typeface="Calibri" pitchFamily="34" charset="0"/>
                <a:cs typeface="Calibri" pitchFamily="34" charset="0"/>
              </a:rPr>
              <a:t>Διαχείριση φορτίου σε cloud υποδομές</a:t>
            </a:r>
            <a:r>
              <a:rPr lang="el-GR" sz="2400" dirty="0" smtClean="0">
                <a:latin typeface="Calibri" pitchFamily="34" charset="0"/>
                <a:cs typeface="Calibri" pitchFamily="34" charset="0"/>
              </a:rPr>
              <a:t>: (π.χ. κατανομή VM σε φυσικά μηχανήματα ώστε να ελαχιστοποιείται η κατανάλωση ενέργειας)</a:t>
            </a:r>
          </a:p>
          <a:p>
            <a:r>
              <a:rPr lang="el-GR" sz="2400" i="1" dirty="0" smtClean="0">
                <a:latin typeface="Calibri" pitchFamily="34" charset="0"/>
                <a:cs typeface="Calibri" pitchFamily="34" charset="0"/>
              </a:rPr>
              <a:t>Βελτιστοποίηση καναλιών μετάδοσης δεδομένων</a:t>
            </a:r>
            <a:r>
              <a:rPr lang="el-GR" sz="2400" dirty="0" smtClean="0">
                <a:latin typeface="Calibri" pitchFamily="34" charset="0"/>
                <a:cs typeface="Calibri" pitchFamily="34" charset="0"/>
              </a:rPr>
              <a:t>: Κατανομή εύρους ζώνης στα δίκτυα</a:t>
            </a:r>
          </a:p>
          <a:p>
            <a:r>
              <a:rPr lang="el-GR" sz="2400" i="1" dirty="0" smtClean="0">
                <a:latin typeface="Calibri" pitchFamily="34" charset="0"/>
                <a:cs typeface="Calibri" pitchFamily="34" charset="0"/>
              </a:rPr>
              <a:t>Προγραμματισμός εργασιών σε πολυπύρηνα συστήματα</a:t>
            </a:r>
            <a:r>
              <a:rPr lang="el-GR" sz="2400" dirty="0" smtClean="0">
                <a:latin typeface="Calibri" pitchFamily="34" charset="0"/>
                <a:cs typeface="Calibri" pitchFamily="34" charset="0"/>
              </a:rPr>
              <a:t>: Μεγιστοποίηση απόδοσης χωρίς υπερφόρτωση μονάδων CPU</a:t>
            </a:r>
          </a:p>
          <a:p>
            <a:r>
              <a:rPr lang="el-GR" sz="2400" i="1" dirty="0" smtClean="0">
                <a:latin typeface="Calibri" pitchFamily="34" charset="0"/>
                <a:cs typeface="Calibri" pitchFamily="34" charset="0"/>
              </a:rPr>
              <a:t>Βελτιστοποίηση εύρους ζώνης σε δίκτυα υπολογιστών </a:t>
            </a:r>
            <a:r>
              <a:rPr lang="el-GR" sz="2400" dirty="0" smtClean="0">
                <a:latin typeface="Calibri" pitchFamily="34" charset="0"/>
                <a:cs typeface="Calibri" pitchFamily="34" charset="0"/>
              </a:rPr>
              <a:t>(π.χ. QoS routing)</a:t>
            </a:r>
          </a:p>
          <a:p>
            <a:r>
              <a:rPr lang="el-GR" sz="2400" i="1" dirty="0" smtClean="0">
                <a:latin typeface="Calibri" pitchFamily="34" charset="0"/>
                <a:cs typeface="Calibri" pitchFamily="34" charset="0"/>
              </a:rPr>
              <a:t>Διαχείριση ενέργειας σε Data Centers </a:t>
            </a:r>
            <a:r>
              <a:rPr lang="el-GR" sz="2400" dirty="0" smtClean="0">
                <a:latin typeface="Calibri" pitchFamily="34" charset="0"/>
                <a:cs typeface="Calibri" pitchFamily="34" charset="0"/>
              </a:rPr>
              <a:t>(π.χ. κατανομή VM σε φυσικά μηχανήματα)</a:t>
            </a:r>
          </a:p>
          <a:p>
            <a:r>
              <a:rPr lang="el-GR" sz="2400" i="1" dirty="0" smtClean="0">
                <a:latin typeface="Calibri" pitchFamily="34" charset="0"/>
                <a:cs typeface="Calibri" pitchFamily="34" charset="0"/>
              </a:rPr>
              <a:t>Σχεδίαση και βελτιστοποίηση κυκλωμάτων </a:t>
            </a:r>
            <a:r>
              <a:rPr lang="el-GR" sz="2400" dirty="0" smtClean="0">
                <a:latin typeface="Calibri" pitchFamily="34" charset="0"/>
                <a:cs typeface="Calibri" pitchFamily="34" charset="0"/>
              </a:rPr>
              <a:t>(π.χ. ελαχιστοποίηση καθυστερήσεων)</a:t>
            </a:r>
          </a:p>
          <a:p>
            <a:r>
              <a:rPr lang="el-GR" sz="2400" i="1" dirty="0" smtClean="0">
                <a:latin typeface="Calibri" pitchFamily="34" charset="0"/>
                <a:cs typeface="Calibri" pitchFamily="34" charset="0"/>
              </a:rPr>
              <a:t>Αποδοτική ανάθεση έργων σε συστήματα ρομποτικής ή IoT</a:t>
            </a:r>
          </a:p>
          <a:p>
            <a:endParaRPr lang="el-GR" sz="22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title"/>
          </p:nvPr>
        </p:nvSpPr>
        <p:spPr>
          <a:xfrm>
            <a:off x="457200" y="320040"/>
            <a:ext cx="7239000" cy="804704"/>
          </a:xfrm>
        </p:spPr>
        <p:txBody>
          <a:bodyPr>
            <a:normAutofit/>
          </a:bodyPr>
          <a:lstStyle/>
          <a:p>
            <a:pPr algn="ctr"/>
            <a:r>
              <a:rPr lang="el-GR" sz="3000" dirty="0" smtClean="0"/>
              <a:t>ΠΡΟΒΛΗΜΑ ΜΕΤΑΦΟΡΑΣ ΚΑΙ ΑΝΑΘΕΣΗΣ</a:t>
            </a:r>
            <a:endParaRPr lang="el-GR" sz="3000" dirty="0"/>
          </a:p>
        </p:txBody>
      </p:sp>
      <p:sp>
        <p:nvSpPr>
          <p:cNvPr id="3" name="Θέση περιεχομένου 2"/>
          <p:cNvSpPr>
            <a:spLocks noGrp="1"/>
          </p:cNvSpPr>
          <p:nvPr>
            <p:ph idx="1"/>
          </p:nvPr>
        </p:nvSpPr>
        <p:spPr>
          <a:xfrm>
            <a:off x="457200" y="1340768"/>
            <a:ext cx="7239000" cy="5400600"/>
          </a:xfrm>
        </p:spPr>
        <p:txBody>
          <a:bodyPr>
            <a:normAutofit/>
          </a:bodyPr>
          <a:lstStyle/>
          <a:p>
            <a:r>
              <a:rPr lang="el-GR" sz="2200" dirty="0">
                <a:latin typeface="Calibri" panose="020F0502020204030204" pitchFamily="34" charset="0"/>
                <a:cs typeface="Calibri" panose="020F0502020204030204" pitchFamily="34" charset="0"/>
              </a:rPr>
              <a:t>Τα προβλήματα μεταφοράς και ανάθεσης, αποτελούν ειδικές περιπτώσεις του Γραμμικού </a:t>
            </a:r>
            <a:r>
              <a:rPr lang="el-GR" sz="2200" dirty="0" smtClean="0">
                <a:latin typeface="Calibri" panose="020F0502020204030204" pitchFamily="34" charset="0"/>
                <a:cs typeface="Calibri" panose="020F0502020204030204" pitchFamily="34" charset="0"/>
              </a:rPr>
              <a:t>Προγραμματισμού</a:t>
            </a:r>
            <a:endParaRPr lang="el-GR" sz="2200" dirty="0">
              <a:latin typeface="Calibri" panose="020F0502020204030204" pitchFamily="34" charset="0"/>
              <a:cs typeface="Calibri" panose="020F0502020204030204" pitchFamily="34" charset="0"/>
            </a:endParaRPr>
          </a:p>
          <a:p>
            <a:pPr lvl="0"/>
            <a:r>
              <a:rPr lang="el-GR" sz="2200" i="1" dirty="0" smtClean="0">
                <a:latin typeface="Calibri" panose="020F0502020204030204" pitchFamily="34" charset="0"/>
                <a:cs typeface="Calibri" panose="020F0502020204030204" pitchFamily="34" charset="0"/>
              </a:rPr>
              <a:t>Πρόβλημα </a:t>
            </a:r>
            <a:r>
              <a:rPr lang="el-GR" sz="2200" i="1" dirty="0">
                <a:latin typeface="Calibri" panose="020F0502020204030204" pitchFamily="34" charset="0"/>
                <a:cs typeface="Calibri" panose="020F0502020204030204" pitchFamily="34" charset="0"/>
              </a:rPr>
              <a:t>Μεταφοράς </a:t>
            </a:r>
            <a:r>
              <a:rPr lang="el-GR" sz="2200" i="1" dirty="0" smtClean="0">
                <a:latin typeface="Calibri" panose="020F0502020204030204" pitchFamily="34" charset="0"/>
                <a:cs typeface="Calibri" panose="020F0502020204030204" pitchFamily="34" charset="0"/>
              </a:rPr>
              <a:t>(</a:t>
            </a:r>
            <a:r>
              <a:rPr lang="en-US" sz="2200" i="1" dirty="0" smtClean="0">
                <a:latin typeface="Calibri" panose="020F0502020204030204" pitchFamily="34" charset="0"/>
                <a:cs typeface="Calibri" panose="020F0502020204030204" pitchFamily="34" charset="0"/>
              </a:rPr>
              <a:t>Transportation </a:t>
            </a:r>
            <a:r>
              <a:rPr lang="en-US" sz="2200" i="1" dirty="0">
                <a:latin typeface="Calibri" panose="020F0502020204030204" pitchFamily="34" charset="0"/>
                <a:cs typeface="Calibri" panose="020F0502020204030204" pitchFamily="34" charset="0"/>
              </a:rPr>
              <a:t>P</a:t>
            </a:r>
            <a:r>
              <a:rPr lang="en-US" sz="2200" i="1" dirty="0" smtClean="0">
                <a:latin typeface="Calibri" panose="020F0502020204030204" pitchFamily="34" charset="0"/>
                <a:cs typeface="Calibri" panose="020F0502020204030204" pitchFamily="34" charset="0"/>
              </a:rPr>
              <a:t>roblem</a:t>
            </a:r>
            <a:r>
              <a:rPr lang="el-GR" sz="2200" i="1" dirty="0" smtClean="0">
                <a:latin typeface="Calibri" panose="020F0502020204030204" pitchFamily="34" charset="0"/>
                <a:cs typeface="Calibri" panose="020F0502020204030204" pitchFamily="34" charset="0"/>
              </a:rPr>
              <a:t>)</a:t>
            </a:r>
            <a:r>
              <a:rPr lang="en-US" sz="2200" dirty="0" smtClean="0">
                <a:latin typeface="Calibri" panose="020F0502020204030204" pitchFamily="34" charset="0"/>
                <a:cs typeface="Calibri" panose="020F0502020204030204" pitchFamily="34" charset="0"/>
              </a:rPr>
              <a:t>: </a:t>
            </a:r>
            <a:r>
              <a:rPr lang="el-GR" sz="2200" dirty="0" smtClean="0">
                <a:latin typeface="Calibri" panose="020F0502020204030204" pitchFamily="34" charset="0"/>
                <a:cs typeface="Calibri" panose="020F0502020204030204" pitchFamily="34" charset="0"/>
              </a:rPr>
              <a:t>βέλτιστη μεταφορά </a:t>
            </a:r>
            <a:r>
              <a:rPr lang="el-GR" sz="2200" dirty="0">
                <a:latin typeface="Calibri" panose="020F0502020204030204" pitchFamily="34" charset="0"/>
                <a:cs typeface="Calibri" panose="020F0502020204030204" pitchFamily="34" charset="0"/>
              </a:rPr>
              <a:t>προϊόντων  από διαφορετικές πηγές σε διάφορους </a:t>
            </a:r>
            <a:r>
              <a:rPr lang="el-GR" sz="2200" dirty="0" smtClean="0">
                <a:latin typeface="Calibri" panose="020F0502020204030204" pitchFamily="34" charset="0"/>
                <a:cs typeface="Calibri" panose="020F0502020204030204" pitchFamily="34" charset="0"/>
              </a:rPr>
              <a:t>προορισμούς</a:t>
            </a:r>
          </a:p>
          <a:p>
            <a:pPr lvl="1">
              <a:buClr>
                <a:schemeClr val="tx2"/>
              </a:buClr>
              <a:buFont typeface="Wingdings 2" panose="05020102010507070707" pitchFamily="18" charset="2"/>
              <a:buChar char=""/>
            </a:pPr>
            <a:r>
              <a:rPr lang="el-GR" sz="2000" dirty="0" smtClean="0">
                <a:solidFill>
                  <a:schemeClr val="tx1"/>
                </a:solidFill>
                <a:latin typeface="Calibri" panose="020F0502020204030204" pitchFamily="34" charset="0"/>
                <a:cs typeface="Calibri" panose="020F0502020204030204" pitchFamily="34" charset="0"/>
              </a:rPr>
              <a:t>Σκοπός </a:t>
            </a:r>
            <a:r>
              <a:rPr lang="el-GR" sz="2000" dirty="0">
                <a:solidFill>
                  <a:schemeClr val="tx1"/>
                </a:solidFill>
                <a:latin typeface="Calibri" panose="020F0502020204030204" pitchFamily="34" charset="0"/>
                <a:cs typeface="Calibri" panose="020F0502020204030204" pitchFamily="34" charset="0"/>
              </a:rPr>
              <a:t>του </a:t>
            </a:r>
            <a:r>
              <a:rPr lang="el-GR" sz="2000" dirty="0" smtClean="0">
                <a:solidFill>
                  <a:schemeClr val="tx1"/>
                </a:solidFill>
                <a:latin typeface="Calibri" panose="020F0502020204030204" pitchFamily="34" charset="0"/>
                <a:cs typeface="Calibri" panose="020F0502020204030204" pitchFamily="34" charset="0"/>
              </a:rPr>
              <a:t>προβλήματος: ελαχιστοποίηση </a:t>
            </a:r>
            <a:r>
              <a:rPr lang="el-GR" sz="2000" dirty="0">
                <a:solidFill>
                  <a:schemeClr val="tx1"/>
                </a:solidFill>
                <a:latin typeface="Calibri" panose="020F0502020204030204" pitchFamily="34" charset="0"/>
                <a:cs typeface="Calibri" panose="020F0502020204030204" pitchFamily="34" charset="0"/>
              </a:rPr>
              <a:t>του κόστους </a:t>
            </a:r>
            <a:r>
              <a:rPr lang="el-GR" sz="2000" dirty="0" smtClean="0">
                <a:solidFill>
                  <a:schemeClr val="tx1"/>
                </a:solidFill>
                <a:latin typeface="Calibri" panose="020F0502020204030204" pitchFamily="34" charset="0"/>
                <a:cs typeface="Calibri" panose="020F0502020204030204" pitchFamily="34" charset="0"/>
              </a:rPr>
              <a:t>μεταφοράς</a:t>
            </a:r>
          </a:p>
          <a:p>
            <a:pPr lvl="1">
              <a:buClr>
                <a:schemeClr val="tx2"/>
              </a:buClr>
            </a:pPr>
            <a:r>
              <a:rPr lang="el-GR" sz="2000" dirty="0">
                <a:solidFill>
                  <a:schemeClr val="tx1"/>
                </a:solidFill>
                <a:latin typeface="Calibri" panose="020F0502020204030204" pitchFamily="34" charset="0"/>
                <a:cs typeface="Calibri" panose="020F0502020204030204" pitchFamily="34" charset="0"/>
              </a:rPr>
              <a:t>Αλγόριθμος </a:t>
            </a:r>
            <a:r>
              <a:rPr lang="en-US" sz="2000" dirty="0" smtClean="0">
                <a:solidFill>
                  <a:schemeClr val="tx1"/>
                </a:solidFill>
                <a:latin typeface="Calibri" panose="020F0502020204030204" pitchFamily="34" charset="0"/>
                <a:cs typeface="Calibri" panose="020F0502020204030204" pitchFamily="34" charset="0"/>
              </a:rPr>
              <a:t>MODI</a:t>
            </a:r>
            <a:r>
              <a:rPr lang="el-GR" sz="2000" dirty="0" smtClean="0">
                <a:solidFill>
                  <a:schemeClr val="tx1"/>
                </a:solidFill>
                <a:latin typeface="Calibri" panose="020F0502020204030204" pitchFamily="34" charset="0"/>
                <a:cs typeface="Calibri" panose="020F0502020204030204" pitchFamily="34" charset="0"/>
              </a:rPr>
              <a:t> </a:t>
            </a:r>
            <a:r>
              <a:rPr lang="el-GR" sz="2000" dirty="0">
                <a:solidFill>
                  <a:schemeClr val="tx1"/>
                </a:solidFill>
                <a:latin typeface="Calibri" panose="020F0502020204030204" pitchFamily="34" charset="0"/>
                <a:cs typeface="Calibri" panose="020F0502020204030204" pitchFamily="34" charset="0"/>
              </a:rPr>
              <a:t>(</a:t>
            </a:r>
            <a:r>
              <a:rPr lang="en-US" sz="2000" dirty="0">
                <a:solidFill>
                  <a:schemeClr val="tx1"/>
                </a:solidFill>
                <a:latin typeface="Calibri" panose="020F0502020204030204" pitchFamily="34" charset="0"/>
                <a:cs typeface="Calibri" panose="020F0502020204030204" pitchFamily="34" charset="0"/>
              </a:rPr>
              <a:t>Modified Distribution Method</a:t>
            </a:r>
            <a:r>
              <a:rPr lang="el-GR" sz="2000" dirty="0">
                <a:solidFill>
                  <a:schemeClr val="tx1"/>
                </a:solidFill>
                <a:latin typeface="Calibri" panose="020F0502020204030204" pitchFamily="34" charset="0"/>
                <a:cs typeface="Calibri" panose="020F0502020204030204" pitchFamily="34" charset="0"/>
              </a:rPr>
              <a:t>-Μέθοδος Ανακατανομής Προϊόντων</a:t>
            </a:r>
            <a:r>
              <a:rPr lang="el-GR" sz="2000" dirty="0" smtClean="0">
                <a:solidFill>
                  <a:schemeClr val="tx1"/>
                </a:solidFill>
                <a:latin typeface="Calibri" panose="020F0502020204030204" pitchFamily="34" charset="0"/>
                <a:cs typeface="Calibri" panose="020F0502020204030204" pitchFamily="34" charset="0"/>
              </a:rPr>
              <a:t>)</a:t>
            </a:r>
          </a:p>
          <a:p>
            <a:pPr lvl="0"/>
            <a:r>
              <a:rPr lang="el-GR" sz="2200" i="1" dirty="0" smtClean="0">
                <a:latin typeface="Calibri" panose="020F0502020204030204" pitchFamily="34" charset="0"/>
                <a:cs typeface="Calibri" panose="020F0502020204030204" pitchFamily="34" charset="0"/>
              </a:rPr>
              <a:t>Πρόβλημα Ανάθεσης (</a:t>
            </a:r>
            <a:r>
              <a:rPr lang="en-US" sz="2200" i="1" dirty="0" smtClean="0">
                <a:latin typeface="Calibri" panose="020F0502020204030204" pitchFamily="34" charset="0"/>
                <a:cs typeface="Calibri" panose="020F0502020204030204" pitchFamily="34" charset="0"/>
              </a:rPr>
              <a:t>Assignment Problem</a:t>
            </a:r>
            <a:r>
              <a:rPr lang="el-GR" sz="2200" i="1" dirty="0" smtClean="0">
                <a:latin typeface="Calibri" panose="020F0502020204030204" pitchFamily="34" charset="0"/>
                <a:cs typeface="Calibri" panose="020F0502020204030204" pitchFamily="34" charset="0"/>
              </a:rPr>
              <a:t>)</a:t>
            </a:r>
            <a:r>
              <a:rPr lang="en-US" sz="2200" dirty="0">
                <a:latin typeface="Calibri" panose="020F0502020204030204" pitchFamily="34" charset="0"/>
                <a:cs typeface="Calibri" panose="020F0502020204030204" pitchFamily="34" charset="0"/>
              </a:rPr>
              <a:t>:</a:t>
            </a:r>
            <a:r>
              <a:rPr lang="el-GR" sz="2200" dirty="0" smtClean="0">
                <a:latin typeface="Calibri" panose="020F0502020204030204" pitchFamily="34" charset="0"/>
                <a:cs typeface="Calibri" panose="020F0502020204030204" pitchFamily="34" charset="0"/>
              </a:rPr>
              <a:t> αφορά την κατανομή έργων ή καθηκόντων σε άτομα ή μηχανές</a:t>
            </a:r>
          </a:p>
          <a:p>
            <a:pPr lvl="1">
              <a:buClr>
                <a:schemeClr val="tx2"/>
              </a:buClr>
            </a:pPr>
            <a:r>
              <a:rPr lang="el-GR" sz="2000" dirty="0" smtClean="0">
                <a:solidFill>
                  <a:schemeClr val="tx1"/>
                </a:solidFill>
                <a:latin typeface="Calibri" panose="020F0502020204030204" pitchFamily="34" charset="0"/>
                <a:cs typeface="Calibri" panose="020F0502020204030204" pitchFamily="34" charset="0"/>
              </a:rPr>
              <a:t>Σκοπός του προβλήματος: ελαχιστοποίηση κόστους ή μεγιστοποίηση ωφέλειας</a:t>
            </a:r>
          </a:p>
          <a:p>
            <a:pPr lvl="1">
              <a:buClr>
                <a:schemeClr val="tx2"/>
              </a:buClr>
            </a:pPr>
            <a:r>
              <a:rPr lang="el-GR" sz="2000" dirty="0" smtClean="0">
                <a:solidFill>
                  <a:schemeClr val="tx1"/>
                </a:solidFill>
                <a:latin typeface="Calibri" panose="020F0502020204030204" pitchFamily="34" charset="0"/>
                <a:cs typeface="Calibri" panose="020F0502020204030204" pitchFamily="34" charset="0"/>
              </a:rPr>
              <a:t>Ουγγρικός </a:t>
            </a:r>
            <a:r>
              <a:rPr lang="el-GR" sz="2000" dirty="0">
                <a:solidFill>
                  <a:schemeClr val="tx1"/>
                </a:solidFill>
                <a:latin typeface="Calibri" panose="020F0502020204030204" pitchFamily="34" charset="0"/>
                <a:cs typeface="Calibri" panose="020F0502020204030204" pitchFamily="34" charset="0"/>
              </a:rPr>
              <a:t>(</a:t>
            </a:r>
            <a:r>
              <a:rPr lang="en-US" sz="2000" dirty="0">
                <a:solidFill>
                  <a:schemeClr val="tx1"/>
                </a:solidFill>
                <a:latin typeface="Calibri" panose="020F0502020204030204" pitchFamily="34" charset="0"/>
                <a:cs typeface="Calibri" panose="020F0502020204030204" pitchFamily="34" charset="0"/>
              </a:rPr>
              <a:t>Hungarian</a:t>
            </a:r>
            <a:r>
              <a:rPr lang="el-GR" sz="2000" dirty="0" smtClean="0">
                <a:solidFill>
                  <a:schemeClr val="tx1"/>
                </a:solidFill>
                <a:latin typeface="Calibri" panose="020F0502020204030204" pitchFamily="34" charset="0"/>
                <a:cs typeface="Calibri" panose="020F0502020204030204" pitchFamily="34" charset="0"/>
              </a:rPr>
              <a:t>) Αλγόριθμος</a:t>
            </a:r>
            <a:endParaRPr lang="el-GR" sz="2000" dirty="0">
              <a:solidFill>
                <a:schemeClr val="tx1"/>
              </a:solidFill>
              <a:latin typeface="Calibri" panose="020F0502020204030204" pitchFamily="34" charset="0"/>
              <a:cs typeface="Calibri" panose="020F0502020204030204" pitchFamily="34" charset="0"/>
            </a:endParaRPr>
          </a:p>
          <a:p>
            <a:pPr lvl="1"/>
            <a:endParaRPr lang="el-GR" sz="2000" dirty="0" smtClean="0">
              <a:solidFill>
                <a:schemeClr val="tx1"/>
              </a:solidFill>
              <a:latin typeface="Calibri" panose="020F0502020204030204" pitchFamily="34" charset="0"/>
              <a:cs typeface="Calibri" panose="020F0502020204030204" pitchFamily="34" charset="0"/>
            </a:endParaRPr>
          </a:p>
          <a:p>
            <a:pPr lvl="1"/>
            <a:endParaRPr lang="el-GR" sz="2000" dirty="0" smtClean="0">
              <a:solidFill>
                <a:schemeClr val="tx1"/>
              </a:solidFill>
              <a:latin typeface="Calibri" panose="020F0502020204030204" pitchFamily="34" charset="0"/>
              <a:cs typeface="Calibri" panose="020F0502020204030204" pitchFamily="34" charset="0"/>
            </a:endParaRPr>
          </a:p>
          <a:p>
            <a:pPr lvl="1"/>
            <a:endParaRPr lang="el-GR" sz="2000" dirty="0" smtClean="0">
              <a:solidFill>
                <a:schemeClr val="tx1"/>
              </a:solidFill>
              <a:latin typeface="Calibri" panose="020F0502020204030204" pitchFamily="34" charset="0"/>
              <a:cs typeface="Calibri" panose="020F0502020204030204" pitchFamily="34" charset="0"/>
            </a:endParaRPr>
          </a:p>
          <a:p>
            <a:endParaRPr lang="el-GR" dirty="0"/>
          </a:p>
        </p:txBody>
      </p:sp>
    </p:spTree>
    <p:extLst>
      <p:ext uri="{BB962C8B-B14F-4D97-AF65-F5344CB8AC3E}">
        <p14:creationId xmlns:p14="http://schemas.microsoft.com/office/powerpoint/2010/main" xmlns="" val="42597184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normAutofit/>
          </a:bodyPr>
          <a:lstStyle/>
          <a:p>
            <a:pPr algn="ctr"/>
            <a:r>
              <a:rPr lang="el-GR" sz="3000" dirty="0" smtClean="0"/>
              <a:t>ΕΠΙΛΥΣΗ ΜΕ ΕΙΔΙΚΟΥΣ ΑΛΓΟΡΙΘΜΟΥΣ Ή ΓΕΝΙΚΕΣ ΜΕΘΟΔΟΥΣ</a:t>
            </a:r>
            <a:r>
              <a:rPr lang="en-US" sz="3000" dirty="0" smtClean="0"/>
              <a:t> (1/6)</a:t>
            </a:r>
            <a:endParaRPr lang="el-GR" sz="3000" dirty="0"/>
          </a:p>
        </p:txBody>
      </p:sp>
      <p:sp>
        <p:nvSpPr>
          <p:cNvPr id="3" name="2 - Θέση περιεχομένου"/>
          <p:cNvSpPr>
            <a:spLocks noGrp="1"/>
          </p:cNvSpPr>
          <p:nvPr>
            <p:ph idx="1"/>
          </p:nvPr>
        </p:nvSpPr>
        <p:spPr>
          <a:xfrm>
            <a:off x="457200" y="1609416"/>
            <a:ext cx="7239000" cy="5105732"/>
          </a:xfrm>
        </p:spPr>
        <p:txBody>
          <a:bodyPr>
            <a:normAutofit/>
          </a:bodyPr>
          <a:lstStyle/>
          <a:p>
            <a:r>
              <a:rPr lang="el-GR" sz="2000" dirty="0" smtClean="0">
                <a:latin typeface="Calibri" pitchFamily="34" charset="0"/>
                <a:cs typeface="Calibri" pitchFamily="34" charset="0"/>
              </a:rPr>
              <a:t>Αρχική Λύση -&gt; Μέθοδοι -&gt; Βορειοδυτικής Γωνίας, Ελαχίστου Κόστους, </a:t>
            </a:r>
            <a:r>
              <a:rPr lang="en-US" sz="2000" dirty="0" smtClean="0">
                <a:latin typeface="Calibri" pitchFamily="34" charset="0"/>
                <a:cs typeface="Calibri" pitchFamily="34" charset="0"/>
              </a:rPr>
              <a:t>Vogel</a:t>
            </a:r>
          </a:p>
          <a:p>
            <a:r>
              <a:rPr lang="el-GR" sz="2000" dirty="0" smtClean="0">
                <a:latin typeface="Calibri" pitchFamily="34" charset="0"/>
                <a:cs typeface="Calibri" pitchFamily="34" charset="0"/>
              </a:rPr>
              <a:t>Βήματα Αλγορίθμου </a:t>
            </a:r>
            <a:r>
              <a:rPr lang="en-US" sz="2000" dirty="0" smtClean="0">
                <a:latin typeface="Calibri" pitchFamily="34" charset="0"/>
                <a:cs typeface="Calibri" pitchFamily="34" charset="0"/>
              </a:rPr>
              <a:t>MODI:</a:t>
            </a:r>
          </a:p>
          <a:p>
            <a:pPr marL="457200" lvl="0" indent="-457200">
              <a:buFont typeface="+mj-lt"/>
              <a:buAutoNum type="arabicPeriod"/>
            </a:pPr>
            <a:r>
              <a:rPr lang="el-GR" sz="2000" dirty="0" smtClean="0">
                <a:latin typeface="Calibri" pitchFamily="34" charset="0"/>
                <a:cs typeface="Calibri" pitchFamily="34" charset="0"/>
              </a:rPr>
              <a:t>Ορίζουμε τις μεταβλητές:</a:t>
            </a:r>
            <a:endParaRPr lang="en-US" sz="2000" baseline="-25000" dirty="0" smtClean="0">
              <a:latin typeface="Calibri" pitchFamily="34" charset="0"/>
              <a:cs typeface="Calibri" pitchFamily="34" charset="0"/>
            </a:endParaRPr>
          </a:p>
          <a:p>
            <a:pPr marL="704088" lvl="1" indent="-457200">
              <a:buClr>
                <a:schemeClr val="tx2"/>
              </a:buClr>
              <a:buFont typeface="Wingdings" pitchFamily="2" charset="2"/>
              <a:buChar char="§"/>
            </a:pPr>
            <a:r>
              <a:rPr lang="en-US" sz="2000" dirty="0" smtClean="0">
                <a:solidFill>
                  <a:schemeClr val="tx1"/>
                </a:solidFill>
                <a:latin typeface="Calibri" pitchFamily="34" charset="0"/>
                <a:cs typeface="Calibri" pitchFamily="34" charset="0"/>
              </a:rPr>
              <a:t>R</a:t>
            </a:r>
            <a:r>
              <a:rPr lang="el-GR" sz="2000" baseline="-25000" dirty="0" smtClean="0">
                <a:solidFill>
                  <a:schemeClr val="tx1"/>
                </a:solidFill>
                <a:latin typeface="Calibri" pitchFamily="34" charset="0"/>
                <a:cs typeface="Calibri" pitchFamily="34" charset="0"/>
              </a:rPr>
              <a:t> </a:t>
            </a:r>
            <a:r>
              <a:rPr lang="en-US" sz="2000" baseline="-25000" dirty="0" err="1" smtClean="0">
                <a:solidFill>
                  <a:schemeClr val="tx1"/>
                </a:solidFill>
                <a:latin typeface="Calibri" pitchFamily="34" charset="0"/>
                <a:cs typeface="Calibri" pitchFamily="34" charset="0"/>
              </a:rPr>
              <a:t>i</a:t>
            </a:r>
            <a:r>
              <a:rPr lang="en-US" sz="2000" dirty="0" smtClean="0">
                <a:solidFill>
                  <a:schemeClr val="tx1"/>
                </a:solidFill>
                <a:latin typeface="Calibri" pitchFamily="34" charset="0"/>
                <a:cs typeface="Calibri" pitchFamily="34" charset="0"/>
              </a:rPr>
              <a:t>: </a:t>
            </a:r>
            <a:r>
              <a:rPr lang="el-GR" sz="2000" dirty="0" smtClean="0">
                <a:solidFill>
                  <a:schemeClr val="tx1"/>
                </a:solidFill>
                <a:latin typeface="Calibri" pitchFamily="34" charset="0"/>
                <a:cs typeface="Calibri" pitchFamily="34" charset="0"/>
              </a:rPr>
              <a:t>μεταβλητή για την </a:t>
            </a:r>
            <a:r>
              <a:rPr lang="en-US" sz="2000" dirty="0" err="1" smtClean="0">
                <a:solidFill>
                  <a:schemeClr val="tx1"/>
                </a:solidFill>
                <a:latin typeface="Calibri" pitchFamily="34" charset="0"/>
                <a:cs typeface="Calibri" pitchFamily="34" charset="0"/>
              </a:rPr>
              <a:t>i</a:t>
            </a:r>
            <a:r>
              <a:rPr lang="en-US" sz="2000" dirty="0" smtClean="0">
                <a:solidFill>
                  <a:schemeClr val="tx1"/>
                </a:solidFill>
                <a:latin typeface="Calibri" pitchFamily="34" charset="0"/>
                <a:cs typeface="Calibri" pitchFamily="34" charset="0"/>
              </a:rPr>
              <a:t> </a:t>
            </a:r>
            <a:r>
              <a:rPr lang="el-GR" sz="2000" dirty="0" smtClean="0">
                <a:solidFill>
                  <a:schemeClr val="tx1"/>
                </a:solidFill>
                <a:latin typeface="Calibri" pitchFamily="34" charset="0"/>
                <a:cs typeface="Calibri" pitchFamily="34" charset="0"/>
              </a:rPr>
              <a:t>σειρά (προέλευση),</a:t>
            </a:r>
            <a:endParaRPr lang="en-US" sz="2000" dirty="0" smtClean="0">
              <a:solidFill>
                <a:schemeClr val="tx1"/>
              </a:solidFill>
              <a:latin typeface="Calibri" pitchFamily="34" charset="0"/>
              <a:cs typeface="Calibri" pitchFamily="34" charset="0"/>
            </a:endParaRPr>
          </a:p>
          <a:p>
            <a:pPr marL="704088" lvl="1" indent="-457200">
              <a:buClr>
                <a:schemeClr val="tx2"/>
              </a:buClr>
              <a:buFont typeface="Wingdings" pitchFamily="2" charset="2"/>
              <a:buChar char="§"/>
            </a:pPr>
            <a:r>
              <a:rPr lang="el-GR" sz="2000" dirty="0" err="1" smtClean="0">
                <a:solidFill>
                  <a:schemeClr val="tx1"/>
                </a:solidFill>
                <a:latin typeface="Calibri" pitchFamily="34" charset="0"/>
                <a:cs typeface="Calibri" pitchFamily="34" charset="0"/>
              </a:rPr>
              <a:t>Kⱼ</a:t>
            </a:r>
            <a:r>
              <a:rPr lang="el-GR" sz="2000" dirty="0" smtClean="0">
                <a:solidFill>
                  <a:schemeClr val="tx1"/>
                </a:solidFill>
                <a:latin typeface="Calibri" pitchFamily="34" charset="0"/>
                <a:cs typeface="Calibri" pitchFamily="34" charset="0"/>
              </a:rPr>
              <a:t>: μεταβλητή για την </a:t>
            </a:r>
            <a:r>
              <a:rPr lang="en-US" sz="2000" dirty="0" smtClean="0">
                <a:solidFill>
                  <a:schemeClr val="tx1"/>
                </a:solidFill>
                <a:latin typeface="Calibri" pitchFamily="34" charset="0"/>
                <a:cs typeface="Calibri" pitchFamily="34" charset="0"/>
              </a:rPr>
              <a:t>j </a:t>
            </a:r>
            <a:r>
              <a:rPr lang="el-GR" sz="2000" dirty="0" smtClean="0">
                <a:solidFill>
                  <a:schemeClr val="tx1"/>
                </a:solidFill>
                <a:latin typeface="Calibri" pitchFamily="34" charset="0"/>
                <a:cs typeface="Calibri" pitchFamily="34" charset="0"/>
              </a:rPr>
              <a:t>στήλη (προορισμού), </a:t>
            </a:r>
            <a:endParaRPr lang="en-US" sz="2000" dirty="0" smtClean="0">
              <a:solidFill>
                <a:schemeClr val="tx1"/>
              </a:solidFill>
              <a:latin typeface="Calibri" pitchFamily="34" charset="0"/>
              <a:cs typeface="Calibri" pitchFamily="34" charset="0"/>
            </a:endParaRPr>
          </a:p>
          <a:p>
            <a:pPr marL="704088" lvl="1" indent="-457200">
              <a:buClr>
                <a:schemeClr val="tx2"/>
              </a:buClr>
              <a:buFont typeface="Wingdings" pitchFamily="2" charset="2"/>
              <a:buChar char="§"/>
            </a:pPr>
            <a:r>
              <a:rPr lang="en-US" sz="2000" dirty="0" err="1" smtClean="0">
                <a:solidFill>
                  <a:schemeClr val="tx1"/>
                </a:solidFill>
                <a:latin typeface="Calibri" pitchFamily="34" charset="0"/>
                <a:cs typeface="Calibri" pitchFamily="34" charset="0"/>
              </a:rPr>
              <a:t>C</a:t>
            </a:r>
            <a:r>
              <a:rPr lang="en-US" sz="2000" baseline="-25000" dirty="0" err="1" smtClean="0">
                <a:solidFill>
                  <a:schemeClr val="tx1"/>
                </a:solidFill>
                <a:latin typeface="Calibri" pitchFamily="34" charset="0"/>
                <a:cs typeface="Calibri" pitchFamily="34" charset="0"/>
              </a:rPr>
              <a:t>ij</a:t>
            </a:r>
            <a:r>
              <a:rPr lang="en-US" sz="2000" dirty="0" smtClean="0">
                <a:solidFill>
                  <a:schemeClr val="tx1"/>
                </a:solidFill>
                <a:latin typeface="Calibri" pitchFamily="34" charset="0"/>
                <a:cs typeface="Calibri" pitchFamily="34" charset="0"/>
              </a:rPr>
              <a:t> </a:t>
            </a:r>
            <a:r>
              <a:rPr lang="el-GR" sz="2000" dirty="0" smtClean="0">
                <a:solidFill>
                  <a:schemeClr val="tx1"/>
                </a:solidFill>
                <a:latin typeface="Calibri" pitchFamily="34" charset="0"/>
                <a:cs typeface="Calibri" pitchFamily="34" charset="0"/>
              </a:rPr>
              <a:t>: κόστος αντίστοιχης διαδρομής</a:t>
            </a:r>
          </a:p>
          <a:p>
            <a:pPr marL="457200" indent="-457200">
              <a:buFont typeface="+mj-lt"/>
              <a:buAutoNum type="arabicPeriod"/>
            </a:pPr>
            <a:r>
              <a:rPr lang="el-GR" sz="2000" dirty="0" smtClean="0">
                <a:latin typeface="Calibri" pitchFamily="34" charset="0"/>
                <a:cs typeface="Calibri" pitchFamily="34" charset="0"/>
              </a:rPr>
              <a:t>Σύστημα  εξισώσεων με  αγνώστων καθώς</a:t>
            </a:r>
            <a:r>
              <a:rPr lang="en-US" sz="2000" dirty="0" smtClean="0">
                <a:latin typeface="Calibri" pitchFamily="34" charset="0"/>
                <a:cs typeface="Calibri" pitchFamily="34" charset="0"/>
              </a:rPr>
              <a:t> </a:t>
            </a:r>
            <a:r>
              <a:rPr lang="en-US" sz="2000" dirty="0" err="1" smtClean="0">
                <a:latin typeface="Calibri" pitchFamily="34" charset="0"/>
                <a:cs typeface="Calibri" pitchFamily="34" charset="0"/>
              </a:rPr>
              <a:t>R</a:t>
            </a:r>
            <a:r>
              <a:rPr lang="en-US" sz="2000" baseline="-25000" dirty="0" err="1" smtClean="0">
                <a:latin typeface="Calibri" pitchFamily="34" charset="0"/>
                <a:cs typeface="Calibri" pitchFamily="34" charset="0"/>
              </a:rPr>
              <a:t>i</a:t>
            </a:r>
            <a:r>
              <a:rPr lang="en-US" sz="2000" dirty="0" smtClean="0">
                <a:latin typeface="Calibri" pitchFamily="34" charset="0"/>
                <a:cs typeface="Calibri" pitchFamily="34" charset="0"/>
              </a:rPr>
              <a:t> + </a:t>
            </a:r>
            <a:r>
              <a:rPr lang="el-GR" sz="2000" dirty="0" err="1" smtClean="0">
                <a:latin typeface="Calibri" pitchFamily="34" charset="0"/>
                <a:cs typeface="Calibri" pitchFamily="34" charset="0"/>
              </a:rPr>
              <a:t>Kⱼ</a:t>
            </a:r>
            <a:r>
              <a:rPr lang="en-US" sz="2000" dirty="0" smtClean="0">
                <a:latin typeface="Calibri" pitchFamily="34" charset="0"/>
                <a:cs typeface="Calibri" pitchFamily="34" charset="0"/>
              </a:rPr>
              <a:t> = </a:t>
            </a:r>
            <a:r>
              <a:rPr lang="en-US" sz="2000" dirty="0" err="1" smtClean="0">
                <a:latin typeface="Calibri" pitchFamily="34" charset="0"/>
                <a:cs typeface="Calibri" pitchFamily="34" charset="0"/>
              </a:rPr>
              <a:t>C</a:t>
            </a:r>
            <a:r>
              <a:rPr lang="en-US" sz="2000" baseline="-25000" dirty="0" err="1" smtClean="0">
                <a:latin typeface="Calibri" pitchFamily="34" charset="0"/>
                <a:cs typeface="Calibri" pitchFamily="34" charset="0"/>
              </a:rPr>
              <a:t>ij</a:t>
            </a:r>
            <a:r>
              <a:rPr lang="en-US" sz="2000" dirty="0" smtClean="0">
                <a:latin typeface="Calibri" pitchFamily="34" charset="0"/>
                <a:cs typeface="Calibri" pitchFamily="34" charset="0"/>
              </a:rPr>
              <a:t> </a:t>
            </a:r>
            <a:endParaRPr lang="el-GR" sz="2000" dirty="0" smtClean="0">
              <a:latin typeface="Calibri" pitchFamily="34" charset="0"/>
              <a:cs typeface="Calibri" pitchFamily="34" charset="0"/>
            </a:endParaRPr>
          </a:p>
          <a:p>
            <a:pPr marL="457200" lvl="0" indent="-457200">
              <a:buFont typeface="+mj-lt"/>
              <a:buAutoNum type="arabicPeriod"/>
            </a:pPr>
            <a:r>
              <a:rPr lang="el-GR" sz="2000" dirty="0" smtClean="0">
                <a:latin typeface="Calibri" pitchFamily="34" charset="0"/>
                <a:cs typeface="Calibri" pitchFamily="34" charset="0"/>
              </a:rPr>
              <a:t>Υπολογίζουμε τις τιμές των μεταβλητών της πηγής προέλευσης και του προορισμού θέτοντας </a:t>
            </a:r>
            <a:r>
              <a:rPr lang="en-US" sz="2000" dirty="0" err="1" smtClean="0">
                <a:latin typeface="Calibri" pitchFamily="34" charset="0"/>
                <a:cs typeface="Calibri" pitchFamily="34" charset="0"/>
              </a:rPr>
              <a:t>R</a:t>
            </a:r>
            <a:r>
              <a:rPr lang="en-US" sz="2000" baseline="-25000" dirty="0" err="1" smtClean="0">
                <a:latin typeface="Calibri" pitchFamily="34" charset="0"/>
                <a:cs typeface="Calibri" pitchFamily="34" charset="0"/>
              </a:rPr>
              <a:t>i</a:t>
            </a:r>
            <a:r>
              <a:rPr lang="el-GR" sz="2000" dirty="0" smtClean="0">
                <a:latin typeface="Calibri" pitchFamily="34" charset="0"/>
                <a:cs typeface="Calibri" pitchFamily="34" charset="0"/>
              </a:rPr>
              <a:t> </a:t>
            </a:r>
            <a:r>
              <a:rPr lang="en-US" sz="2000" dirty="0" smtClean="0">
                <a:latin typeface="Calibri" pitchFamily="34" charset="0"/>
                <a:cs typeface="Calibri" pitchFamily="34" charset="0"/>
              </a:rPr>
              <a:t>= 0 </a:t>
            </a:r>
            <a:r>
              <a:rPr lang="el-GR" sz="2000" dirty="0" smtClean="0">
                <a:latin typeface="Calibri" pitchFamily="34" charset="0"/>
                <a:cs typeface="Calibri" pitchFamily="34" charset="0"/>
              </a:rPr>
              <a:t>και λύνοντας ως προς τις υπόλοιπες μεταβλητές</a:t>
            </a:r>
          </a:p>
          <a:p>
            <a:pPr marL="457200" lvl="0" indent="-457200">
              <a:buFont typeface="+mj-lt"/>
              <a:buAutoNum type="arabicPeriod"/>
            </a:pPr>
            <a:r>
              <a:rPr lang="el-GR" sz="2000" dirty="0" smtClean="0">
                <a:latin typeface="Calibri" pitchFamily="34" charset="0"/>
                <a:cs typeface="Calibri" pitchFamily="34" charset="0"/>
              </a:rPr>
              <a:t>Υπολογίζουμε τον δείκτη βελτίωσης με τον εξής τύπο: </a:t>
            </a:r>
          </a:p>
          <a:p>
            <a:pPr marL="457200" lvl="0" indent="-457200">
              <a:buNone/>
            </a:pPr>
            <a:r>
              <a:rPr lang="el-GR" sz="2000" dirty="0" smtClean="0">
                <a:latin typeface="Calibri" pitchFamily="34" charset="0"/>
                <a:cs typeface="Calibri" pitchFamily="34" charset="0"/>
              </a:rPr>
              <a:t>         ΔΒ = </a:t>
            </a:r>
            <a:r>
              <a:rPr lang="en-US" sz="2000" dirty="0" err="1" smtClean="0">
                <a:latin typeface="Calibri" pitchFamily="34" charset="0"/>
                <a:cs typeface="Calibri" pitchFamily="34" charset="0"/>
              </a:rPr>
              <a:t>C</a:t>
            </a:r>
            <a:r>
              <a:rPr lang="en-US" sz="2000" baseline="-25000" dirty="0" err="1" smtClean="0">
                <a:latin typeface="Calibri" pitchFamily="34" charset="0"/>
                <a:cs typeface="Calibri" pitchFamily="34" charset="0"/>
              </a:rPr>
              <a:t>ij</a:t>
            </a:r>
            <a:r>
              <a:rPr lang="el-GR" sz="2000" dirty="0" smtClean="0">
                <a:latin typeface="Calibri" pitchFamily="34" charset="0"/>
                <a:cs typeface="Calibri" pitchFamily="34" charset="0"/>
              </a:rPr>
              <a:t> – (</a:t>
            </a:r>
            <a:r>
              <a:rPr lang="en-US" sz="2000" dirty="0" err="1" smtClean="0">
                <a:latin typeface="Calibri" pitchFamily="34" charset="0"/>
                <a:cs typeface="Calibri" pitchFamily="34" charset="0"/>
              </a:rPr>
              <a:t>R</a:t>
            </a:r>
            <a:r>
              <a:rPr lang="en-US" sz="2000" baseline="-25000" dirty="0" err="1" smtClean="0">
                <a:latin typeface="Calibri" pitchFamily="34" charset="0"/>
                <a:cs typeface="Calibri" pitchFamily="34" charset="0"/>
              </a:rPr>
              <a:t>i</a:t>
            </a:r>
            <a:r>
              <a:rPr lang="en-US" sz="2000" dirty="0" smtClean="0">
                <a:latin typeface="Calibri" pitchFamily="34" charset="0"/>
                <a:cs typeface="Calibri" pitchFamily="34" charset="0"/>
              </a:rPr>
              <a:t> + </a:t>
            </a:r>
            <a:r>
              <a:rPr lang="el-GR" sz="2000" dirty="0" err="1" smtClean="0">
                <a:latin typeface="Calibri" pitchFamily="34" charset="0"/>
                <a:cs typeface="Calibri" pitchFamily="34" charset="0"/>
              </a:rPr>
              <a:t>Kⱼ</a:t>
            </a:r>
            <a:r>
              <a:rPr lang="en-US" sz="2000" dirty="0" smtClean="0">
                <a:latin typeface="Calibri" pitchFamily="34" charset="0"/>
                <a:cs typeface="Calibri" pitchFamily="34" charset="0"/>
              </a:rPr>
              <a:t> </a:t>
            </a:r>
            <a:r>
              <a:rPr lang="el-GR" sz="2000" dirty="0" smtClean="0">
                <a:latin typeface="Calibri" pitchFamily="34" charset="0"/>
                <a:cs typeface="Calibri" pitchFamily="34" charset="0"/>
              </a:rPr>
              <a:t>) για κάθε μη χρησιμοποιούμενη διαδρομή</a:t>
            </a:r>
          </a:p>
          <a:p>
            <a:pPr marL="457200" lvl="0" indent="-457200">
              <a:buFont typeface="+mj-lt"/>
              <a:buAutoNum type="arabicPeriod" startAt="5"/>
            </a:pPr>
            <a:r>
              <a:rPr lang="el-GR" sz="2000" dirty="0" smtClean="0">
                <a:latin typeface="Calibri" pitchFamily="34" charset="0"/>
                <a:cs typeface="Calibri" pitchFamily="34" charset="0"/>
              </a:rPr>
              <a:t>Επιλέγουμε την διαδρομή με το μικρότερο αρνητικό δείκτη</a:t>
            </a:r>
            <a:endParaRPr lang="en-US" sz="2000" dirty="0" smtClean="0">
              <a:latin typeface="Calibri" pitchFamily="34" charset="0"/>
              <a:cs typeface="Calibri" pitchFamily="34" charset="0"/>
            </a:endParaRPr>
          </a:p>
          <a:p>
            <a:endParaRPr lang="en-US" sz="2200" dirty="0" smtClean="0">
              <a:latin typeface="Calibri" pitchFamily="34" charset="0"/>
              <a:cs typeface="Calibri" pitchFamily="34" charset="0"/>
            </a:endParaRPr>
          </a:p>
          <a:p>
            <a:endParaRPr lang="el-GR" sz="2200" dirty="0">
              <a:latin typeface="Calibri" pitchFamily="34" charset="0"/>
              <a:cs typeface="Calibri" pitchFamily="34" charset="0"/>
            </a:endParaRPr>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l-GR"/>
          </a:p>
        </p:txBody>
      </p:sp>
      <p:sp>
        <p:nvSpPr>
          <p:cNvPr id="1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l-GR"/>
          </a:p>
        </p:txBody>
      </p:sp>
      <p:sp>
        <p:nvSpPr>
          <p:cNvPr id="1030"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l-G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title"/>
          </p:nvPr>
        </p:nvSpPr>
        <p:spPr>
          <a:xfrm>
            <a:off x="457200" y="320040"/>
            <a:ext cx="7239000" cy="1020728"/>
          </a:xfrm>
        </p:spPr>
        <p:txBody>
          <a:bodyPr>
            <a:normAutofit/>
          </a:bodyPr>
          <a:lstStyle/>
          <a:p>
            <a:pPr algn="ctr"/>
            <a:r>
              <a:rPr lang="el-GR" sz="3000" dirty="0"/>
              <a:t>ΕΠΙΛΥΣΗ ΜΕ ΕΙΔΙΚΟΥΣ ΑΛΓΟΡΙΘΜΟΥΣ Ή ΓΕΝΙΚΕΣ ΜΕΘΟΔΟΥΣ</a:t>
            </a:r>
            <a:r>
              <a:rPr lang="en-US" sz="3000" dirty="0"/>
              <a:t> </a:t>
            </a:r>
            <a:r>
              <a:rPr lang="en-US" sz="3000" dirty="0" smtClean="0"/>
              <a:t>(2/6)</a:t>
            </a:r>
            <a:endParaRPr lang="el-GR" sz="3000" dirty="0"/>
          </a:p>
        </p:txBody>
      </p:sp>
      <mc:AlternateContent xmlns:mc="http://schemas.openxmlformats.org/markup-compatibility/2006">
        <mc:Choice xmlns:a14="http://schemas.microsoft.com/office/drawing/2010/main" xmlns="" Requires="a14">
          <p:graphicFrame>
            <p:nvGraphicFramePr>
              <p:cNvPr id="16" name="Θέση περιεχομένου 15"/>
              <p:cNvGraphicFramePr>
                <a:graphicFrameLocks noGrp="1"/>
              </p:cNvGraphicFramePr>
              <p:nvPr>
                <p:ph idx="1"/>
                <p:extLst>
                  <p:ext uri="{D42A27DB-BD31-4B8C-83A1-F6EECF244321}">
                    <p14:modId xmlns:p14="http://schemas.microsoft.com/office/powerpoint/2010/main" val="984184597"/>
                  </p:ext>
                </p:extLst>
              </p:nvPr>
            </p:nvGraphicFramePr>
            <p:xfrm>
              <a:off x="1434217" y="2636912"/>
              <a:ext cx="5411470" cy="787400"/>
            </p:xfrm>
            <a:graphic>
              <a:graphicData uri="http://schemas.openxmlformats.org/drawingml/2006/table">
                <a:tbl>
                  <a:tblPr firstRow="1" firstCol="1" bandRow="1">
                    <a:tableStyleId>{5C22544A-7EE6-4342-B048-85BDC9FD1C3A}</a:tableStyleId>
                  </a:tblPr>
                  <a:tblGrid>
                    <a:gridCol w="1351915"/>
                    <a:gridCol w="1353185"/>
                    <a:gridCol w="1353185"/>
                    <a:gridCol w="1353185"/>
                  </a:tblGrid>
                  <a:tr h="0">
                    <a:tc>
                      <a:txBody>
                        <a:bodyPr/>
                        <a:lstStyle/>
                        <a:p>
                          <a:pPr>
                            <a:lnSpc>
                              <a:spcPct val="115000"/>
                            </a:lnSpc>
                            <a:spcAft>
                              <a:spcPts val="0"/>
                            </a:spcAft>
                          </a:pPr>
                          <a:r>
                            <a:rPr lang="el-GR" sz="1100">
                              <a:effectLst/>
                            </a:rPr>
                            <a:t> </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14:m>
                            <m:oMath xmlns:m="http://schemas.openxmlformats.org/officeDocument/2006/math">
                              <m:sSub>
                                <m:sSubPr>
                                  <m:ctrlPr>
                                    <a:rPr lang="el-GR" sz="1200" i="1">
                                      <a:effectLst/>
                                      <a:latin typeface="Cambria Math"/>
                                    </a:rPr>
                                  </m:ctrlPr>
                                </m:sSubPr>
                                <m:e>
                                  <m:r>
                                    <a:rPr lang="en-US" sz="1200">
                                      <a:effectLst/>
                                      <a:latin typeface="Cambria Math"/>
                                    </a:rPr>
                                    <m:t>𝐾</m:t>
                                  </m:r>
                                </m:e>
                                <m:sub>
                                  <m:r>
                                    <a:rPr lang="en-US" sz="1200">
                                      <a:effectLst/>
                                      <a:latin typeface="Cambria Math"/>
                                    </a:rPr>
                                    <m:t>1</m:t>
                                  </m:r>
                                </m:sub>
                              </m:sSub>
                              <m:r>
                                <a:rPr lang="en-US" sz="1200">
                                  <a:effectLst/>
                                  <a:latin typeface="Cambria Math"/>
                                </a:rPr>
                                <m:t>: </m:t>
                              </m:r>
                            </m:oMath>
                          </a14:m>
                          <a:r>
                            <a:rPr lang="el-GR" sz="1200">
                              <a:effectLst/>
                            </a:rPr>
                            <a:t>Π1 = 30</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14:m>
                            <m:oMath xmlns:m="http://schemas.openxmlformats.org/officeDocument/2006/math">
                              <m:sSub>
                                <m:sSubPr>
                                  <m:ctrlPr>
                                    <a:rPr lang="el-GR" sz="1200" i="1">
                                      <a:effectLst/>
                                      <a:latin typeface="Cambria Math"/>
                                    </a:rPr>
                                  </m:ctrlPr>
                                </m:sSubPr>
                                <m:e>
                                  <m:r>
                                    <a:rPr lang="en-US" sz="1200">
                                      <a:effectLst/>
                                      <a:latin typeface="Cambria Math"/>
                                    </a:rPr>
                                    <m:t>𝐾</m:t>
                                  </m:r>
                                </m:e>
                                <m:sub>
                                  <m:r>
                                    <a:rPr lang="en-US" sz="1200">
                                      <a:effectLst/>
                                      <a:latin typeface="Cambria Math"/>
                                    </a:rPr>
                                    <m:t>2</m:t>
                                  </m:r>
                                </m:sub>
                              </m:sSub>
                              <m:r>
                                <a:rPr lang="en-US" sz="1200">
                                  <a:effectLst/>
                                  <a:latin typeface="Cambria Math"/>
                                </a:rPr>
                                <m:t>: </m:t>
                              </m:r>
                            </m:oMath>
                          </a14:m>
                          <a:r>
                            <a:rPr lang="en-US" sz="1200">
                              <a:effectLst/>
                            </a:rPr>
                            <a:t>Π2</a:t>
                          </a:r>
                          <a:r>
                            <a:rPr lang="el-GR" sz="1200">
                              <a:effectLst/>
                            </a:rPr>
                            <a:t> = 25</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14:m>
                            <m:oMath xmlns:m="http://schemas.openxmlformats.org/officeDocument/2006/math">
                              <m:sSub>
                                <m:sSubPr>
                                  <m:ctrlPr>
                                    <a:rPr lang="el-GR" sz="1200" i="1">
                                      <a:effectLst/>
                                      <a:latin typeface="Cambria Math"/>
                                    </a:rPr>
                                  </m:ctrlPr>
                                </m:sSubPr>
                                <m:e>
                                  <m:r>
                                    <a:rPr lang="en-US" sz="1200">
                                      <a:effectLst/>
                                      <a:latin typeface="Cambria Math"/>
                                    </a:rPr>
                                    <m:t>𝐾</m:t>
                                  </m:r>
                                </m:e>
                                <m:sub>
                                  <m:r>
                                    <a:rPr lang="en-US" sz="1200">
                                      <a:effectLst/>
                                      <a:latin typeface="Cambria Math"/>
                                    </a:rPr>
                                    <m:t>3</m:t>
                                  </m:r>
                                </m:sub>
                              </m:sSub>
                              <m:r>
                                <a:rPr lang="en-US" sz="1200">
                                  <a:effectLst/>
                                  <a:latin typeface="Cambria Math"/>
                                </a:rPr>
                                <m:t>: </m:t>
                              </m:r>
                            </m:oMath>
                          </a14:m>
                          <a:r>
                            <a:rPr lang="en-US" sz="1200">
                              <a:effectLst/>
                            </a:rPr>
                            <a:t>Π3</a:t>
                          </a:r>
                          <a:r>
                            <a:rPr lang="el-GR" sz="1200">
                              <a:effectLst/>
                            </a:rPr>
                            <a:t> = 20</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14:m>
                            <m:oMath xmlns:m="http://schemas.openxmlformats.org/officeDocument/2006/math">
                              <m:sSub>
                                <m:sSubPr>
                                  <m:ctrlPr>
                                    <a:rPr lang="el-GR" sz="1200" i="1">
                                      <a:effectLst/>
                                      <a:latin typeface="Cambria Math"/>
                                    </a:rPr>
                                  </m:ctrlPr>
                                </m:sSubPr>
                                <m:e>
                                  <m:r>
                                    <a:rPr lang="el-GR" sz="1200">
                                      <a:effectLst/>
                                      <a:latin typeface="Cambria Math"/>
                                    </a:rPr>
                                    <m:t>𝑅</m:t>
                                  </m:r>
                                </m:e>
                                <m:sub>
                                  <m:r>
                                    <a:rPr lang="el-GR" sz="1200">
                                      <a:effectLst/>
                                      <a:latin typeface="Cambria Math"/>
                                    </a:rPr>
                                    <m:t>1</m:t>
                                  </m:r>
                                </m:sub>
                              </m:sSub>
                              <m:r>
                                <a:rPr lang="en-US" sz="1200">
                                  <a:effectLst/>
                                  <a:latin typeface="Cambria Math"/>
                                </a:rPr>
                                <m:t>: </m:t>
                              </m:r>
                            </m:oMath>
                          </a14:m>
                          <a:r>
                            <a:rPr lang="el-GR" sz="1200">
                              <a:effectLst/>
                            </a:rPr>
                            <a:t>Α = 20</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4</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8</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5</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14:m>
                            <m:oMath xmlns:m="http://schemas.openxmlformats.org/officeDocument/2006/math">
                              <m:sSub>
                                <m:sSubPr>
                                  <m:ctrlPr>
                                    <a:rPr lang="el-GR" sz="1200" i="1">
                                      <a:effectLst/>
                                      <a:latin typeface="Cambria Math"/>
                                    </a:rPr>
                                  </m:ctrlPr>
                                </m:sSubPr>
                                <m:e>
                                  <m:r>
                                    <a:rPr lang="en-US" sz="1200">
                                      <a:effectLst/>
                                      <a:latin typeface="Cambria Math"/>
                                    </a:rPr>
                                    <m:t>𝑅</m:t>
                                  </m:r>
                                </m:e>
                                <m:sub>
                                  <m:r>
                                    <a:rPr lang="en-US" sz="1200">
                                      <a:effectLst/>
                                      <a:latin typeface="Cambria Math"/>
                                    </a:rPr>
                                    <m:t>2</m:t>
                                  </m:r>
                                </m:sub>
                              </m:sSub>
                              <m:r>
                                <a:rPr lang="en-US" sz="1200">
                                  <a:effectLst/>
                                  <a:latin typeface="Cambria Math"/>
                                </a:rPr>
                                <m:t>: </m:t>
                              </m:r>
                            </m:oMath>
                          </a14:m>
                          <a:r>
                            <a:rPr lang="en-US" sz="1200">
                              <a:effectLst/>
                            </a:rPr>
                            <a:t>Β</a:t>
                          </a:r>
                          <a:r>
                            <a:rPr lang="el-GR" sz="1200">
                              <a:effectLst/>
                            </a:rPr>
                            <a:t> = 30</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6</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4</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3</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14:m>
                            <m:oMath xmlns:m="http://schemas.openxmlformats.org/officeDocument/2006/math">
                              <m:sSub>
                                <m:sSubPr>
                                  <m:ctrlPr>
                                    <a:rPr lang="el-GR" sz="1200" i="1">
                                      <a:effectLst/>
                                      <a:latin typeface="Cambria Math"/>
                                    </a:rPr>
                                  </m:ctrlPr>
                                </m:sSubPr>
                                <m:e>
                                  <m:r>
                                    <a:rPr lang="en-US" sz="1200">
                                      <a:effectLst/>
                                      <a:latin typeface="Cambria Math"/>
                                    </a:rPr>
                                    <m:t>𝑅</m:t>
                                  </m:r>
                                </m:e>
                                <m:sub>
                                  <m:r>
                                    <a:rPr lang="en-US" sz="1200">
                                      <a:effectLst/>
                                      <a:latin typeface="Cambria Math"/>
                                    </a:rPr>
                                    <m:t>3</m:t>
                                  </m:r>
                                </m:sub>
                              </m:sSub>
                              <m:r>
                                <a:rPr lang="en-US" sz="1200">
                                  <a:effectLst/>
                                  <a:latin typeface="Cambria Math"/>
                                </a:rPr>
                                <m:t>: </m:t>
                              </m:r>
                            </m:oMath>
                          </a14:m>
                          <a:r>
                            <a:rPr lang="en-US" sz="1200">
                              <a:effectLst/>
                            </a:rPr>
                            <a:t>Γ</a:t>
                          </a:r>
                          <a:r>
                            <a:rPr lang="el-GR" sz="1200">
                              <a:effectLst/>
                            </a:rPr>
                            <a:t> = 25</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7</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6</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dirty="0">
                              <a:effectLst/>
                            </a:rPr>
                            <a:t>4</a:t>
                          </a:r>
                          <a:endParaRPr lang="el-GR" sz="1100" dirty="0">
                            <a:effectLst/>
                            <a:latin typeface="Calibri"/>
                            <a:ea typeface="Calibri"/>
                            <a:cs typeface="Times New Roman"/>
                          </a:endParaRPr>
                        </a:p>
                      </a:txBody>
                      <a:tcPr marL="68580" marR="68580" marT="0" marB="0"/>
                    </a:tc>
                  </a:tr>
                </a:tbl>
              </a:graphicData>
            </a:graphic>
          </p:graphicFrame>
        </mc:Choice>
        <mc:Fallback>
          <p:graphicFrame>
            <p:nvGraphicFramePr>
              <p:cNvPr id="16" name="Θέση περιεχομένου 15"/>
              <p:cNvGraphicFramePr>
                <a:graphicFrameLocks noGrp="1"/>
              </p:cNvGraphicFramePr>
              <p:nvPr>
                <p:ph idx="1"/>
                <p:extLst>
                  <p:ext uri="{D42A27DB-BD31-4B8C-83A1-F6EECF244321}">
                    <p14:modId xmlns:p14="http://schemas.microsoft.com/office/powerpoint/2010/main" xmlns="" xmlns:a14="http://schemas.microsoft.com/office/drawing/2010/main" val="984184597"/>
                  </p:ext>
                </p:extLst>
              </p:nvPr>
            </p:nvGraphicFramePr>
            <p:xfrm>
              <a:off x="1434217" y="2636912"/>
              <a:ext cx="5411470" cy="1097280"/>
            </p:xfrm>
            <a:graphic>
              <a:graphicData uri="http://schemas.openxmlformats.org/drawingml/2006/table">
                <a:tbl>
                  <a:tblPr firstRow="1" firstCol="1" bandRow="1">
                    <a:tableStyleId>{5C22544A-7EE6-4342-B048-85BDC9FD1C3A}</a:tableStyleId>
                  </a:tblPr>
                  <a:tblGrid>
                    <a:gridCol w="1351915"/>
                    <a:gridCol w="1353185"/>
                    <a:gridCol w="1353185"/>
                    <a:gridCol w="1353185"/>
                  </a:tblGrid>
                  <a:tr h="196850">
                    <a:tc>
                      <a:txBody>
                        <a:bodyPr/>
                        <a:lstStyle/>
                        <a:p>
                          <a:pPr>
                            <a:lnSpc>
                              <a:spcPct val="115000"/>
                            </a:lnSpc>
                            <a:spcAft>
                              <a:spcPts val="0"/>
                            </a:spcAft>
                          </a:pPr>
                          <a:r>
                            <a:rPr lang="el-GR" sz="1100">
                              <a:effectLst/>
                            </a:rPr>
                            <a:t> </a:t>
                          </a:r>
                          <a:endParaRPr lang="el-GR" sz="1100">
                            <a:effectLst/>
                            <a:latin typeface="Calibri"/>
                            <a:ea typeface="Calibri"/>
                            <a:cs typeface="Times New Roman"/>
                          </a:endParaRPr>
                        </a:p>
                      </a:txBody>
                      <a:tcPr marL="68580" marR="68580" marT="0" marB="0"/>
                    </a:tc>
                    <a:tc>
                      <a:txBody>
                        <a:bodyPr/>
                        <a:lstStyle/>
                        <a:p>
                          <a:endParaRPr lang="el-GR"/>
                        </a:p>
                      </a:txBody>
                      <a:tcPr marL="68580" marR="68580" marT="0" marB="0">
                        <a:blipFill rotWithShape="1">
                          <a:blip r:embed="rId2"/>
                          <a:stretch>
                            <a:fillRect l="-100000" t="-18750" r="-200000" b="-350000"/>
                          </a:stretch>
                        </a:blipFill>
                      </a:tcPr>
                    </a:tc>
                    <a:tc>
                      <a:txBody>
                        <a:bodyPr/>
                        <a:lstStyle/>
                        <a:p>
                          <a:endParaRPr lang="el-GR"/>
                        </a:p>
                      </a:txBody>
                      <a:tcPr marL="68580" marR="68580" marT="0" marB="0">
                        <a:blipFill rotWithShape="1">
                          <a:blip r:embed="rId2"/>
                          <a:stretch>
                            <a:fillRect l="-200000" t="-18750" r="-100000" b="-350000"/>
                          </a:stretch>
                        </a:blipFill>
                      </a:tcPr>
                    </a:tc>
                    <a:tc>
                      <a:txBody>
                        <a:bodyPr/>
                        <a:lstStyle/>
                        <a:p>
                          <a:endParaRPr lang="el-GR"/>
                        </a:p>
                      </a:txBody>
                      <a:tcPr marL="68580" marR="68580" marT="0" marB="0">
                        <a:blipFill rotWithShape="1">
                          <a:blip r:embed="rId2"/>
                          <a:stretch>
                            <a:fillRect l="-300000" t="-18750" b="-350000"/>
                          </a:stretch>
                        </a:blipFill>
                      </a:tcPr>
                    </a:tc>
                  </a:tr>
                  <a:tr h="196850">
                    <a:tc>
                      <a:txBody>
                        <a:bodyPr/>
                        <a:lstStyle/>
                        <a:p>
                          <a:endParaRPr lang="el-GR"/>
                        </a:p>
                      </a:txBody>
                      <a:tcPr marL="68580" marR="68580" marT="0" marB="0">
                        <a:blipFill rotWithShape="1">
                          <a:blip r:embed="rId2"/>
                          <a:stretch>
                            <a:fillRect t="-115152" r="-300000" b="-239394"/>
                          </a:stretch>
                        </a:blipFill>
                      </a:tcPr>
                    </a:tc>
                    <a:tc>
                      <a:txBody>
                        <a:bodyPr/>
                        <a:lstStyle/>
                        <a:p>
                          <a:pPr>
                            <a:lnSpc>
                              <a:spcPct val="115000"/>
                            </a:lnSpc>
                            <a:spcAft>
                              <a:spcPts val="0"/>
                            </a:spcAft>
                          </a:pPr>
                          <a:r>
                            <a:rPr lang="en-US" sz="1200">
                              <a:effectLst/>
                            </a:rPr>
                            <a:t>4</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8</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5</a:t>
                          </a:r>
                          <a:endParaRPr lang="el-GR" sz="1100">
                            <a:effectLst/>
                            <a:latin typeface="Calibri"/>
                            <a:ea typeface="Calibri"/>
                            <a:cs typeface="Times New Roman"/>
                          </a:endParaRPr>
                        </a:p>
                      </a:txBody>
                      <a:tcPr marL="68580" marR="68580" marT="0" marB="0"/>
                    </a:tc>
                  </a:tr>
                  <a:tr h="196850">
                    <a:tc>
                      <a:txBody>
                        <a:bodyPr/>
                        <a:lstStyle/>
                        <a:p>
                          <a:endParaRPr lang="el-GR"/>
                        </a:p>
                      </a:txBody>
                      <a:tcPr marL="68580" marR="68580" marT="0" marB="0">
                        <a:blipFill rotWithShape="1">
                          <a:blip r:embed="rId2"/>
                          <a:stretch>
                            <a:fillRect t="-221875" r="-300000" b="-146875"/>
                          </a:stretch>
                        </a:blipFill>
                      </a:tcPr>
                    </a:tc>
                    <a:tc>
                      <a:txBody>
                        <a:bodyPr/>
                        <a:lstStyle/>
                        <a:p>
                          <a:pPr>
                            <a:lnSpc>
                              <a:spcPct val="115000"/>
                            </a:lnSpc>
                            <a:spcAft>
                              <a:spcPts val="0"/>
                            </a:spcAft>
                          </a:pPr>
                          <a:r>
                            <a:rPr lang="en-US" sz="1200">
                              <a:effectLst/>
                            </a:rPr>
                            <a:t>6</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4</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3</a:t>
                          </a:r>
                          <a:endParaRPr lang="el-GR" sz="1100">
                            <a:effectLst/>
                            <a:latin typeface="Calibri"/>
                            <a:ea typeface="Calibri"/>
                            <a:cs typeface="Times New Roman"/>
                          </a:endParaRPr>
                        </a:p>
                      </a:txBody>
                      <a:tcPr marL="68580" marR="68580" marT="0" marB="0"/>
                    </a:tc>
                  </a:tr>
                  <a:tr h="196850">
                    <a:tc>
                      <a:txBody>
                        <a:bodyPr/>
                        <a:lstStyle/>
                        <a:p>
                          <a:endParaRPr lang="el-GR"/>
                        </a:p>
                      </a:txBody>
                      <a:tcPr marL="68580" marR="68580" marT="0" marB="0">
                        <a:blipFill rotWithShape="1">
                          <a:blip r:embed="rId2"/>
                          <a:stretch>
                            <a:fillRect t="-321875" r="-300000" b="-46875"/>
                          </a:stretch>
                        </a:blipFill>
                      </a:tcPr>
                    </a:tc>
                    <a:tc>
                      <a:txBody>
                        <a:bodyPr/>
                        <a:lstStyle/>
                        <a:p>
                          <a:pPr>
                            <a:lnSpc>
                              <a:spcPct val="115000"/>
                            </a:lnSpc>
                            <a:spcAft>
                              <a:spcPts val="0"/>
                            </a:spcAft>
                          </a:pPr>
                          <a:r>
                            <a:rPr lang="en-US" sz="1200">
                              <a:effectLst/>
                            </a:rPr>
                            <a:t>7</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6</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dirty="0">
                              <a:effectLst/>
                            </a:rPr>
                            <a:t>4</a:t>
                          </a:r>
                          <a:endParaRPr lang="el-GR" sz="1100" dirty="0">
                            <a:effectLst/>
                            <a:latin typeface="Calibri"/>
                            <a:ea typeface="Calibri"/>
                            <a:cs typeface="Times New Roman"/>
                          </a:endParaRPr>
                        </a:p>
                      </a:txBody>
                      <a:tcPr marL="68580" marR="68580" marT="0" marB="0"/>
                    </a:tc>
                  </a:tr>
                </a:tbl>
              </a:graphicData>
            </a:graphic>
          </p:graphicFrame>
        </mc:Fallback>
      </mc:AlternateContent>
      <p:sp>
        <p:nvSpPr>
          <p:cNvPr id="17" name="Rectangle 5"/>
          <p:cNvSpPr>
            <a:spLocks noChangeArrowheads="1"/>
          </p:cNvSpPr>
          <p:nvPr/>
        </p:nvSpPr>
        <p:spPr bwMode="auto">
          <a:xfrm>
            <a:off x="323528" y="1401252"/>
            <a:ext cx="7632848" cy="12003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l-GR" altLang="el-GR" b="0" i="0" u="sng" strike="noStrike" cap="none" normalizeH="0" baseline="0" dirty="0" smtClean="0">
                <a:ln>
                  <a:noFill/>
                </a:ln>
                <a:solidFill>
                  <a:schemeClr val="tx1"/>
                </a:solidFill>
                <a:effectLst/>
                <a:latin typeface="Calibri" pitchFamily="34" charset="0"/>
                <a:ea typeface="Calibri" pitchFamily="34" charset="0"/>
                <a:cs typeface="Times New Roman" pitchFamily="18" charset="0"/>
              </a:rPr>
              <a:t>Άσκηση</a:t>
            </a:r>
            <a:r>
              <a:rPr lang="en-US" altLang="el-GR" dirty="0">
                <a:latin typeface="Calibri" pitchFamily="34" charset="0"/>
                <a:ea typeface="Calibri" pitchFamily="34" charset="0"/>
                <a:cs typeface="Times New Roman" pitchFamily="18" charset="0"/>
              </a:rPr>
              <a:t>:</a:t>
            </a:r>
            <a:endParaRPr kumimoji="0" lang="en-US" altLang="el-GR"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lang="el-GR" altLang="el-GR" dirty="0" smtClean="0">
                <a:latin typeface="Calibri" pitchFamily="34" charset="0"/>
                <a:ea typeface="Calibri" pitchFamily="34" charset="0"/>
                <a:cs typeface="Times New Roman" pitchFamily="18" charset="0"/>
              </a:rPr>
              <a:t>Πίνακας Μεταφοράς: </a:t>
            </a:r>
            <a:r>
              <a:rPr kumimoji="0" lang="el-GR" altLang="el-GR"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Προσφορά (γραμμή) </a:t>
            </a:r>
            <a:r>
              <a:rPr kumimoji="0" lang="en-US" altLang="el-GR"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x </a:t>
            </a:r>
            <a:r>
              <a:rPr kumimoji="0" lang="el-GR" altLang="el-GR"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Ζήτηση (στήλη), Κόστη (κουτάκι)</a:t>
            </a:r>
            <a:endParaRPr kumimoji="0" lang="el-GR" altLang="el-GR"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l-GR" altLang="el-GR"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Προσφορά: Α, Β, Γ</a:t>
            </a:r>
            <a:endParaRPr kumimoji="0" lang="el-GR" altLang="el-GR"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l-GR" altLang="el-GR"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Ζήτηση: Π1, Π2, Π3</a:t>
            </a:r>
            <a:endParaRPr kumimoji="0" lang="el-GR" altLang="el-GR" b="0" i="0" u="none" strike="noStrike" cap="none" normalizeH="0" baseline="0" dirty="0" smtClean="0">
              <a:ln>
                <a:noFill/>
              </a:ln>
              <a:solidFill>
                <a:schemeClr val="tx1"/>
              </a:solidFill>
              <a:effectLst/>
              <a:latin typeface="Arial" pitchFamily="34" charset="0"/>
              <a:cs typeface="Arial" pitchFamily="34" charset="0"/>
            </a:endParaRPr>
          </a:p>
        </p:txBody>
      </p:sp>
      <p:sp>
        <p:nvSpPr>
          <p:cNvPr id="18" name="Ορθογώνιο 17"/>
          <p:cNvSpPr/>
          <p:nvPr/>
        </p:nvSpPr>
        <p:spPr>
          <a:xfrm>
            <a:off x="463181" y="3786190"/>
            <a:ext cx="4572000" cy="1477328"/>
          </a:xfrm>
          <a:prstGeom prst="rect">
            <a:avLst/>
          </a:prstGeom>
        </p:spPr>
        <p:txBody>
          <a:bodyPr wrap="square">
            <a:spAutoFit/>
          </a:bodyPr>
          <a:lstStyle/>
          <a:p>
            <a:r>
              <a:rPr lang="el-GR" u="sng" dirty="0">
                <a:latin typeface="Calibri" panose="020F0502020204030204" pitchFamily="34" charset="0"/>
                <a:cs typeface="Calibri" panose="020F0502020204030204" pitchFamily="34" charset="0"/>
              </a:rPr>
              <a:t>Βήματα Επίλυσης:</a:t>
            </a:r>
            <a:endParaRPr lang="el-GR" dirty="0">
              <a:latin typeface="Calibri" panose="020F0502020204030204" pitchFamily="34" charset="0"/>
              <a:cs typeface="Calibri" panose="020F0502020204030204" pitchFamily="34" charset="0"/>
            </a:endParaRPr>
          </a:p>
          <a:p>
            <a:r>
              <a:rPr lang="el-GR" dirty="0">
                <a:latin typeface="Calibri" panose="020F0502020204030204" pitchFamily="34" charset="0"/>
                <a:cs typeface="Calibri" panose="020F0502020204030204" pitchFamily="34" charset="0"/>
              </a:rPr>
              <a:t>1. Ορισμός μεταβλητών:</a:t>
            </a:r>
            <a:br>
              <a:rPr lang="el-GR" dirty="0">
                <a:latin typeface="Calibri" panose="020F0502020204030204" pitchFamily="34" charset="0"/>
                <a:cs typeface="Calibri" panose="020F0502020204030204" pitchFamily="34" charset="0"/>
              </a:rPr>
            </a:br>
            <a:r>
              <a:rPr lang="el-GR" dirty="0">
                <a:latin typeface="Calibri" panose="020F0502020204030204" pitchFamily="34" charset="0"/>
                <a:cs typeface="Calibri" panose="020F0502020204030204" pitchFamily="34" charset="0"/>
              </a:rPr>
              <a:t>- </a:t>
            </a:r>
            <a:r>
              <a:rPr lang="el-GR" dirty="0" err="1">
                <a:latin typeface="Calibri" panose="020F0502020204030204" pitchFamily="34" charset="0"/>
                <a:cs typeface="Calibri" panose="020F0502020204030204" pitchFamily="34" charset="0"/>
              </a:rPr>
              <a:t>Rᵢ</a:t>
            </a:r>
            <a:r>
              <a:rPr lang="el-GR" dirty="0">
                <a:latin typeface="Calibri" panose="020F0502020204030204" pitchFamily="34" charset="0"/>
                <a:cs typeface="Calibri" panose="020F0502020204030204" pitchFamily="34" charset="0"/>
              </a:rPr>
              <a:t>: για τη γραμμή i (προέλευση)</a:t>
            </a:r>
            <a:br>
              <a:rPr lang="el-GR" dirty="0">
                <a:latin typeface="Calibri" panose="020F0502020204030204" pitchFamily="34" charset="0"/>
                <a:cs typeface="Calibri" panose="020F0502020204030204" pitchFamily="34" charset="0"/>
              </a:rPr>
            </a:br>
            <a:r>
              <a:rPr lang="el-GR" dirty="0">
                <a:latin typeface="Calibri" panose="020F0502020204030204" pitchFamily="34" charset="0"/>
                <a:cs typeface="Calibri" panose="020F0502020204030204" pitchFamily="34" charset="0"/>
              </a:rPr>
              <a:t>- </a:t>
            </a:r>
            <a:r>
              <a:rPr lang="el-GR" dirty="0" err="1">
                <a:latin typeface="Calibri" panose="020F0502020204030204" pitchFamily="34" charset="0"/>
                <a:cs typeface="Calibri" panose="020F0502020204030204" pitchFamily="34" charset="0"/>
              </a:rPr>
              <a:t>Kⱼ</a:t>
            </a:r>
            <a:r>
              <a:rPr lang="el-GR" dirty="0">
                <a:latin typeface="Calibri" panose="020F0502020204030204" pitchFamily="34" charset="0"/>
                <a:cs typeface="Calibri" panose="020F0502020204030204" pitchFamily="34" charset="0"/>
              </a:rPr>
              <a:t>: για τη στήλη j (προορισμός)</a:t>
            </a:r>
            <a:br>
              <a:rPr lang="el-GR" dirty="0">
                <a:latin typeface="Calibri" panose="020F0502020204030204" pitchFamily="34" charset="0"/>
                <a:cs typeface="Calibri" panose="020F0502020204030204" pitchFamily="34" charset="0"/>
              </a:rPr>
            </a:br>
            <a:r>
              <a:rPr lang="el-GR" dirty="0">
                <a:latin typeface="Calibri" panose="020F0502020204030204" pitchFamily="34" charset="0"/>
                <a:cs typeface="Calibri" panose="020F0502020204030204" pitchFamily="34" charset="0"/>
              </a:rPr>
              <a:t>- </a:t>
            </a:r>
            <a:r>
              <a:rPr lang="el-GR" dirty="0" err="1">
                <a:latin typeface="Calibri" panose="020F0502020204030204" pitchFamily="34" charset="0"/>
                <a:cs typeface="Calibri" panose="020F0502020204030204" pitchFamily="34" charset="0"/>
              </a:rPr>
              <a:t>Cᵢⱼ</a:t>
            </a:r>
            <a:r>
              <a:rPr lang="el-GR" dirty="0">
                <a:latin typeface="Calibri" panose="020F0502020204030204" pitchFamily="34" charset="0"/>
                <a:cs typeface="Calibri" panose="020F0502020204030204" pitchFamily="34" charset="0"/>
              </a:rPr>
              <a:t>: κόστος μεταφοράς από i σε j</a:t>
            </a:r>
          </a:p>
        </p:txBody>
      </p:sp>
      <p:graphicFrame>
        <p:nvGraphicFramePr>
          <p:cNvPr id="19" name="Πίνακας 18"/>
          <p:cNvGraphicFramePr>
            <a:graphicFrameLocks noGrp="1"/>
          </p:cNvGraphicFramePr>
          <p:nvPr>
            <p:extLst>
              <p:ext uri="{D42A27DB-BD31-4B8C-83A1-F6EECF244321}">
                <p14:modId xmlns:p14="http://schemas.microsoft.com/office/powerpoint/2010/main" xmlns="" val="2522917878"/>
              </p:ext>
            </p:extLst>
          </p:nvPr>
        </p:nvGraphicFramePr>
        <p:xfrm>
          <a:off x="1396752" y="5733256"/>
          <a:ext cx="5486400" cy="841248"/>
        </p:xfrm>
        <a:graphic>
          <a:graphicData uri="http://schemas.openxmlformats.org/drawingml/2006/table">
            <a:tbl>
              <a:tblPr firstRow="1" firstCol="1" bandRow="1">
                <a:tableStyleId>{5C22544A-7EE6-4342-B048-85BDC9FD1C3A}</a:tableStyleId>
              </a:tblPr>
              <a:tblGrid>
                <a:gridCol w="1371600"/>
                <a:gridCol w="1371600"/>
                <a:gridCol w="1371600"/>
                <a:gridCol w="1371600"/>
              </a:tblGrid>
              <a:tr h="0">
                <a:tc>
                  <a:txBody>
                    <a:bodyPr/>
                    <a:lstStyle/>
                    <a:p>
                      <a:pPr>
                        <a:lnSpc>
                          <a:spcPct val="115000"/>
                        </a:lnSpc>
                        <a:spcAft>
                          <a:spcPts val="0"/>
                        </a:spcAft>
                      </a:pPr>
                      <a:r>
                        <a:rPr lang="el-GR" sz="1200" dirty="0">
                          <a:effectLst/>
                        </a:rPr>
                        <a:t> </a:t>
                      </a:r>
                      <a:endParaRPr lang="el-GR"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Π1</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Π2</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Π3</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US" sz="1200">
                          <a:effectLst/>
                        </a:rPr>
                        <a:t>Α</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dirty="0">
                          <a:effectLst/>
                        </a:rPr>
                        <a:t>20</a:t>
                      </a:r>
                      <a:endParaRPr lang="el-GR"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US" sz="1200">
                          <a:effectLst/>
                        </a:rPr>
                        <a:t>Β</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dirty="0">
                          <a:effectLst/>
                        </a:rPr>
                        <a:t>10</a:t>
                      </a:r>
                      <a:endParaRPr lang="el-GR"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20</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US" sz="1200">
                          <a:effectLst/>
                        </a:rPr>
                        <a:t>Γ</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5</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dirty="0">
                          <a:effectLst/>
                        </a:rPr>
                        <a:t>20</a:t>
                      </a:r>
                      <a:endParaRPr lang="el-GR" sz="1100" dirty="0">
                        <a:effectLst/>
                        <a:latin typeface="Calibri"/>
                        <a:ea typeface="Calibri"/>
                        <a:cs typeface="Times New Roman"/>
                      </a:endParaRPr>
                    </a:p>
                  </a:txBody>
                  <a:tcPr marL="68580" marR="68580" marT="0" marB="0"/>
                </a:tc>
              </a:tr>
            </a:tbl>
          </a:graphicData>
        </a:graphic>
      </p:graphicFrame>
      <p:sp>
        <p:nvSpPr>
          <p:cNvPr id="20" name="Rectangle 6"/>
          <p:cNvSpPr>
            <a:spLocks noChangeArrowheads="1"/>
          </p:cNvSpPr>
          <p:nvPr/>
        </p:nvSpPr>
        <p:spPr bwMode="auto">
          <a:xfrm>
            <a:off x="498326" y="5229200"/>
            <a:ext cx="7458050"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l-GR" altLang="el-GR"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2. Αρχική βασική εφικτή λύση με Βορειοδυτική Γωνία:</a:t>
            </a:r>
            <a:endParaRPr kumimoji="0" lang="el-GR" altLang="el-GR"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3328120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title"/>
          </p:nvPr>
        </p:nvSpPr>
        <p:spPr>
          <a:xfrm>
            <a:off x="457200" y="320040"/>
            <a:ext cx="7239000" cy="1020728"/>
          </a:xfrm>
        </p:spPr>
        <p:txBody>
          <a:bodyPr>
            <a:normAutofit/>
          </a:bodyPr>
          <a:lstStyle/>
          <a:p>
            <a:pPr algn="ctr"/>
            <a:r>
              <a:rPr lang="el-GR" sz="3000" dirty="0"/>
              <a:t>ΕΠΙΛΥΣΗ ΜΕ ΕΙΔΙΚΟΥΣ ΑΛΓΟΡΙΘΜΟΥΣ Ή ΓΕΝΙΚΕΣ ΜΕΘΟΔΟΥΣ</a:t>
            </a:r>
            <a:r>
              <a:rPr lang="en-US" sz="3000" dirty="0"/>
              <a:t> </a:t>
            </a:r>
            <a:r>
              <a:rPr lang="en-US" sz="3000" dirty="0" smtClean="0"/>
              <a:t>(3/6)</a:t>
            </a:r>
            <a:endParaRPr lang="el-GR" sz="3000" dirty="0"/>
          </a:p>
        </p:txBody>
      </p:sp>
      <p:sp>
        <p:nvSpPr>
          <p:cNvPr id="3" name="Θέση περιεχομένου 2"/>
          <p:cNvSpPr>
            <a:spLocks noGrp="1"/>
          </p:cNvSpPr>
          <p:nvPr>
            <p:ph idx="1"/>
          </p:nvPr>
        </p:nvSpPr>
        <p:spPr>
          <a:xfrm>
            <a:off x="457200" y="1484784"/>
            <a:ext cx="7239000" cy="4970952"/>
          </a:xfrm>
        </p:spPr>
        <p:txBody>
          <a:bodyPr/>
          <a:lstStyle/>
          <a:p>
            <a:pPr marL="0" indent="0">
              <a:buNone/>
            </a:pPr>
            <a:r>
              <a:rPr lang="el-GR" sz="1800" dirty="0">
                <a:latin typeface="Calibri" panose="020F0502020204030204" pitchFamily="34" charset="0"/>
                <a:cs typeface="Calibri" panose="020F0502020204030204" pitchFamily="34" charset="0"/>
              </a:rPr>
              <a:t>3. Υπολογισμός μεταβλητών R και K:</a:t>
            </a:r>
            <a:br>
              <a:rPr lang="el-GR" sz="1800" dirty="0">
                <a:latin typeface="Calibri" panose="020F0502020204030204" pitchFamily="34" charset="0"/>
                <a:cs typeface="Calibri" panose="020F0502020204030204" pitchFamily="34" charset="0"/>
              </a:rPr>
            </a:br>
            <a:r>
              <a:rPr lang="el-GR" sz="1800" dirty="0">
                <a:latin typeface="Calibri" panose="020F0502020204030204" pitchFamily="34" charset="0"/>
                <a:cs typeface="Calibri" panose="020F0502020204030204" pitchFamily="34" charset="0"/>
              </a:rPr>
              <a:t>Θέτουμε R₁ = 0</a:t>
            </a:r>
            <a:br>
              <a:rPr lang="el-GR" sz="1800" dirty="0">
                <a:latin typeface="Calibri" panose="020F0502020204030204" pitchFamily="34" charset="0"/>
                <a:cs typeface="Calibri" panose="020F0502020204030204" pitchFamily="34" charset="0"/>
              </a:rPr>
            </a:br>
            <a:r>
              <a:rPr lang="el-GR" sz="1800" dirty="0">
                <a:latin typeface="Calibri" panose="020F0502020204030204" pitchFamily="34" charset="0"/>
                <a:cs typeface="Calibri" panose="020F0502020204030204" pitchFamily="34" charset="0"/>
              </a:rPr>
              <a:t>Από τα βασικά κελιά έχουμε:</a:t>
            </a:r>
            <a:br>
              <a:rPr lang="el-GR" sz="1800" dirty="0">
                <a:latin typeface="Calibri" panose="020F0502020204030204" pitchFamily="34" charset="0"/>
                <a:cs typeface="Calibri" panose="020F0502020204030204" pitchFamily="34" charset="0"/>
              </a:rPr>
            </a:br>
            <a:r>
              <a:rPr lang="el-GR" sz="1800" dirty="0">
                <a:latin typeface="Calibri" panose="020F0502020204030204" pitchFamily="34" charset="0"/>
                <a:cs typeface="Calibri" panose="020F0502020204030204" pitchFamily="34" charset="0"/>
              </a:rPr>
              <a:t>- R₁ + K₁ = 4 ⇒ K₁ = 4</a:t>
            </a:r>
            <a:br>
              <a:rPr lang="el-GR" sz="1800" dirty="0">
                <a:latin typeface="Calibri" panose="020F0502020204030204" pitchFamily="34" charset="0"/>
                <a:cs typeface="Calibri" panose="020F0502020204030204" pitchFamily="34" charset="0"/>
              </a:rPr>
            </a:br>
            <a:r>
              <a:rPr lang="el-GR" sz="1800" dirty="0">
                <a:latin typeface="Calibri" panose="020F0502020204030204" pitchFamily="34" charset="0"/>
                <a:cs typeface="Calibri" panose="020F0502020204030204" pitchFamily="34" charset="0"/>
              </a:rPr>
              <a:t>- R₂ + K₁ = 6 ⇒ R₂ = 2</a:t>
            </a:r>
            <a:br>
              <a:rPr lang="el-GR" sz="1800" dirty="0">
                <a:latin typeface="Calibri" panose="020F0502020204030204" pitchFamily="34" charset="0"/>
                <a:cs typeface="Calibri" panose="020F0502020204030204" pitchFamily="34" charset="0"/>
              </a:rPr>
            </a:br>
            <a:r>
              <a:rPr lang="el-GR" sz="1800" dirty="0">
                <a:latin typeface="Calibri" panose="020F0502020204030204" pitchFamily="34" charset="0"/>
                <a:cs typeface="Calibri" panose="020F0502020204030204" pitchFamily="34" charset="0"/>
              </a:rPr>
              <a:t>- R₂ + K₂ = 4 ⇒ K₂ = 2</a:t>
            </a:r>
            <a:br>
              <a:rPr lang="el-GR" sz="1800" dirty="0">
                <a:latin typeface="Calibri" panose="020F0502020204030204" pitchFamily="34" charset="0"/>
                <a:cs typeface="Calibri" panose="020F0502020204030204" pitchFamily="34" charset="0"/>
              </a:rPr>
            </a:br>
            <a:r>
              <a:rPr lang="el-GR" sz="1800" dirty="0">
                <a:latin typeface="Calibri" panose="020F0502020204030204" pitchFamily="34" charset="0"/>
                <a:cs typeface="Calibri" panose="020F0502020204030204" pitchFamily="34" charset="0"/>
              </a:rPr>
              <a:t>- R₃ + K₂ = 6 ⇒ R₃ = 4</a:t>
            </a:r>
            <a:br>
              <a:rPr lang="el-GR" sz="1800" dirty="0">
                <a:latin typeface="Calibri" panose="020F0502020204030204" pitchFamily="34" charset="0"/>
                <a:cs typeface="Calibri" panose="020F0502020204030204" pitchFamily="34" charset="0"/>
              </a:rPr>
            </a:br>
            <a:r>
              <a:rPr lang="el-GR" sz="1800" dirty="0">
                <a:latin typeface="Calibri" panose="020F0502020204030204" pitchFamily="34" charset="0"/>
                <a:cs typeface="Calibri" panose="020F0502020204030204" pitchFamily="34" charset="0"/>
              </a:rPr>
              <a:t>- R₃ + K₃ = 4 ⇒ K₃ = </a:t>
            </a:r>
            <a:r>
              <a:rPr lang="el-GR" sz="1800" dirty="0" smtClean="0">
                <a:latin typeface="Calibri" panose="020F0502020204030204" pitchFamily="34" charset="0"/>
                <a:cs typeface="Calibri" panose="020F0502020204030204" pitchFamily="34" charset="0"/>
              </a:rPr>
              <a:t>0</a:t>
            </a:r>
            <a:endParaRPr lang="en-US" sz="1800" dirty="0" smtClean="0">
              <a:latin typeface="Calibri" panose="020F0502020204030204" pitchFamily="34" charset="0"/>
              <a:cs typeface="Calibri" panose="020F0502020204030204" pitchFamily="34" charset="0"/>
            </a:endParaRPr>
          </a:p>
          <a:p>
            <a:pPr marL="0" indent="0">
              <a:buNone/>
            </a:pPr>
            <a:r>
              <a:rPr lang="el-GR" sz="1800" dirty="0">
                <a:latin typeface="Calibri" panose="020F0502020204030204" pitchFamily="34" charset="0"/>
                <a:cs typeface="Calibri" panose="020F0502020204030204" pitchFamily="34" charset="0"/>
              </a:rPr>
              <a:t>4. Υπολογισμός Δείκτη Βελτίωσης </a:t>
            </a:r>
            <a:r>
              <a:rPr lang="el-GR" sz="1800" dirty="0" err="1">
                <a:latin typeface="Calibri" panose="020F0502020204030204" pitchFamily="34" charset="0"/>
                <a:cs typeface="Calibri" panose="020F0502020204030204" pitchFamily="34" charset="0"/>
              </a:rPr>
              <a:t>Δᵢⱼ</a:t>
            </a:r>
            <a:r>
              <a:rPr lang="el-GR" sz="1800" dirty="0">
                <a:latin typeface="Calibri" panose="020F0502020204030204" pitchFamily="34" charset="0"/>
                <a:cs typeface="Calibri" panose="020F0502020204030204" pitchFamily="34" charset="0"/>
              </a:rPr>
              <a:t>:</a:t>
            </a:r>
            <a:br>
              <a:rPr lang="el-GR" sz="1800" dirty="0">
                <a:latin typeface="Calibri" panose="020F0502020204030204" pitchFamily="34" charset="0"/>
                <a:cs typeface="Calibri" panose="020F0502020204030204" pitchFamily="34" charset="0"/>
              </a:rPr>
            </a:br>
            <a:r>
              <a:rPr lang="el-GR" sz="1800" dirty="0">
                <a:latin typeface="Calibri" panose="020F0502020204030204" pitchFamily="34" charset="0"/>
                <a:cs typeface="Calibri" panose="020F0502020204030204" pitchFamily="34" charset="0"/>
              </a:rPr>
              <a:t>- A–Π2: Δ = 8 - (0+2) = 6</a:t>
            </a:r>
            <a:br>
              <a:rPr lang="el-GR" sz="1800" dirty="0">
                <a:latin typeface="Calibri" panose="020F0502020204030204" pitchFamily="34" charset="0"/>
                <a:cs typeface="Calibri" panose="020F0502020204030204" pitchFamily="34" charset="0"/>
              </a:rPr>
            </a:br>
            <a:r>
              <a:rPr lang="el-GR" sz="1800" dirty="0">
                <a:latin typeface="Calibri" panose="020F0502020204030204" pitchFamily="34" charset="0"/>
                <a:cs typeface="Calibri" panose="020F0502020204030204" pitchFamily="34" charset="0"/>
              </a:rPr>
              <a:t>- A–Π3: Δ = 5 - (0+0) = 5</a:t>
            </a:r>
            <a:br>
              <a:rPr lang="el-GR" sz="1800" dirty="0">
                <a:latin typeface="Calibri" panose="020F0502020204030204" pitchFamily="34" charset="0"/>
                <a:cs typeface="Calibri" panose="020F0502020204030204" pitchFamily="34" charset="0"/>
              </a:rPr>
            </a:br>
            <a:r>
              <a:rPr lang="el-GR" sz="1800" dirty="0">
                <a:latin typeface="Calibri" panose="020F0502020204030204" pitchFamily="34" charset="0"/>
                <a:cs typeface="Calibri" panose="020F0502020204030204" pitchFamily="34" charset="0"/>
              </a:rPr>
              <a:t>- B–Π3: Δ = 3 - (2+0) = 1</a:t>
            </a:r>
            <a:br>
              <a:rPr lang="el-GR" sz="1800" dirty="0">
                <a:latin typeface="Calibri" panose="020F0502020204030204" pitchFamily="34" charset="0"/>
                <a:cs typeface="Calibri" panose="020F0502020204030204" pitchFamily="34" charset="0"/>
              </a:rPr>
            </a:br>
            <a:r>
              <a:rPr lang="el-GR" sz="1800" dirty="0">
                <a:latin typeface="Calibri" panose="020F0502020204030204" pitchFamily="34" charset="0"/>
                <a:cs typeface="Calibri" panose="020F0502020204030204" pitchFamily="34" charset="0"/>
              </a:rPr>
              <a:t>Όλοι οι Δ &gt; 0 ⇒ η λύση είναι </a:t>
            </a:r>
            <a:r>
              <a:rPr lang="el-GR" sz="1800" dirty="0" smtClean="0">
                <a:latin typeface="Calibri" panose="020F0502020204030204" pitchFamily="34" charset="0"/>
                <a:cs typeface="Calibri" panose="020F0502020204030204" pitchFamily="34" charset="0"/>
              </a:rPr>
              <a:t>βέλτιστη</a:t>
            </a:r>
            <a:endParaRPr lang="en-US" sz="1800" dirty="0" smtClean="0">
              <a:latin typeface="Calibri" panose="020F0502020204030204" pitchFamily="34" charset="0"/>
              <a:cs typeface="Calibri" panose="020F0502020204030204" pitchFamily="34" charset="0"/>
            </a:endParaRPr>
          </a:p>
          <a:p>
            <a:pPr marL="0" indent="0">
              <a:buNone/>
            </a:pPr>
            <a:endParaRPr lang="el-GR" sz="1800" dirty="0">
              <a:latin typeface="Calibri" panose="020F0502020204030204" pitchFamily="34" charset="0"/>
              <a:cs typeface="Calibri" panose="020F0502020204030204" pitchFamily="34" charset="0"/>
            </a:endParaRPr>
          </a:p>
          <a:p>
            <a:endParaRPr lang="el-GR" dirty="0"/>
          </a:p>
        </p:txBody>
      </p:sp>
      <p:graphicFrame>
        <p:nvGraphicFramePr>
          <p:cNvPr id="4" name="Πίνακας 3"/>
          <p:cNvGraphicFramePr>
            <a:graphicFrameLocks noGrp="1"/>
          </p:cNvGraphicFramePr>
          <p:nvPr>
            <p:extLst>
              <p:ext uri="{D42A27DB-BD31-4B8C-83A1-F6EECF244321}">
                <p14:modId xmlns:p14="http://schemas.microsoft.com/office/powerpoint/2010/main" xmlns="" val="1744512968"/>
              </p:ext>
            </p:extLst>
          </p:nvPr>
        </p:nvGraphicFramePr>
        <p:xfrm>
          <a:off x="1624631" y="5805264"/>
          <a:ext cx="5486400" cy="841248"/>
        </p:xfrm>
        <a:graphic>
          <a:graphicData uri="http://schemas.openxmlformats.org/drawingml/2006/table">
            <a:tbl>
              <a:tblPr firstRow="1" firstCol="1" bandRow="1">
                <a:tableStyleId>{5C22544A-7EE6-4342-B048-85BDC9FD1C3A}</a:tableStyleId>
              </a:tblPr>
              <a:tblGrid>
                <a:gridCol w="1371600"/>
                <a:gridCol w="1371600"/>
                <a:gridCol w="1371600"/>
                <a:gridCol w="1371600"/>
              </a:tblGrid>
              <a:tr h="0">
                <a:tc>
                  <a:txBody>
                    <a:bodyPr/>
                    <a:lstStyle/>
                    <a:p>
                      <a:pPr>
                        <a:lnSpc>
                          <a:spcPct val="115000"/>
                        </a:lnSpc>
                        <a:spcAft>
                          <a:spcPts val="0"/>
                        </a:spcAft>
                      </a:pPr>
                      <a:r>
                        <a:rPr lang="el-GR" sz="1200" dirty="0">
                          <a:effectLst/>
                        </a:rPr>
                        <a:t> </a:t>
                      </a:r>
                      <a:endParaRPr lang="el-GR"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Π1</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Π2</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Π3</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US" sz="1200">
                          <a:effectLst/>
                        </a:rPr>
                        <a:t>Α</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20</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dirty="0">
                          <a:effectLst/>
                        </a:rPr>
                        <a:t>-</a:t>
                      </a:r>
                      <a:endParaRPr lang="el-GR"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US" sz="1200">
                          <a:effectLst/>
                        </a:rPr>
                        <a:t>Β</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10</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20</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US" sz="1200">
                          <a:effectLst/>
                        </a:rPr>
                        <a:t>Γ</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5</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dirty="0">
                          <a:effectLst/>
                        </a:rPr>
                        <a:t>20</a:t>
                      </a:r>
                      <a:endParaRPr lang="el-GR" sz="1100" dirty="0">
                        <a:effectLst/>
                        <a:latin typeface="Calibri"/>
                        <a:ea typeface="Calibri"/>
                        <a:cs typeface="Times New Roman"/>
                      </a:endParaRPr>
                    </a:p>
                  </a:txBody>
                  <a:tcPr marL="68580" marR="68580" marT="0" marB="0"/>
                </a:tc>
              </a:tr>
            </a:tbl>
          </a:graphicData>
        </a:graphic>
      </p:graphicFrame>
      <p:sp>
        <p:nvSpPr>
          <p:cNvPr id="5" name="Rectangle 1"/>
          <p:cNvSpPr>
            <a:spLocks noChangeArrowheads="1"/>
          </p:cNvSpPr>
          <p:nvPr/>
        </p:nvSpPr>
        <p:spPr bwMode="auto">
          <a:xfrm>
            <a:off x="467544" y="5301208"/>
            <a:ext cx="662777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l-GR" altLang="el-GR" b="0" i="0" u="sng" strike="noStrike" cap="none" normalizeH="0" baseline="0" dirty="0" smtClean="0">
                <a:ln>
                  <a:noFill/>
                </a:ln>
                <a:solidFill>
                  <a:schemeClr val="tx1"/>
                </a:solidFill>
                <a:effectLst/>
                <a:latin typeface="Calibri" pitchFamily="34" charset="0"/>
                <a:ea typeface="Calibri" pitchFamily="34" charset="0"/>
                <a:cs typeface="Times New Roman" pitchFamily="18" charset="0"/>
              </a:rPr>
              <a:t>Τελική Λύση:</a:t>
            </a:r>
            <a:r>
              <a:rPr lang="en-US" altLang="el-GR" dirty="0">
                <a:latin typeface="Arial" pitchFamily="34" charset="0"/>
                <a:cs typeface="Arial" pitchFamily="34" charset="0"/>
              </a:rPr>
              <a:t> </a:t>
            </a:r>
            <a:r>
              <a:rPr kumimoji="0" lang="el-GR" altLang="el-GR"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Συνολικό κόστος: (20×4) + (10×6) + (20×4) + (5×6) = 250</a:t>
            </a:r>
            <a:endParaRPr kumimoji="0" lang="el-GR" altLang="el-GR"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99582739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title"/>
          </p:nvPr>
        </p:nvSpPr>
        <p:spPr>
          <a:xfrm>
            <a:off x="457200" y="320040"/>
            <a:ext cx="7239000" cy="948720"/>
          </a:xfrm>
        </p:spPr>
        <p:txBody>
          <a:bodyPr>
            <a:normAutofit/>
          </a:bodyPr>
          <a:lstStyle/>
          <a:p>
            <a:pPr algn="ctr"/>
            <a:r>
              <a:rPr lang="el-GR" sz="3000" dirty="0"/>
              <a:t>ΕΠΙΛΥΣΗ ΜΕ ΕΙΔΙΚΟΥΣ ΑΛΓΟΡΙΘΜΟΥΣ Ή ΓΕΝΙΚΕΣ </a:t>
            </a:r>
            <a:r>
              <a:rPr lang="el-GR" sz="3000" dirty="0" smtClean="0"/>
              <a:t>ΜΕΘΟΔΟΥΣ</a:t>
            </a:r>
            <a:r>
              <a:rPr lang="en-US" sz="3000" dirty="0" smtClean="0"/>
              <a:t> (4/6)</a:t>
            </a:r>
            <a:endParaRPr lang="el-GR" sz="3000" dirty="0"/>
          </a:p>
        </p:txBody>
      </p:sp>
      <p:sp>
        <p:nvSpPr>
          <p:cNvPr id="3" name="Θέση περιεχομένου 2"/>
          <p:cNvSpPr>
            <a:spLocks noGrp="1"/>
          </p:cNvSpPr>
          <p:nvPr>
            <p:ph idx="1"/>
          </p:nvPr>
        </p:nvSpPr>
        <p:spPr>
          <a:xfrm>
            <a:off x="457200" y="1484784"/>
            <a:ext cx="7239000" cy="5184576"/>
          </a:xfrm>
        </p:spPr>
        <p:txBody>
          <a:bodyPr>
            <a:normAutofit fontScale="47500" lnSpcReduction="20000"/>
          </a:bodyPr>
          <a:lstStyle/>
          <a:p>
            <a:r>
              <a:rPr lang="el-GR" sz="4400" dirty="0" smtClean="0">
                <a:latin typeface="Calibri" panose="020F0502020204030204" pitchFamily="34" charset="0"/>
                <a:cs typeface="Calibri" panose="020F0502020204030204" pitchFamily="34" charset="0"/>
              </a:rPr>
              <a:t>Όχι Αρχική Λύση -&gt; Όχι Μέθοδος</a:t>
            </a:r>
            <a:endParaRPr lang="en-US" sz="4400" dirty="0" smtClean="0">
              <a:latin typeface="Calibri" panose="020F0502020204030204" pitchFamily="34" charset="0"/>
              <a:cs typeface="Calibri" panose="020F0502020204030204" pitchFamily="34" charset="0"/>
            </a:endParaRPr>
          </a:p>
          <a:p>
            <a:r>
              <a:rPr lang="el-GR" sz="4400" dirty="0" smtClean="0">
                <a:latin typeface="Calibri" panose="020F0502020204030204" pitchFamily="34" charset="0"/>
                <a:cs typeface="Calibri" panose="020F0502020204030204" pitchFamily="34" charset="0"/>
              </a:rPr>
              <a:t>Βήματα Αλγορίθμου </a:t>
            </a:r>
            <a:r>
              <a:rPr lang="en-US" sz="4400" dirty="0" smtClean="0">
                <a:latin typeface="Calibri" panose="020F0502020204030204" pitchFamily="34" charset="0"/>
                <a:cs typeface="Calibri" panose="020F0502020204030204" pitchFamily="34" charset="0"/>
              </a:rPr>
              <a:t>Hungarian:</a:t>
            </a:r>
          </a:p>
          <a:p>
            <a:pPr marL="742950" lvl="0" indent="-742950">
              <a:buFont typeface="+mj-lt"/>
              <a:buAutoNum type="arabicPeriod"/>
            </a:pPr>
            <a:r>
              <a:rPr lang="el-GR" sz="4400" dirty="0">
                <a:latin typeface="Calibri" panose="020F0502020204030204" pitchFamily="34" charset="0"/>
                <a:cs typeface="Calibri" panose="020F0502020204030204" pitchFamily="34" charset="0"/>
              </a:rPr>
              <a:t>Εύρεση των ελαχίστων τιμών των στηλών του πίνακα κόστους και αφαίρεσή τους από τα στοιχεία κάθε στήλης</a:t>
            </a:r>
          </a:p>
          <a:p>
            <a:pPr marL="742950" lvl="0" indent="-742950">
              <a:buFont typeface="+mj-lt"/>
              <a:buAutoNum type="arabicPeriod"/>
            </a:pPr>
            <a:r>
              <a:rPr lang="el-GR" sz="4400" dirty="0">
                <a:latin typeface="Calibri" panose="020F0502020204030204" pitchFamily="34" charset="0"/>
                <a:cs typeface="Calibri" panose="020F0502020204030204" pitchFamily="34" charset="0"/>
              </a:rPr>
              <a:t>Διαχωρισμός των μηδενικών του πίνακα σε «πλαισιούμενα» ανεξάρτητα και διαγραφόμενα</a:t>
            </a:r>
          </a:p>
          <a:p>
            <a:pPr marL="742950" lvl="0" indent="-742950">
              <a:buFont typeface="+mj-lt"/>
              <a:buAutoNum type="arabicPeriod"/>
            </a:pPr>
            <a:r>
              <a:rPr lang="el-GR" sz="4400" dirty="0">
                <a:latin typeface="Calibri" panose="020F0502020204030204" pitchFamily="34" charset="0"/>
                <a:cs typeface="Calibri" panose="020F0502020204030204" pitchFamily="34" charset="0"/>
              </a:rPr>
              <a:t>Σημειώνονται οι γραμμές στις οποίες δεν υπάρχουν πλαισιούμενα μηδενικά, σημειώνονται οι στήλες που έχουν διαγραφόμενο μηδενικό σε μια τουλάχιστον από τις σημειωθείσες γραμμές, σημειώνονται οι γραμμές που έχουν πλαισιόμενο σε σημειωθείσα στήλη</a:t>
            </a:r>
          </a:p>
          <a:p>
            <a:pPr marL="742950" lvl="0" indent="-742950">
              <a:buFont typeface="+mj-lt"/>
              <a:buAutoNum type="arabicPeriod"/>
            </a:pPr>
            <a:r>
              <a:rPr lang="el-GR" sz="4400" dirty="0">
                <a:latin typeface="Calibri" panose="020F0502020204030204" pitchFamily="34" charset="0"/>
                <a:cs typeface="Calibri" panose="020F0502020204030204" pitchFamily="34" charset="0"/>
              </a:rPr>
              <a:t>Κάλυψη των μη σημειωμένων γραμμών και των σημειωμένων στηλών. Εύρεση της ελάχιστης τιμής των μη καλυμμένων στοιχείων του πίνακα</a:t>
            </a:r>
          </a:p>
          <a:p>
            <a:pPr marL="742950" lvl="0" indent="-742950">
              <a:buFont typeface="+mj-lt"/>
              <a:buAutoNum type="arabicPeriod"/>
            </a:pPr>
            <a:r>
              <a:rPr lang="el-GR" sz="4400" dirty="0">
                <a:latin typeface="Calibri" panose="020F0502020204030204" pitchFamily="34" charset="0"/>
                <a:cs typeface="Calibri" panose="020F0502020204030204" pitchFamily="34" charset="0"/>
              </a:rPr>
              <a:t>Αφαίρεση της ελάχιστης τιμής από τα μη καλυμμένα στοιχεία, πρόσθεσή της στα δύο φορές καλυμμένα στοιχεία (τομές καλυμμένων γραμμών και στηλών) και έπειτα γίνονται επαναλήψεις από το δεύτερο </a:t>
            </a:r>
            <a:r>
              <a:rPr lang="el-GR" sz="4400" dirty="0" smtClean="0">
                <a:latin typeface="Calibri" panose="020F0502020204030204" pitchFamily="34" charset="0"/>
                <a:cs typeface="Calibri" panose="020F0502020204030204" pitchFamily="34" charset="0"/>
              </a:rPr>
              <a:t>βήμα</a:t>
            </a:r>
            <a:endParaRPr lang="el-GR" sz="4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xmlns="" val="6021502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title"/>
          </p:nvPr>
        </p:nvSpPr>
        <p:spPr>
          <a:xfrm>
            <a:off x="457200" y="320040"/>
            <a:ext cx="7239000" cy="1009204"/>
          </a:xfrm>
        </p:spPr>
        <p:txBody>
          <a:bodyPr>
            <a:normAutofit/>
          </a:bodyPr>
          <a:lstStyle/>
          <a:p>
            <a:pPr algn="ctr"/>
            <a:r>
              <a:rPr lang="el-GR" sz="3000" dirty="0"/>
              <a:t>ΕΠΙΛΥΣΗ ΜΕ ΕΙΔΙΚΟΥΣ ΑΛΓΟΡΙΘΜΟΥΣ Ή ΓΕΝΙΚΕΣ ΜΕΘΟΔΟΥΣ</a:t>
            </a:r>
            <a:r>
              <a:rPr lang="en-US" sz="3000" dirty="0"/>
              <a:t> </a:t>
            </a:r>
            <a:r>
              <a:rPr lang="en-US" sz="3000" dirty="0" smtClean="0"/>
              <a:t>(5/6)</a:t>
            </a:r>
            <a:endParaRPr lang="el-GR" sz="3000" dirty="0"/>
          </a:p>
        </p:txBody>
      </p:sp>
      <p:graphicFrame>
        <p:nvGraphicFramePr>
          <p:cNvPr id="4" name="Θέση περιεχομένου 3"/>
          <p:cNvGraphicFramePr>
            <a:graphicFrameLocks noGrp="1"/>
          </p:cNvGraphicFramePr>
          <p:nvPr>
            <p:ph idx="1"/>
            <p:extLst>
              <p:ext uri="{D42A27DB-BD31-4B8C-83A1-F6EECF244321}">
                <p14:modId xmlns:p14="http://schemas.microsoft.com/office/powerpoint/2010/main" xmlns="" val="511265701"/>
              </p:ext>
            </p:extLst>
          </p:nvPr>
        </p:nvGraphicFramePr>
        <p:xfrm>
          <a:off x="1331640" y="2636912"/>
          <a:ext cx="5486400" cy="1051560"/>
        </p:xfrm>
        <a:graphic>
          <a:graphicData uri="http://schemas.openxmlformats.org/drawingml/2006/table">
            <a:tbl>
              <a:tblPr firstRow="1" firstCol="1" bandRow="1">
                <a:tableStyleId>{5C22544A-7EE6-4342-B048-85BDC9FD1C3A}</a:tableStyleId>
              </a:tblPr>
              <a:tblGrid>
                <a:gridCol w="1097280"/>
                <a:gridCol w="1097280"/>
                <a:gridCol w="1097280"/>
                <a:gridCol w="1097280"/>
                <a:gridCol w="1097280"/>
              </a:tblGrid>
              <a:tr h="0">
                <a:tc>
                  <a:txBody>
                    <a:bodyPr/>
                    <a:lstStyle/>
                    <a:p>
                      <a:pPr>
                        <a:lnSpc>
                          <a:spcPct val="115000"/>
                        </a:lnSpc>
                        <a:spcAft>
                          <a:spcPts val="0"/>
                        </a:spcAft>
                      </a:pPr>
                      <a:r>
                        <a:rPr lang="el-GR" sz="1200" dirty="0">
                          <a:effectLst/>
                        </a:rPr>
                        <a:t> </a:t>
                      </a:r>
                      <a:endParaRPr lang="el-GR"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Ε1</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Ε2</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Ε3</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Ε4</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US" sz="1200">
                          <a:effectLst/>
                        </a:rPr>
                        <a:t>Α</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9</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2</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dirty="0">
                          <a:effectLst/>
                        </a:rPr>
                        <a:t>7</a:t>
                      </a:r>
                      <a:endParaRPr lang="el-GR"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8</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US" sz="1200">
                          <a:effectLst/>
                        </a:rPr>
                        <a:t>Β</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6</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4</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3</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7</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US" sz="1200">
                          <a:effectLst/>
                        </a:rPr>
                        <a:t>Γ</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5</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8</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1</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8</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US" sz="1200">
                          <a:effectLst/>
                        </a:rPr>
                        <a:t>Δ</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7</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dirty="0">
                          <a:effectLst/>
                        </a:rPr>
                        <a:t>6</a:t>
                      </a:r>
                      <a:endParaRPr lang="el-GR"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9</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dirty="0">
                          <a:effectLst/>
                        </a:rPr>
                        <a:t>4</a:t>
                      </a:r>
                      <a:endParaRPr lang="el-GR" sz="1100" dirty="0">
                        <a:effectLst/>
                        <a:latin typeface="Calibri"/>
                        <a:ea typeface="Calibri"/>
                        <a:cs typeface="Times New Roman"/>
                      </a:endParaRPr>
                    </a:p>
                  </a:txBody>
                  <a:tcPr marL="68580" marR="68580" marT="0" marB="0"/>
                </a:tc>
              </a:tr>
            </a:tbl>
          </a:graphicData>
        </a:graphic>
      </p:graphicFrame>
      <p:sp>
        <p:nvSpPr>
          <p:cNvPr id="5" name="Rectangle 1"/>
          <p:cNvSpPr>
            <a:spLocks noChangeArrowheads="1"/>
          </p:cNvSpPr>
          <p:nvPr/>
        </p:nvSpPr>
        <p:spPr bwMode="auto">
          <a:xfrm>
            <a:off x="467544" y="1329244"/>
            <a:ext cx="7560840" cy="12003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l-GR" altLang="el-GR" b="0" i="0" u="sng"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Άσκηση</a:t>
            </a:r>
            <a:r>
              <a:rPr kumimoji="0" lang="en-US" altLang="el-GR" b="0" i="0" u="sng"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l-GR" altLang="el-GR"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l-GR" altLang="el-GR" b="0" i="0" u="sng" strike="noStrike" cap="none" normalizeH="0" baseline="0" dirty="0" smtClean="0">
                <a:ln>
                  <a:noFill/>
                </a:ln>
                <a:solidFill>
                  <a:schemeClr val="tx1"/>
                </a:solidFill>
                <a:effectLst/>
                <a:latin typeface="Calibri" pitchFamily="34" charset="0"/>
                <a:ea typeface="Calibri" pitchFamily="34" charset="0"/>
                <a:cs typeface="Calibri" panose="020F0502020204030204" pitchFamily="34" charset="0"/>
              </a:rPr>
              <a:t>Βήμα 1: Αφαίρεση ελαχίστων ανά στήλη</a:t>
            </a:r>
            <a:endParaRPr kumimoji="0" lang="el-GR" altLang="el-GR"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l-GR" altLang="el-GR" b="0" i="0" u="none" strike="noStrike" cap="none" normalizeH="0" baseline="0" dirty="0" smtClean="0">
                <a:ln>
                  <a:noFill/>
                </a:ln>
                <a:solidFill>
                  <a:schemeClr val="tx1"/>
                </a:solidFill>
                <a:effectLst/>
                <a:latin typeface="Calibri" pitchFamily="34" charset="0"/>
                <a:ea typeface="Calibri" pitchFamily="34" charset="0"/>
                <a:cs typeface="Calibri" panose="020F0502020204030204" pitchFamily="34" charset="0"/>
              </a:rPr>
              <a:t>Αρχικός Πίνακας Κόστους:</a:t>
            </a:r>
            <a:endParaRPr kumimoji="0" lang="el-GR" altLang="el-GR"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l-GR" altLang="el-GR" b="0" i="0" u="none" strike="noStrike" cap="none" normalizeH="0" baseline="0" dirty="0" smtClean="0">
                <a:ln>
                  <a:noFill/>
                </a:ln>
                <a:solidFill>
                  <a:schemeClr val="tx1"/>
                </a:solidFill>
                <a:effectLst/>
                <a:latin typeface="Calibri" pitchFamily="34" charset="0"/>
                <a:ea typeface="Calibri" pitchFamily="34" charset="0"/>
                <a:cs typeface="Calibri" panose="020F0502020204030204" pitchFamily="34" charset="0"/>
              </a:rPr>
              <a:t>Ελάχιστες τιμές στηλών: [5, 2, 1, 4]</a:t>
            </a:r>
            <a:endParaRPr kumimoji="0" lang="el-GR" altLang="el-GR"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endParaRPr>
          </a:p>
        </p:txBody>
      </p:sp>
      <p:graphicFrame>
        <p:nvGraphicFramePr>
          <p:cNvPr id="8" name="Πίνακας 7"/>
          <p:cNvGraphicFramePr>
            <a:graphicFrameLocks noGrp="1"/>
          </p:cNvGraphicFramePr>
          <p:nvPr>
            <p:extLst>
              <p:ext uri="{D42A27DB-BD31-4B8C-83A1-F6EECF244321}">
                <p14:modId xmlns:p14="http://schemas.microsoft.com/office/powerpoint/2010/main" xmlns="" val="4185835141"/>
              </p:ext>
            </p:extLst>
          </p:nvPr>
        </p:nvGraphicFramePr>
        <p:xfrm>
          <a:off x="1333500" y="4077072"/>
          <a:ext cx="5486400" cy="1051560"/>
        </p:xfrm>
        <a:graphic>
          <a:graphicData uri="http://schemas.openxmlformats.org/drawingml/2006/table">
            <a:tbl>
              <a:tblPr firstRow="1" firstCol="1" bandRow="1">
                <a:tableStyleId>{5C22544A-7EE6-4342-B048-85BDC9FD1C3A}</a:tableStyleId>
              </a:tblPr>
              <a:tblGrid>
                <a:gridCol w="1097280"/>
                <a:gridCol w="1097280"/>
                <a:gridCol w="1097280"/>
                <a:gridCol w="1097280"/>
                <a:gridCol w="1097280"/>
              </a:tblGrid>
              <a:tr h="0">
                <a:tc>
                  <a:txBody>
                    <a:bodyPr/>
                    <a:lstStyle/>
                    <a:p>
                      <a:pPr>
                        <a:lnSpc>
                          <a:spcPct val="115000"/>
                        </a:lnSpc>
                        <a:spcAft>
                          <a:spcPts val="0"/>
                        </a:spcAft>
                      </a:pPr>
                      <a:r>
                        <a:rPr lang="el-GR" sz="1200" dirty="0">
                          <a:effectLst/>
                        </a:rPr>
                        <a:t> </a:t>
                      </a:r>
                      <a:endParaRPr lang="el-GR"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Ε1</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Ε2</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Ε3</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Ε4</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US" sz="1200">
                          <a:effectLst/>
                        </a:rPr>
                        <a:t>Α</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4</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0</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6</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4</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US" sz="1200">
                          <a:effectLst/>
                        </a:rPr>
                        <a:t>Β</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1</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2</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2</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3</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US" sz="1200">
                          <a:effectLst/>
                        </a:rPr>
                        <a:t>Γ</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0</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6</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0</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4</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US" sz="1200">
                          <a:effectLst/>
                        </a:rPr>
                        <a:t>Δ</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dirty="0">
                          <a:effectLst/>
                        </a:rPr>
                        <a:t>2</a:t>
                      </a:r>
                      <a:endParaRPr lang="el-GR"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4</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a:effectLst/>
                        </a:rPr>
                        <a:t>8</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200" dirty="0">
                          <a:effectLst/>
                        </a:rPr>
                        <a:t>0</a:t>
                      </a:r>
                      <a:endParaRPr lang="el-GR" sz="1100" dirty="0">
                        <a:effectLst/>
                        <a:latin typeface="Calibri"/>
                        <a:ea typeface="Calibri"/>
                        <a:cs typeface="Times New Roman"/>
                      </a:endParaRPr>
                    </a:p>
                  </a:txBody>
                  <a:tcPr marL="68580" marR="68580" marT="0" marB="0"/>
                </a:tc>
              </a:tr>
            </a:tbl>
          </a:graphicData>
        </a:graphic>
      </p:graphicFrame>
      <p:sp>
        <p:nvSpPr>
          <p:cNvPr id="9" name="Rectangle 3"/>
          <p:cNvSpPr>
            <a:spLocks noChangeArrowheads="1"/>
          </p:cNvSpPr>
          <p:nvPr/>
        </p:nvSpPr>
        <p:spPr bwMode="auto">
          <a:xfrm>
            <a:off x="467544" y="3689221"/>
            <a:ext cx="6478860"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l-GR" altLang="el-GR" b="0"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Νέος πίνακας μετά την αφαίρεση:</a:t>
            </a:r>
            <a:endParaRPr kumimoji="0" lang="el-GR" altLang="el-GR" b="0" i="0" u="none" strike="noStrike" cap="none" normalizeH="0" baseline="0" dirty="0" smtClean="0">
              <a:ln>
                <a:noFill/>
              </a:ln>
              <a:solidFill>
                <a:schemeClr val="tx1"/>
              </a:solidFill>
              <a:effectLst/>
              <a:latin typeface="Arial" pitchFamily="34" charset="0"/>
              <a:cs typeface="Arial" pitchFamily="34" charset="0"/>
            </a:endParaRPr>
          </a:p>
        </p:txBody>
      </p:sp>
      <p:sp>
        <p:nvSpPr>
          <p:cNvPr id="10" name="Ορθογώνιο 9"/>
          <p:cNvSpPr/>
          <p:nvPr/>
        </p:nvSpPr>
        <p:spPr>
          <a:xfrm>
            <a:off x="467544" y="5301208"/>
            <a:ext cx="7200800" cy="1200329"/>
          </a:xfrm>
          <a:prstGeom prst="rect">
            <a:avLst/>
          </a:prstGeom>
        </p:spPr>
        <p:txBody>
          <a:bodyPr wrap="square">
            <a:spAutoFit/>
          </a:bodyPr>
          <a:lstStyle/>
          <a:p>
            <a:r>
              <a:rPr lang="el-GR" u="sng" dirty="0">
                <a:latin typeface="Calibri" panose="020F0502020204030204" pitchFamily="34" charset="0"/>
                <a:cs typeface="Calibri" panose="020F0502020204030204" pitchFamily="34" charset="0"/>
              </a:rPr>
              <a:t>Βήμα 2: Επιλογή ανεξάρτητων μηδενικών</a:t>
            </a:r>
            <a:endParaRPr lang="el-GR" dirty="0">
              <a:latin typeface="Calibri" panose="020F0502020204030204" pitchFamily="34" charset="0"/>
              <a:cs typeface="Calibri" panose="020F0502020204030204" pitchFamily="34" charset="0"/>
            </a:endParaRPr>
          </a:p>
          <a:p>
            <a:r>
              <a:rPr lang="el-GR" dirty="0">
                <a:latin typeface="Calibri" panose="020F0502020204030204" pitchFamily="34" charset="0"/>
                <a:cs typeface="Calibri" panose="020F0502020204030204" pitchFamily="34" charset="0"/>
              </a:rPr>
              <a:t>Επιλέγουμε μηδενικά που δεν είναι στην ίδια γραμμή ή στήλη:</a:t>
            </a:r>
            <a:br>
              <a:rPr lang="el-GR" dirty="0">
                <a:latin typeface="Calibri" panose="020F0502020204030204" pitchFamily="34" charset="0"/>
                <a:cs typeface="Calibri" panose="020F0502020204030204" pitchFamily="34" charset="0"/>
              </a:rPr>
            </a:br>
            <a:r>
              <a:rPr lang="el-GR" dirty="0">
                <a:latin typeface="Calibri" panose="020F0502020204030204" pitchFamily="34" charset="0"/>
                <a:cs typeface="Calibri" panose="020F0502020204030204" pitchFamily="34" charset="0"/>
              </a:rPr>
              <a:t>Γ-Ε1 (0), Α-Ε2 (0), Δ-Ε4 (0</a:t>
            </a:r>
            <a:r>
              <a:rPr lang="el-GR" dirty="0" smtClean="0">
                <a:latin typeface="Calibri" panose="020F0502020204030204" pitchFamily="34" charset="0"/>
                <a:cs typeface="Calibri" panose="020F0502020204030204" pitchFamily="34" charset="0"/>
              </a:rPr>
              <a:t>)</a:t>
            </a:r>
            <a:endParaRPr lang="en-US" dirty="0" smtClean="0">
              <a:latin typeface="Calibri" panose="020F0502020204030204" pitchFamily="34" charset="0"/>
              <a:cs typeface="Calibri" panose="020F0502020204030204" pitchFamily="34" charset="0"/>
            </a:endParaRPr>
          </a:p>
          <a:p>
            <a:r>
              <a:rPr lang="el-GR" dirty="0" smtClean="0">
                <a:latin typeface="Calibri" panose="020F0502020204030204" pitchFamily="34" charset="0"/>
                <a:cs typeface="Calibri" panose="020F0502020204030204" pitchFamily="34" charset="0"/>
              </a:rPr>
              <a:t>Δεν </a:t>
            </a:r>
            <a:r>
              <a:rPr lang="el-GR" dirty="0">
                <a:latin typeface="Calibri" panose="020F0502020204030204" pitchFamily="34" charset="0"/>
                <a:cs typeface="Calibri" panose="020F0502020204030204" pitchFamily="34" charset="0"/>
              </a:rPr>
              <a:t>επαρκούν (3 αντί για 4), συνεχίζουμε στο Βήμα </a:t>
            </a:r>
            <a:r>
              <a:rPr lang="el-GR" dirty="0" smtClean="0">
                <a:latin typeface="Calibri" panose="020F0502020204030204" pitchFamily="34" charset="0"/>
                <a:cs typeface="Calibri" panose="020F0502020204030204" pitchFamily="34" charset="0"/>
              </a:rPr>
              <a:t>3</a:t>
            </a:r>
            <a:endParaRPr lang="el-G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xmlns="" val="19231350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title"/>
          </p:nvPr>
        </p:nvSpPr>
        <p:spPr>
          <a:xfrm>
            <a:off x="457200" y="320040"/>
            <a:ext cx="7239000" cy="1020728"/>
          </a:xfrm>
        </p:spPr>
        <p:txBody>
          <a:bodyPr>
            <a:normAutofit/>
          </a:bodyPr>
          <a:lstStyle/>
          <a:p>
            <a:pPr algn="ctr"/>
            <a:r>
              <a:rPr lang="el-GR" sz="3000" dirty="0"/>
              <a:t>ΕΠΙΛΥΣΗ ΜΕ ΕΙΔΙΚΟΥΣ ΑΛΓΟΡΙΘΜΟΥΣ Ή ΓΕΝΙΚΕΣ ΜΕΘΟΔΟΥΣ</a:t>
            </a:r>
            <a:r>
              <a:rPr lang="en-US" sz="3000" dirty="0"/>
              <a:t> </a:t>
            </a:r>
            <a:r>
              <a:rPr lang="en-US" sz="3000" dirty="0" smtClean="0"/>
              <a:t>(6/6</a:t>
            </a:r>
            <a:r>
              <a:rPr lang="en-US" sz="3000" dirty="0"/>
              <a:t>)</a:t>
            </a:r>
            <a:endParaRPr lang="el-GR" sz="3000" dirty="0"/>
          </a:p>
        </p:txBody>
      </p:sp>
      <p:sp>
        <p:nvSpPr>
          <p:cNvPr id="3" name="Θέση περιεχομένου 2"/>
          <p:cNvSpPr>
            <a:spLocks noGrp="1"/>
          </p:cNvSpPr>
          <p:nvPr>
            <p:ph idx="1"/>
          </p:nvPr>
        </p:nvSpPr>
        <p:spPr/>
        <p:txBody>
          <a:bodyPr>
            <a:normAutofit/>
          </a:bodyPr>
          <a:lstStyle/>
          <a:p>
            <a:pPr marL="0" indent="0">
              <a:buNone/>
            </a:pPr>
            <a:r>
              <a:rPr lang="el-GR" sz="1800" u="sng" dirty="0">
                <a:latin typeface="Calibri" panose="020F0502020204030204" pitchFamily="34" charset="0"/>
                <a:cs typeface="Calibri" panose="020F0502020204030204" pitchFamily="34" charset="0"/>
              </a:rPr>
              <a:t>Βήμα 3: </a:t>
            </a:r>
            <a:r>
              <a:rPr lang="el-GR" sz="1800" u="sng" dirty="0" smtClean="0">
                <a:latin typeface="Calibri" panose="020F0502020204030204" pitchFamily="34" charset="0"/>
                <a:cs typeface="Calibri" panose="020F0502020204030204" pitchFamily="34" charset="0"/>
              </a:rPr>
              <a:t>Σημειώσεις</a:t>
            </a:r>
            <a:r>
              <a:rPr lang="en-US" sz="1800" dirty="0">
                <a:latin typeface="Calibri" panose="020F0502020204030204" pitchFamily="34" charset="0"/>
                <a:cs typeface="Calibri" panose="020F0502020204030204" pitchFamily="34" charset="0"/>
              </a:rPr>
              <a:t> </a:t>
            </a:r>
            <a:endParaRPr lang="en-US" sz="1800" dirty="0" smtClean="0">
              <a:latin typeface="Calibri" panose="020F0502020204030204" pitchFamily="34" charset="0"/>
              <a:cs typeface="Calibri" panose="020F0502020204030204" pitchFamily="34" charset="0"/>
            </a:endParaRPr>
          </a:p>
          <a:p>
            <a:pPr marL="0" indent="0">
              <a:buNone/>
            </a:pPr>
            <a:r>
              <a:rPr lang="en-US" sz="1800" dirty="0" smtClean="0">
                <a:latin typeface="Calibri" panose="020F0502020204030204" pitchFamily="34" charset="0"/>
                <a:cs typeface="Calibri" panose="020F0502020204030204" pitchFamily="34" charset="0"/>
              </a:rPr>
              <a:t>– </a:t>
            </a:r>
            <a:r>
              <a:rPr lang="el-GR" sz="1800" dirty="0" smtClean="0">
                <a:latin typeface="Calibri" panose="020F0502020204030204" pitchFamily="34" charset="0"/>
                <a:cs typeface="Calibri" panose="020F0502020204030204" pitchFamily="34" charset="0"/>
              </a:rPr>
              <a:t>Γραμμές </a:t>
            </a:r>
            <a:r>
              <a:rPr lang="el-GR" sz="1800" dirty="0">
                <a:latin typeface="Calibri" panose="020F0502020204030204" pitchFamily="34" charset="0"/>
                <a:cs typeface="Calibri" panose="020F0502020204030204" pitchFamily="34" charset="0"/>
              </a:rPr>
              <a:t>χωρίς πλαισιωμένο μηδενικό: Β</a:t>
            </a:r>
            <a:br>
              <a:rPr lang="el-GR" sz="1800" dirty="0">
                <a:latin typeface="Calibri" panose="020F0502020204030204" pitchFamily="34" charset="0"/>
                <a:cs typeface="Calibri" panose="020F0502020204030204" pitchFamily="34" charset="0"/>
              </a:rPr>
            </a:br>
            <a:r>
              <a:rPr lang="en-US" sz="1800" dirty="0" smtClean="0">
                <a:latin typeface="Calibri" panose="020F0502020204030204" pitchFamily="34" charset="0"/>
                <a:cs typeface="Calibri" panose="020F0502020204030204" pitchFamily="34" charset="0"/>
              </a:rPr>
              <a:t>– </a:t>
            </a:r>
            <a:r>
              <a:rPr lang="el-GR" sz="1800" dirty="0" smtClean="0">
                <a:latin typeface="Calibri" panose="020F0502020204030204" pitchFamily="34" charset="0"/>
                <a:cs typeface="Calibri" panose="020F0502020204030204" pitchFamily="34" charset="0"/>
              </a:rPr>
              <a:t>Στήλες </a:t>
            </a:r>
            <a:r>
              <a:rPr lang="el-GR" sz="1800" dirty="0">
                <a:latin typeface="Calibri" panose="020F0502020204030204" pitchFamily="34" charset="0"/>
                <a:cs typeface="Calibri" panose="020F0502020204030204" pitchFamily="34" charset="0"/>
              </a:rPr>
              <a:t>με διαγραμμένο </a:t>
            </a:r>
            <a:r>
              <a:rPr lang="el-GR" sz="1800" dirty="0" smtClean="0">
                <a:latin typeface="Calibri" panose="020F0502020204030204" pitchFamily="34" charset="0"/>
                <a:cs typeface="Calibri" panose="020F0502020204030204" pitchFamily="34" charset="0"/>
              </a:rPr>
              <a:t>μηδενικό: </a:t>
            </a:r>
            <a:r>
              <a:rPr lang="el-GR" sz="1800" dirty="0">
                <a:latin typeface="Calibri" panose="020F0502020204030204" pitchFamily="34" charset="0"/>
                <a:cs typeface="Calibri" panose="020F0502020204030204" pitchFamily="34" charset="0"/>
              </a:rPr>
              <a:t>Ε1, Ε2, Ε3, Ε4</a:t>
            </a:r>
            <a:br>
              <a:rPr lang="el-GR" sz="1800" dirty="0">
                <a:latin typeface="Calibri" panose="020F0502020204030204" pitchFamily="34" charset="0"/>
                <a:cs typeface="Calibri" panose="020F0502020204030204" pitchFamily="34" charset="0"/>
              </a:rPr>
            </a:br>
            <a:r>
              <a:rPr lang="en-US" sz="1800" dirty="0">
                <a:latin typeface="Calibri" panose="020F0502020204030204" pitchFamily="34" charset="0"/>
                <a:cs typeface="Calibri" panose="020F0502020204030204" pitchFamily="34" charset="0"/>
              </a:rPr>
              <a:t>– </a:t>
            </a:r>
            <a:r>
              <a:rPr lang="el-GR" sz="1800" dirty="0" smtClean="0">
                <a:latin typeface="Calibri" panose="020F0502020204030204" pitchFamily="34" charset="0"/>
                <a:cs typeface="Calibri" panose="020F0502020204030204" pitchFamily="34" charset="0"/>
              </a:rPr>
              <a:t>Γραμμές </a:t>
            </a:r>
            <a:r>
              <a:rPr lang="el-GR" sz="1800" dirty="0">
                <a:latin typeface="Calibri" panose="020F0502020204030204" pitchFamily="34" charset="0"/>
                <a:cs typeface="Calibri" panose="020F0502020204030204" pitchFamily="34" charset="0"/>
              </a:rPr>
              <a:t>με πλαισιωμένο </a:t>
            </a:r>
            <a:r>
              <a:rPr lang="el-GR" sz="1800" dirty="0" smtClean="0">
                <a:latin typeface="Calibri" panose="020F0502020204030204" pitchFamily="34" charset="0"/>
                <a:cs typeface="Calibri" panose="020F0502020204030204" pitchFamily="34" charset="0"/>
              </a:rPr>
              <a:t>μηδενικό σε </a:t>
            </a:r>
            <a:r>
              <a:rPr lang="el-GR" sz="1800" dirty="0">
                <a:latin typeface="Calibri" panose="020F0502020204030204" pitchFamily="34" charset="0"/>
                <a:cs typeface="Calibri" panose="020F0502020204030204" pitchFamily="34" charset="0"/>
              </a:rPr>
              <a:t>αυτές τις στήλες: Α, Γ, Δ</a:t>
            </a:r>
          </a:p>
          <a:p>
            <a:pPr marL="0" indent="0">
              <a:buNone/>
            </a:pPr>
            <a:r>
              <a:rPr lang="el-GR" sz="1800" u="sng" dirty="0">
                <a:latin typeface="Calibri" panose="020F0502020204030204" pitchFamily="34" charset="0"/>
                <a:cs typeface="Calibri" panose="020F0502020204030204" pitchFamily="34" charset="0"/>
              </a:rPr>
              <a:t>Βήμα 4: Κάλυψη και ελάχιστο μη καλυμμένο</a:t>
            </a:r>
            <a:endParaRPr lang="el-GR" sz="1800" dirty="0">
              <a:latin typeface="Calibri" panose="020F0502020204030204" pitchFamily="34" charset="0"/>
              <a:cs typeface="Calibri" panose="020F0502020204030204" pitchFamily="34" charset="0"/>
            </a:endParaRPr>
          </a:p>
          <a:p>
            <a:pPr marL="0" indent="0">
              <a:buNone/>
            </a:pPr>
            <a:r>
              <a:rPr lang="el-GR" sz="1800" dirty="0">
                <a:latin typeface="Calibri" panose="020F0502020204030204" pitchFamily="34" charset="0"/>
                <a:cs typeface="Calibri" panose="020F0502020204030204" pitchFamily="34" charset="0"/>
              </a:rPr>
              <a:t>Όλες οι γραμμές και στήλες καλύπτονται, κανένα ακάλυπτο στοιχείο, άρα πάμε </a:t>
            </a:r>
            <a:r>
              <a:rPr lang="el-GR" sz="1800" dirty="0" smtClean="0">
                <a:latin typeface="Calibri" panose="020F0502020204030204" pitchFamily="34" charset="0"/>
                <a:cs typeface="Calibri" panose="020F0502020204030204" pitchFamily="34" charset="0"/>
              </a:rPr>
              <a:t>επανάληψη</a:t>
            </a:r>
            <a:endParaRPr lang="el-GR" sz="1800" dirty="0">
              <a:latin typeface="Calibri" panose="020F0502020204030204" pitchFamily="34" charset="0"/>
              <a:cs typeface="Calibri" panose="020F0502020204030204" pitchFamily="34" charset="0"/>
            </a:endParaRPr>
          </a:p>
          <a:p>
            <a:pPr marL="0" indent="0">
              <a:buNone/>
            </a:pPr>
            <a:r>
              <a:rPr lang="el-GR" sz="1800" u="sng" dirty="0">
                <a:latin typeface="Calibri" panose="020F0502020204030204" pitchFamily="34" charset="0"/>
                <a:cs typeface="Calibri" panose="020F0502020204030204" pitchFamily="34" charset="0"/>
              </a:rPr>
              <a:t>Βήμα 5: Νέα ανάθεση και τερματισμός</a:t>
            </a:r>
            <a:endParaRPr lang="el-GR" sz="1800" dirty="0">
              <a:latin typeface="Calibri" panose="020F0502020204030204" pitchFamily="34" charset="0"/>
              <a:cs typeface="Calibri" panose="020F0502020204030204" pitchFamily="34" charset="0"/>
            </a:endParaRPr>
          </a:p>
          <a:p>
            <a:pPr marL="0" indent="0">
              <a:buNone/>
            </a:pPr>
            <a:r>
              <a:rPr lang="el-GR" sz="1800" dirty="0">
                <a:latin typeface="Calibri" panose="020F0502020204030204" pitchFamily="34" charset="0"/>
                <a:cs typeface="Calibri" panose="020F0502020204030204" pitchFamily="34" charset="0"/>
              </a:rPr>
              <a:t>Επιλέγουμε:</a:t>
            </a:r>
            <a:br>
              <a:rPr lang="el-GR" sz="1800" dirty="0">
                <a:latin typeface="Calibri" panose="020F0502020204030204" pitchFamily="34" charset="0"/>
                <a:cs typeface="Calibri" panose="020F0502020204030204" pitchFamily="34" charset="0"/>
              </a:rPr>
            </a:br>
            <a:r>
              <a:rPr lang="el-GR" sz="1800" dirty="0">
                <a:latin typeface="Calibri" panose="020F0502020204030204" pitchFamily="34" charset="0"/>
                <a:cs typeface="Calibri" panose="020F0502020204030204" pitchFamily="34" charset="0"/>
              </a:rPr>
              <a:t>Α-Ε2 (2), Β-Ε1 (6), Γ-Ε3 (1), Δ-Ε4 (4</a:t>
            </a:r>
            <a:r>
              <a:rPr lang="el-GR" sz="1800" dirty="0" smtClean="0">
                <a:latin typeface="Calibri" panose="020F0502020204030204" pitchFamily="34" charset="0"/>
                <a:cs typeface="Calibri" panose="020F0502020204030204" pitchFamily="34" charset="0"/>
              </a:rPr>
              <a:t>)</a:t>
            </a:r>
            <a:endParaRPr lang="el-GR" sz="1800" dirty="0">
              <a:latin typeface="Calibri" panose="020F0502020204030204" pitchFamily="34" charset="0"/>
              <a:cs typeface="Calibri" panose="020F0502020204030204" pitchFamily="34" charset="0"/>
            </a:endParaRPr>
          </a:p>
        </p:txBody>
      </p:sp>
      <p:graphicFrame>
        <p:nvGraphicFramePr>
          <p:cNvPr id="4" name="Πίνακας 3"/>
          <p:cNvGraphicFramePr>
            <a:graphicFrameLocks noGrp="1"/>
          </p:cNvGraphicFramePr>
          <p:nvPr>
            <p:extLst>
              <p:ext uri="{D42A27DB-BD31-4B8C-83A1-F6EECF244321}">
                <p14:modId xmlns:p14="http://schemas.microsoft.com/office/powerpoint/2010/main" xmlns="" val="2211707862"/>
              </p:ext>
            </p:extLst>
          </p:nvPr>
        </p:nvGraphicFramePr>
        <p:xfrm>
          <a:off x="1333500" y="5589240"/>
          <a:ext cx="5486400" cy="978789"/>
        </p:xfrm>
        <a:graphic>
          <a:graphicData uri="http://schemas.openxmlformats.org/drawingml/2006/table">
            <a:tbl>
              <a:tblPr firstRow="1" firstCol="1" bandRow="1">
                <a:tableStyleId>{5C22544A-7EE6-4342-B048-85BDC9FD1C3A}</a:tableStyleId>
              </a:tblPr>
              <a:tblGrid>
                <a:gridCol w="1828800"/>
                <a:gridCol w="1828800"/>
                <a:gridCol w="1828800"/>
              </a:tblGrid>
              <a:tr h="0">
                <a:tc>
                  <a:txBody>
                    <a:bodyPr/>
                    <a:lstStyle/>
                    <a:p>
                      <a:pPr>
                        <a:lnSpc>
                          <a:spcPct val="115000"/>
                        </a:lnSpc>
                        <a:spcAft>
                          <a:spcPts val="0"/>
                        </a:spcAft>
                      </a:pPr>
                      <a:r>
                        <a:rPr lang="en-US" sz="1100" dirty="0">
                          <a:effectLst/>
                        </a:rPr>
                        <a:t>Υπ</a:t>
                      </a:r>
                      <a:r>
                        <a:rPr lang="en-US" sz="1100" dirty="0" err="1">
                          <a:effectLst/>
                        </a:rPr>
                        <a:t>άλληλος</a:t>
                      </a:r>
                      <a:endParaRPr lang="el-GR"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1100">
                          <a:effectLst/>
                        </a:rPr>
                        <a:t>Έργο</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100">
                          <a:effectLst/>
                        </a:rPr>
                        <a:t>Κόστος</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US" sz="1100" dirty="0">
                          <a:effectLst/>
                        </a:rPr>
                        <a:t>Α</a:t>
                      </a:r>
                      <a:endParaRPr lang="el-GR"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1100">
                          <a:effectLst/>
                        </a:rPr>
                        <a:t>Ε2</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100">
                          <a:effectLst/>
                        </a:rPr>
                        <a:t>2</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US" sz="1100">
                          <a:effectLst/>
                        </a:rPr>
                        <a:t>Β</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100" dirty="0">
                          <a:effectLst/>
                        </a:rPr>
                        <a:t>Ε1</a:t>
                      </a:r>
                      <a:endParaRPr lang="el-GR"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US" sz="1100">
                          <a:effectLst/>
                        </a:rPr>
                        <a:t>6</a:t>
                      </a:r>
                      <a:endParaRPr lang="el-GR"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US" sz="1100">
                          <a:effectLst/>
                        </a:rPr>
                        <a:t>Γ</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100">
                          <a:effectLst/>
                        </a:rPr>
                        <a:t>Ε3</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100">
                          <a:effectLst/>
                        </a:rPr>
                        <a:t>1</a:t>
                      </a:r>
                      <a:endParaRPr lang="el-GR" sz="1100">
                        <a:effectLst/>
                        <a:latin typeface="Calibri"/>
                        <a:ea typeface="Calibri"/>
                        <a:cs typeface="Times New Roman"/>
                      </a:endParaRPr>
                    </a:p>
                  </a:txBody>
                  <a:tcPr marL="68580" marR="68580" marT="0" marB="0"/>
                </a:tc>
              </a:tr>
              <a:tr h="207645">
                <a:tc>
                  <a:txBody>
                    <a:bodyPr/>
                    <a:lstStyle/>
                    <a:p>
                      <a:pPr>
                        <a:lnSpc>
                          <a:spcPct val="115000"/>
                        </a:lnSpc>
                        <a:spcAft>
                          <a:spcPts val="0"/>
                        </a:spcAft>
                      </a:pPr>
                      <a:r>
                        <a:rPr lang="en-US" sz="1100">
                          <a:effectLst/>
                        </a:rPr>
                        <a:t>Δ</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100">
                          <a:effectLst/>
                        </a:rPr>
                        <a:t>Ε4</a:t>
                      </a:r>
                      <a:endParaRPr lang="el-GR" sz="1100">
                        <a:effectLst/>
                        <a:latin typeface="Calibri"/>
                        <a:ea typeface="Calibri"/>
                        <a:cs typeface="Times New Roman"/>
                      </a:endParaRPr>
                    </a:p>
                  </a:txBody>
                  <a:tcPr marL="68580" marR="68580" marT="0" marB="0"/>
                </a:tc>
                <a:tc>
                  <a:txBody>
                    <a:bodyPr/>
                    <a:lstStyle/>
                    <a:p>
                      <a:pPr>
                        <a:lnSpc>
                          <a:spcPct val="115000"/>
                        </a:lnSpc>
                        <a:spcAft>
                          <a:spcPts val="0"/>
                        </a:spcAft>
                      </a:pPr>
                      <a:r>
                        <a:rPr lang="en-US" sz="1100" dirty="0">
                          <a:effectLst/>
                        </a:rPr>
                        <a:t>4</a:t>
                      </a:r>
                      <a:endParaRPr lang="el-GR" sz="1100" dirty="0">
                        <a:effectLst/>
                        <a:latin typeface="Calibri"/>
                        <a:ea typeface="Calibri"/>
                        <a:cs typeface="Times New Roman"/>
                      </a:endParaRPr>
                    </a:p>
                  </a:txBody>
                  <a:tcPr marL="68580" marR="68580" marT="0" marB="0"/>
                </a:tc>
              </a:tr>
            </a:tbl>
          </a:graphicData>
        </a:graphic>
      </p:graphicFrame>
      <p:sp>
        <p:nvSpPr>
          <p:cNvPr id="5" name="Rectangle 1"/>
          <p:cNvSpPr>
            <a:spLocks noChangeArrowheads="1"/>
          </p:cNvSpPr>
          <p:nvPr/>
        </p:nvSpPr>
        <p:spPr bwMode="auto">
          <a:xfrm>
            <a:off x="467544" y="4804410"/>
            <a:ext cx="3281608"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l-GR" altLang="el-GR" b="0" i="0" u="sng"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Τελική Ανάθεση:</a:t>
            </a:r>
            <a:endParaRPr kumimoji="0" lang="el-GR" altLang="el-GR"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l-GR" altLang="el-GR" b="0" i="0" u="none" strike="noStrike" cap="none" normalizeH="0" baseline="0" dirty="0" smtClean="0">
                <a:ln>
                  <a:noFill/>
                </a:ln>
                <a:solidFill>
                  <a:schemeClr val="tx1"/>
                </a:solidFill>
                <a:effectLst/>
                <a:latin typeface="Calibri" pitchFamily="34" charset="0"/>
                <a:ea typeface="Calibri" pitchFamily="34" charset="0"/>
                <a:cs typeface="Calibri" panose="020F0502020204030204" pitchFamily="34" charset="0"/>
              </a:rPr>
              <a:t>Συνολικό Ελάχιστο Κόστος: 13</a:t>
            </a:r>
            <a:endParaRPr kumimoji="0" lang="el-GR" altLang="el-GR" b="0" i="0" u="none" strike="noStrike" cap="none" normalizeH="0" baseline="0" dirty="0" smtClean="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xmlns="" val="7836163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title"/>
          </p:nvPr>
        </p:nvSpPr>
        <p:spPr>
          <a:xfrm>
            <a:off x="457200" y="320040"/>
            <a:ext cx="7239000" cy="516672"/>
          </a:xfrm>
        </p:spPr>
        <p:txBody>
          <a:bodyPr>
            <a:normAutofit/>
          </a:bodyPr>
          <a:lstStyle/>
          <a:p>
            <a:pPr algn="ctr"/>
            <a:r>
              <a:rPr lang="el-GR" sz="3000" dirty="0" smtClean="0"/>
              <a:t>ασκηση </a:t>
            </a:r>
            <a:r>
              <a:rPr lang="en-US" sz="3000" dirty="0" smtClean="0"/>
              <a:t>MODI</a:t>
            </a:r>
            <a:endParaRPr lang="el-GR" sz="3000" dirty="0"/>
          </a:p>
        </p:txBody>
      </p:sp>
      <p:sp>
        <p:nvSpPr>
          <p:cNvPr id="3" name="Θέση περιεχομένου 2"/>
          <p:cNvSpPr>
            <a:spLocks noGrp="1"/>
          </p:cNvSpPr>
          <p:nvPr>
            <p:ph idx="1"/>
          </p:nvPr>
        </p:nvSpPr>
        <p:spPr>
          <a:xfrm>
            <a:off x="457200" y="908720"/>
            <a:ext cx="7239000" cy="5547016"/>
          </a:xfrm>
        </p:spPr>
        <p:txBody>
          <a:bodyPr/>
          <a:lstStyle/>
          <a:p>
            <a:r>
              <a:rPr lang="el-GR" sz="1800" dirty="0" smtClean="0">
                <a:latin typeface="Calibri" panose="020F0502020204030204" pitchFamily="34" charset="0"/>
                <a:cs typeface="Calibri" panose="020F0502020204030204" pitchFamily="34" charset="0"/>
              </a:rPr>
              <a:t>Πηγές </a:t>
            </a:r>
            <a:r>
              <a:rPr lang="el-GR" sz="1800" dirty="0">
                <a:latin typeface="Calibri" panose="020F0502020204030204" pitchFamily="34" charset="0"/>
                <a:cs typeface="Calibri" panose="020F0502020204030204" pitchFamily="34" charset="0"/>
              </a:rPr>
              <a:t>(Προσφορά</a:t>
            </a:r>
            <a:r>
              <a:rPr lang="el-GR" sz="1800" dirty="0" smtClean="0">
                <a:latin typeface="Calibri" panose="020F0502020204030204" pitchFamily="34" charset="0"/>
                <a:cs typeface="Calibri" panose="020F0502020204030204" pitchFamily="34" charset="0"/>
              </a:rPr>
              <a:t>):</a:t>
            </a:r>
            <a:r>
              <a:rPr lang="en-US" sz="1800" dirty="0" smtClean="0">
                <a:latin typeface="Calibri" panose="020F0502020204030204" pitchFamily="34" charset="0"/>
                <a:cs typeface="Calibri" panose="020F0502020204030204" pitchFamily="34" charset="0"/>
              </a:rPr>
              <a:t> </a:t>
            </a:r>
            <a:r>
              <a:rPr lang="el-GR" sz="1800" dirty="0" smtClean="0">
                <a:latin typeface="Calibri" panose="020F0502020204030204" pitchFamily="34" charset="0"/>
                <a:cs typeface="Calibri" panose="020F0502020204030204" pitchFamily="34" charset="0"/>
              </a:rPr>
              <a:t>Αποθήκη </a:t>
            </a:r>
            <a:r>
              <a:rPr lang="el-GR" sz="1800" dirty="0">
                <a:latin typeface="Calibri" panose="020F0502020204030204" pitchFamily="34" charset="0"/>
                <a:cs typeface="Calibri" panose="020F0502020204030204" pitchFamily="34" charset="0"/>
              </a:rPr>
              <a:t>Α = </a:t>
            </a:r>
            <a:r>
              <a:rPr lang="el-GR" sz="1800" dirty="0" smtClean="0">
                <a:latin typeface="Calibri" panose="020F0502020204030204" pitchFamily="34" charset="0"/>
                <a:cs typeface="Calibri" panose="020F0502020204030204" pitchFamily="34" charset="0"/>
              </a:rPr>
              <a:t>15</a:t>
            </a:r>
            <a:r>
              <a:rPr lang="en-US" sz="1800" dirty="0" smtClean="0">
                <a:latin typeface="Calibri" panose="020F0502020204030204" pitchFamily="34" charset="0"/>
                <a:cs typeface="Calibri" panose="020F0502020204030204" pitchFamily="34" charset="0"/>
              </a:rPr>
              <a:t>, </a:t>
            </a:r>
            <a:r>
              <a:rPr lang="el-GR" sz="1800" dirty="0" smtClean="0">
                <a:latin typeface="Calibri" panose="020F0502020204030204" pitchFamily="34" charset="0"/>
                <a:cs typeface="Calibri" panose="020F0502020204030204" pitchFamily="34" charset="0"/>
              </a:rPr>
              <a:t>Αποθήκη </a:t>
            </a:r>
            <a:r>
              <a:rPr lang="el-GR" sz="1800" dirty="0">
                <a:latin typeface="Calibri" panose="020F0502020204030204" pitchFamily="34" charset="0"/>
                <a:cs typeface="Calibri" panose="020F0502020204030204" pitchFamily="34" charset="0"/>
              </a:rPr>
              <a:t>Β = </a:t>
            </a:r>
            <a:r>
              <a:rPr lang="el-GR" sz="1800" dirty="0" smtClean="0">
                <a:latin typeface="Calibri" panose="020F0502020204030204" pitchFamily="34" charset="0"/>
                <a:cs typeface="Calibri" panose="020F0502020204030204" pitchFamily="34" charset="0"/>
              </a:rPr>
              <a:t>25</a:t>
            </a:r>
            <a:r>
              <a:rPr lang="en-US" sz="1800" dirty="0" smtClean="0">
                <a:latin typeface="Calibri" panose="020F0502020204030204" pitchFamily="34" charset="0"/>
                <a:cs typeface="Calibri" panose="020F0502020204030204" pitchFamily="34" charset="0"/>
              </a:rPr>
              <a:t>, </a:t>
            </a:r>
            <a:r>
              <a:rPr lang="el-GR" sz="1800" dirty="0" smtClean="0">
                <a:latin typeface="Calibri" panose="020F0502020204030204" pitchFamily="34" charset="0"/>
                <a:cs typeface="Calibri" panose="020F0502020204030204" pitchFamily="34" charset="0"/>
              </a:rPr>
              <a:t>Αποθήκη </a:t>
            </a:r>
            <a:r>
              <a:rPr lang="el-GR" sz="1800" dirty="0">
                <a:latin typeface="Calibri" panose="020F0502020204030204" pitchFamily="34" charset="0"/>
                <a:cs typeface="Calibri" panose="020F0502020204030204" pitchFamily="34" charset="0"/>
              </a:rPr>
              <a:t>Γ = 20</a:t>
            </a:r>
          </a:p>
          <a:p>
            <a:r>
              <a:rPr lang="el-GR" sz="1800" dirty="0">
                <a:latin typeface="Calibri" panose="020F0502020204030204" pitchFamily="34" charset="0"/>
                <a:cs typeface="Calibri" panose="020F0502020204030204" pitchFamily="34" charset="0"/>
              </a:rPr>
              <a:t>Προορισμοί (Ζήτηση</a:t>
            </a:r>
            <a:r>
              <a:rPr lang="el-GR" sz="1800" dirty="0" smtClean="0">
                <a:latin typeface="Calibri" panose="020F0502020204030204" pitchFamily="34" charset="0"/>
                <a:cs typeface="Calibri" panose="020F0502020204030204" pitchFamily="34" charset="0"/>
              </a:rPr>
              <a:t>):</a:t>
            </a:r>
            <a:r>
              <a:rPr lang="en-US" sz="1800" dirty="0" smtClean="0">
                <a:latin typeface="Calibri" panose="020F0502020204030204" pitchFamily="34" charset="0"/>
                <a:cs typeface="Calibri" panose="020F0502020204030204" pitchFamily="34" charset="0"/>
              </a:rPr>
              <a:t> </a:t>
            </a:r>
            <a:r>
              <a:rPr lang="el-GR" sz="1800" dirty="0" smtClean="0">
                <a:latin typeface="Calibri" panose="020F0502020204030204" pitchFamily="34" charset="0"/>
                <a:cs typeface="Calibri" panose="020F0502020204030204" pitchFamily="34" charset="0"/>
              </a:rPr>
              <a:t>Κατάστημα </a:t>
            </a:r>
            <a:r>
              <a:rPr lang="el-GR" sz="1800" dirty="0">
                <a:latin typeface="Calibri" panose="020F0502020204030204" pitchFamily="34" charset="0"/>
                <a:cs typeface="Calibri" panose="020F0502020204030204" pitchFamily="34" charset="0"/>
              </a:rPr>
              <a:t>Π1 = </a:t>
            </a:r>
            <a:r>
              <a:rPr lang="el-GR" sz="1800" dirty="0" smtClean="0">
                <a:latin typeface="Calibri" panose="020F0502020204030204" pitchFamily="34" charset="0"/>
                <a:cs typeface="Calibri" panose="020F0502020204030204" pitchFamily="34" charset="0"/>
              </a:rPr>
              <a:t>10</a:t>
            </a:r>
            <a:r>
              <a:rPr lang="en-US" sz="1800" dirty="0" smtClean="0">
                <a:latin typeface="Calibri" panose="020F0502020204030204" pitchFamily="34" charset="0"/>
                <a:cs typeface="Calibri" panose="020F0502020204030204" pitchFamily="34" charset="0"/>
              </a:rPr>
              <a:t>, </a:t>
            </a:r>
            <a:r>
              <a:rPr lang="el-GR" sz="1800" dirty="0" smtClean="0">
                <a:latin typeface="Calibri" panose="020F0502020204030204" pitchFamily="34" charset="0"/>
                <a:cs typeface="Calibri" panose="020F0502020204030204" pitchFamily="34" charset="0"/>
              </a:rPr>
              <a:t>Κατάστημα </a:t>
            </a:r>
            <a:r>
              <a:rPr lang="el-GR" sz="1800" dirty="0">
                <a:latin typeface="Calibri" panose="020F0502020204030204" pitchFamily="34" charset="0"/>
                <a:cs typeface="Calibri" panose="020F0502020204030204" pitchFamily="34" charset="0"/>
              </a:rPr>
              <a:t>Π2 = </a:t>
            </a:r>
            <a:r>
              <a:rPr lang="el-GR" sz="1800" dirty="0" smtClean="0">
                <a:latin typeface="Calibri" panose="020F0502020204030204" pitchFamily="34" charset="0"/>
                <a:cs typeface="Calibri" panose="020F0502020204030204" pitchFamily="34" charset="0"/>
              </a:rPr>
              <a:t>20</a:t>
            </a:r>
            <a:r>
              <a:rPr lang="en-US" sz="1800" dirty="0" smtClean="0">
                <a:latin typeface="Calibri" panose="020F0502020204030204" pitchFamily="34" charset="0"/>
                <a:cs typeface="Calibri" panose="020F0502020204030204" pitchFamily="34" charset="0"/>
              </a:rPr>
              <a:t>, </a:t>
            </a:r>
            <a:r>
              <a:rPr lang="el-GR" sz="1800" dirty="0" smtClean="0">
                <a:latin typeface="Calibri" panose="020F0502020204030204" pitchFamily="34" charset="0"/>
                <a:cs typeface="Calibri" panose="020F0502020204030204" pitchFamily="34" charset="0"/>
              </a:rPr>
              <a:t>Κατάστημα </a:t>
            </a:r>
            <a:r>
              <a:rPr lang="el-GR" sz="1800" dirty="0">
                <a:latin typeface="Calibri" panose="020F0502020204030204" pitchFamily="34" charset="0"/>
                <a:cs typeface="Calibri" panose="020F0502020204030204" pitchFamily="34" charset="0"/>
              </a:rPr>
              <a:t>Π3 = 30</a:t>
            </a:r>
          </a:p>
          <a:p>
            <a:r>
              <a:rPr lang="el-GR" sz="1800" dirty="0">
                <a:latin typeface="Calibri" panose="020F0502020204030204" pitchFamily="34" charset="0"/>
                <a:cs typeface="Calibri" panose="020F0502020204030204" pitchFamily="34" charset="0"/>
              </a:rPr>
              <a:t>Πίνακας Κόστους Μεταφοράς (</a:t>
            </a:r>
            <a:r>
              <a:rPr lang="el-GR" sz="1800" dirty="0" err="1">
                <a:latin typeface="Calibri" panose="020F0502020204030204" pitchFamily="34" charset="0"/>
                <a:cs typeface="Calibri" panose="020F0502020204030204" pitchFamily="34" charset="0"/>
              </a:rPr>
              <a:t>Cᵢⱼ</a:t>
            </a:r>
            <a:r>
              <a:rPr lang="el-GR" sz="1800" dirty="0">
                <a:latin typeface="Calibri" panose="020F0502020204030204" pitchFamily="34" charset="0"/>
                <a:cs typeface="Calibri" panose="020F0502020204030204" pitchFamily="34" charset="0"/>
              </a:rPr>
              <a:t>):</a:t>
            </a:r>
          </a:p>
          <a:p>
            <a:endParaRPr lang="el-GR" dirty="0"/>
          </a:p>
        </p:txBody>
      </p:sp>
      <p:graphicFrame>
        <p:nvGraphicFramePr>
          <p:cNvPr id="4" name="Πίνακας 3"/>
          <p:cNvGraphicFramePr>
            <a:graphicFrameLocks noGrp="1"/>
          </p:cNvGraphicFramePr>
          <p:nvPr>
            <p:extLst>
              <p:ext uri="{D42A27DB-BD31-4B8C-83A1-F6EECF244321}">
                <p14:modId xmlns:p14="http://schemas.microsoft.com/office/powerpoint/2010/main" xmlns="" val="3029761121"/>
              </p:ext>
            </p:extLst>
          </p:nvPr>
        </p:nvGraphicFramePr>
        <p:xfrm>
          <a:off x="1547664" y="2348880"/>
          <a:ext cx="5041264" cy="1250315"/>
        </p:xfrm>
        <a:graphic>
          <a:graphicData uri="http://schemas.openxmlformats.org/drawingml/2006/table">
            <a:tbl>
              <a:tblPr firstRow="1" firstCol="1" bandRow="1">
                <a:tableStyleId>{5C22544A-7EE6-4342-B048-85BDC9FD1C3A}</a:tableStyleId>
              </a:tblPr>
              <a:tblGrid>
                <a:gridCol w="1260316"/>
                <a:gridCol w="1260316"/>
                <a:gridCol w="1260316"/>
                <a:gridCol w="1260316"/>
              </a:tblGrid>
              <a:tr h="308610">
                <a:tc>
                  <a:txBody>
                    <a:bodyPr/>
                    <a:lstStyle/>
                    <a:p>
                      <a:pPr>
                        <a:lnSpc>
                          <a:spcPct val="115000"/>
                        </a:lnSpc>
                      </a:pPr>
                      <a:endParaRPr lang="el-GR" sz="1100" dirty="0">
                        <a:effectLst/>
                        <a:latin typeface="Calibri"/>
                        <a:cs typeface="Times New Roman"/>
                      </a:endParaRPr>
                    </a:p>
                  </a:txBody>
                  <a:tcPr marL="9525" marR="9525" marT="9525" marB="9525" anchor="ctr"/>
                </a:tc>
                <a:tc>
                  <a:txBody>
                    <a:bodyPr/>
                    <a:lstStyle/>
                    <a:p>
                      <a:pPr algn="ctr">
                        <a:lnSpc>
                          <a:spcPct val="115000"/>
                        </a:lnSpc>
                        <a:spcAft>
                          <a:spcPts val="1000"/>
                        </a:spcAft>
                      </a:pPr>
                      <a:r>
                        <a:rPr lang="el-GR" sz="1200" dirty="0">
                          <a:effectLst/>
                        </a:rPr>
                        <a:t>Π1</a:t>
                      </a:r>
                      <a:endParaRPr lang="el-GR" sz="1100" dirty="0">
                        <a:effectLst/>
                        <a:latin typeface="Calibri"/>
                        <a:ea typeface="Calibri"/>
                        <a:cs typeface="Times New Roman"/>
                      </a:endParaRPr>
                    </a:p>
                  </a:txBody>
                  <a:tcPr marL="9525" marR="9525" marT="9525" marB="9525" anchor="ctr"/>
                </a:tc>
                <a:tc>
                  <a:txBody>
                    <a:bodyPr/>
                    <a:lstStyle/>
                    <a:p>
                      <a:pPr algn="ctr">
                        <a:lnSpc>
                          <a:spcPct val="115000"/>
                        </a:lnSpc>
                        <a:spcAft>
                          <a:spcPts val="1000"/>
                        </a:spcAft>
                      </a:pPr>
                      <a:r>
                        <a:rPr lang="el-GR" sz="1200">
                          <a:effectLst/>
                        </a:rPr>
                        <a:t>Π2</a:t>
                      </a:r>
                      <a:endParaRPr lang="el-GR" sz="1100">
                        <a:effectLst/>
                        <a:latin typeface="Calibri"/>
                        <a:ea typeface="Calibri"/>
                        <a:cs typeface="Times New Roman"/>
                      </a:endParaRPr>
                    </a:p>
                  </a:txBody>
                  <a:tcPr marL="9525" marR="9525" marT="9525" marB="9525" anchor="ctr"/>
                </a:tc>
                <a:tc>
                  <a:txBody>
                    <a:bodyPr/>
                    <a:lstStyle/>
                    <a:p>
                      <a:pPr algn="ctr">
                        <a:lnSpc>
                          <a:spcPct val="115000"/>
                        </a:lnSpc>
                        <a:spcAft>
                          <a:spcPts val="1000"/>
                        </a:spcAft>
                      </a:pPr>
                      <a:r>
                        <a:rPr lang="el-GR" sz="1200">
                          <a:effectLst/>
                        </a:rPr>
                        <a:t>Π3</a:t>
                      </a:r>
                      <a:endParaRPr lang="el-GR" sz="1100">
                        <a:effectLst/>
                        <a:latin typeface="Calibri"/>
                        <a:ea typeface="Calibri"/>
                        <a:cs typeface="Times New Roman"/>
                      </a:endParaRPr>
                    </a:p>
                  </a:txBody>
                  <a:tcPr marL="9525" marR="9525" marT="9525" marB="9525" anchor="ctr"/>
                </a:tc>
              </a:tr>
              <a:tr h="313690">
                <a:tc>
                  <a:txBody>
                    <a:bodyPr/>
                    <a:lstStyle/>
                    <a:p>
                      <a:pPr>
                        <a:lnSpc>
                          <a:spcPct val="115000"/>
                        </a:lnSpc>
                        <a:spcAft>
                          <a:spcPts val="1000"/>
                        </a:spcAft>
                      </a:pPr>
                      <a:r>
                        <a:rPr lang="el-GR" sz="1200">
                          <a:effectLst/>
                        </a:rPr>
                        <a:t>Α</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l-GR" sz="1200" dirty="0">
                          <a:effectLst/>
                        </a:rPr>
                        <a:t>3</a:t>
                      </a:r>
                      <a:endParaRPr lang="el-GR" sz="1100" dirty="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l-GR" sz="1200">
                          <a:effectLst/>
                        </a:rPr>
                        <a:t>2</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l-GR" sz="1200">
                          <a:effectLst/>
                        </a:rPr>
                        <a:t>6</a:t>
                      </a:r>
                      <a:endParaRPr lang="el-GR" sz="1100">
                        <a:effectLst/>
                        <a:latin typeface="Calibri"/>
                        <a:ea typeface="Calibri"/>
                        <a:cs typeface="Times New Roman"/>
                      </a:endParaRPr>
                    </a:p>
                  </a:txBody>
                  <a:tcPr marL="9525" marR="9525" marT="9525" marB="9525" anchor="ctr"/>
                </a:tc>
              </a:tr>
              <a:tr h="308610">
                <a:tc>
                  <a:txBody>
                    <a:bodyPr/>
                    <a:lstStyle/>
                    <a:p>
                      <a:pPr>
                        <a:lnSpc>
                          <a:spcPct val="115000"/>
                        </a:lnSpc>
                        <a:spcAft>
                          <a:spcPts val="1000"/>
                        </a:spcAft>
                      </a:pPr>
                      <a:r>
                        <a:rPr lang="el-GR" sz="1200">
                          <a:effectLst/>
                        </a:rPr>
                        <a:t>Β</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l-GR" sz="1200">
                          <a:effectLst/>
                        </a:rPr>
                        <a:t>4</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l-GR" sz="1200">
                          <a:effectLst/>
                        </a:rPr>
                        <a:t>3</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l-GR" sz="1200">
                          <a:effectLst/>
                        </a:rPr>
                        <a:t>1</a:t>
                      </a:r>
                      <a:endParaRPr lang="el-GR" sz="1100">
                        <a:effectLst/>
                        <a:latin typeface="Calibri"/>
                        <a:ea typeface="Calibri"/>
                        <a:cs typeface="Times New Roman"/>
                      </a:endParaRPr>
                    </a:p>
                  </a:txBody>
                  <a:tcPr marL="9525" marR="9525" marT="9525" marB="9525" anchor="ctr"/>
                </a:tc>
              </a:tr>
              <a:tr h="319405">
                <a:tc>
                  <a:txBody>
                    <a:bodyPr/>
                    <a:lstStyle/>
                    <a:p>
                      <a:pPr>
                        <a:lnSpc>
                          <a:spcPct val="115000"/>
                        </a:lnSpc>
                        <a:spcAft>
                          <a:spcPts val="1000"/>
                        </a:spcAft>
                      </a:pPr>
                      <a:r>
                        <a:rPr lang="el-GR" sz="1200">
                          <a:effectLst/>
                        </a:rPr>
                        <a:t>Γ</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l-GR" sz="1200" dirty="0">
                          <a:effectLst/>
                        </a:rPr>
                        <a:t>5</a:t>
                      </a:r>
                      <a:endParaRPr lang="el-GR" sz="1100" dirty="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l-GR" sz="1200">
                          <a:effectLst/>
                        </a:rPr>
                        <a:t>7</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1000"/>
                        </a:spcAft>
                      </a:pPr>
                      <a:r>
                        <a:rPr lang="el-GR" sz="1200" dirty="0">
                          <a:effectLst/>
                        </a:rPr>
                        <a:t>4</a:t>
                      </a:r>
                      <a:endParaRPr lang="el-GR" sz="1100" dirty="0">
                        <a:effectLst/>
                        <a:latin typeface="Calibri"/>
                        <a:ea typeface="Calibri"/>
                        <a:cs typeface="Times New Roman"/>
                      </a:endParaRPr>
                    </a:p>
                  </a:txBody>
                  <a:tcPr marL="9525" marR="9525" marT="9525" marB="9525" anchor="ctr"/>
                </a:tc>
              </a:tr>
            </a:tbl>
          </a:graphicData>
        </a:graphic>
      </p:graphicFrame>
      <p:sp>
        <p:nvSpPr>
          <p:cNvPr id="5" name="Ορθογώνιο 4"/>
          <p:cNvSpPr/>
          <p:nvPr/>
        </p:nvSpPr>
        <p:spPr>
          <a:xfrm>
            <a:off x="736956" y="3717032"/>
            <a:ext cx="7056784" cy="923330"/>
          </a:xfrm>
          <a:prstGeom prst="rect">
            <a:avLst/>
          </a:prstGeom>
        </p:spPr>
        <p:txBody>
          <a:bodyPr wrap="square">
            <a:spAutoFit/>
          </a:bodyPr>
          <a:lstStyle/>
          <a:p>
            <a:r>
              <a:rPr lang="el-GR" u="sng" dirty="0">
                <a:latin typeface="Calibri" panose="020F0502020204030204" pitchFamily="34" charset="0"/>
                <a:cs typeface="Calibri" panose="020F0502020204030204" pitchFamily="34" charset="0"/>
              </a:rPr>
              <a:t>Βήματα </a:t>
            </a:r>
            <a:r>
              <a:rPr lang="el-GR" u="sng" dirty="0" smtClean="0">
                <a:latin typeface="Calibri" panose="020F0502020204030204" pitchFamily="34" charset="0"/>
                <a:cs typeface="Calibri" panose="020F0502020204030204" pitchFamily="34" charset="0"/>
              </a:rPr>
              <a:t>Επίλυσης</a:t>
            </a:r>
            <a:r>
              <a:rPr lang="en-US" u="sng" dirty="0">
                <a:latin typeface="Calibri" panose="020F0502020204030204" pitchFamily="34" charset="0"/>
                <a:cs typeface="Calibri" panose="020F0502020204030204" pitchFamily="34" charset="0"/>
              </a:rPr>
              <a:t>:</a:t>
            </a:r>
            <a:endParaRPr lang="el-GR" dirty="0">
              <a:latin typeface="Calibri" panose="020F0502020204030204" pitchFamily="34" charset="0"/>
              <a:cs typeface="Calibri" panose="020F0502020204030204" pitchFamily="34" charset="0"/>
            </a:endParaRPr>
          </a:p>
          <a:p>
            <a:pPr marL="342900" indent="-342900">
              <a:buClr>
                <a:schemeClr val="tx2"/>
              </a:buClr>
              <a:buFont typeface="+mj-lt"/>
              <a:buAutoNum type="arabicPeriod"/>
            </a:pPr>
            <a:r>
              <a:rPr lang="el-GR" dirty="0" smtClean="0">
                <a:latin typeface="Calibri" panose="020F0502020204030204" pitchFamily="34" charset="0"/>
                <a:cs typeface="Calibri" panose="020F0502020204030204" pitchFamily="34" charset="0"/>
              </a:rPr>
              <a:t>Ορισμός μεταβλητών:</a:t>
            </a:r>
            <a:r>
              <a:rPr lang="en-US" dirty="0" smtClean="0">
                <a:latin typeface="Calibri" panose="020F0502020204030204" pitchFamily="34" charset="0"/>
                <a:cs typeface="Calibri" panose="020F0502020204030204" pitchFamily="34" charset="0"/>
              </a:rPr>
              <a:t> </a:t>
            </a:r>
            <a:r>
              <a:rPr lang="el-GR" dirty="0" err="1" smtClean="0">
                <a:latin typeface="Calibri" panose="020F0502020204030204" pitchFamily="34" charset="0"/>
                <a:cs typeface="Calibri" panose="020F0502020204030204" pitchFamily="34" charset="0"/>
              </a:rPr>
              <a:t>Rᵢ</a:t>
            </a:r>
            <a:r>
              <a:rPr lang="el-GR" dirty="0" smtClean="0">
                <a:latin typeface="Calibri" panose="020F0502020204030204" pitchFamily="34" charset="0"/>
                <a:cs typeface="Calibri" panose="020F0502020204030204" pitchFamily="34" charset="0"/>
              </a:rPr>
              <a:t> </a:t>
            </a:r>
            <a:r>
              <a:rPr lang="el-GR" dirty="0">
                <a:latin typeface="Calibri" panose="020F0502020204030204" pitchFamily="34" charset="0"/>
                <a:cs typeface="Calibri" panose="020F0502020204030204" pitchFamily="34" charset="0"/>
              </a:rPr>
              <a:t>= τιμή για κάθε γραμμή (Α, Β, Γ</a:t>
            </a:r>
            <a:r>
              <a:rPr lang="el-GR" dirty="0" smtClean="0">
                <a:latin typeface="Calibri" panose="020F0502020204030204" pitchFamily="34" charset="0"/>
                <a:cs typeface="Calibri" panose="020F0502020204030204" pitchFamily="34" charset="0"/>
              </a:rPr>
              <a:t>)</a:t>
            </a:r>
            <a:r>
              <a:rPr lang="en-US" dirty="0" smtClean="0">
                <a:latin typeface="Calibri" panose="020F0502020204030204" pitchFamily="34" charset="0"/>
                <a:cs typeface="Calibri" panose="020F0502020204030204" pitchFamily="34" charset="0"/>
              </a:rPr>
              <a:t>, </a:t>
            </a:r>
            <a:r>
              <a:rPr lang="el-GR" dirty="0" err="1" smtClean="0">
                <a:latin typeface="Calibri" panose="020F0502020204030204" pitchFamily="34" charset="0"/>
                <a:cs typeface="Calibri" panose="020F0502020204030204" pitchFamily="34" charset="0"/>
              </a:rPr>
              <a:t>Kⱼ</a:t>
            </a:r>
            <a:r>
              <a:rPr lang="el-GR" dirty="0" smtClean="0">
                <a:latin typeface="Calibri" panose="020F0502020204030204" pitchFamily="34" charset="0"/>
                <a:cs typeface="Calibri" panose="020F0502020204030204" pitchFamily="34" charset="0"/>
              </a:rPr>
              <a:t> </a:t>
            </a:r>
            <a:r>
              <a:rPr lang="el-GR" dirty="0">
                <a:latin typeface="Calibri" panose="020F0502020204030204" pitchFamily="34" charset="0"/>
                <a:cs typeface="Calibri" panose="020F0502020204030204" pitchFamily="34" charset="0"/>
              </a:rPr>
              <a:t>= τιμή για κάθε στήλη (Π1, Π2, Π3</a:t>
            </a:r>
            <a:r>
              <a:rPr lang="el-GR" dirty="0" smtClean="0">
                <a:latin typeface="Calibri" panose="020F0502020204030204" pitchFamily="34" charset="0"/>
                <a:cs typeface="Calibri" panose="020F0502020204030204" pitchFamily="34" charset="0"/>
              </a:rPr>
              <a:t>)</a:t>
            </a:r>
            <a:r>
              <a:rPr lang="en-US" dirty="0" smtClean="0">
                <a:latin typeface="Calibri" panose="020F0502020204030204" pitchFamily="34" charset="0"/>
                <a:cs typeface="Calibri" panose="020F0502020204030204" pitchFamily="34" charset="0"/>
              </a:rPr>
              <a:t>, </a:t>
            </a:r>
            <a:r>
              <a:rPr lang="el-GR" dirty="0" err="1" smtClean="0">
                <a:latin typeface="Calibri" panose="020F0502020204030204" pitchFamily="34" charset="0"/>
                <a:cs typeface="Calibri" panose="020F0502020204030204" pitchFamily="34" charset="0"/>
              </a:rPr>
              <a:t>Cᵢⱼ</a:t>
            </a:r>
            <a:r>
              <a:rPr lang="el-GR" dirty="0" smtClean="0">
                <a:latin typeface="Calibri" panose="020F0502020204030204" pitchFamily="34" charset="0"/>
                <a:cs typeface="Calibri" panose="020F0502020204030204" pitchFamily="34" charset="0"/>
              </a:rPr>
              <a:t> </a:t>
            </a:r>
            <a:r>
              <a:rPr lang="el-GR" dirty="0">
                <a:latin typeface="Calibri" panose="020F0502020204030204" pitchFamily="34" charset="0"/>
                <a:cs typeface="Calibri" panose="020F0502020204030204" pitchFamily="34" charset="0"/>
              </a:rPr>
              <a:t>= κόστος μεταφοράς από i σε j</a:t>
            </a:r>
          </a:p>
        </p:txBody>
      </p:sp>
      <p:sp>
        <p:nvSpPr>
          <p:cNvPr id="6" name="Ορθογώνιο 5"/>
          <p:cNvSpPr/>
          <p:nvPr/>
        </p:nvSpPr>
        <p:spPr>
          <a:xfrm>
            <a:off x="736956" y="4509120"/>
            <a:ext cx="7344816" cy="2031325"/>
          </a:xfrm>
          <a:prstGeom prst="rect">
            <a:avLst/>
          </a:prstGeom>
        </p:spPr>
        <p:txBody>
          <a:bodyPr wrap="square">
            <a:spAutoFit/>
          </a:bodyPr>
          <a:lstStyle/>
          <a:p>
            <a:pPr marL="342900" indent="-342900">
              <a:buClr>
                <a:schemeClr val="tx2"/>
              </a:buClr>
              <a:buFont typeface="+mj-lt"/>
              <a:buAutoNum type="arabicPeriod" startAt="2"/>
            </a:pPr>
            <a:r>
              <a:rPr lang="el-GR" dirty="0" smtClean="0">
                <a:latin typeface="Calibri" panose="020F0502020204030204" pitchFamily="34" charset="0"/>
                <a:cs typeface="Calibri" panose="020F0502020204030204" pitchFamily="34" charset="0"/>
              </a:rPr>
              <a:t>Αρχική </a:t>
            </a:r>
            <a:r>
              <a:rPr lang="el-GR" dirty="0">
                <a:latin typeface="Calibri" panose="020F0502020204030204" pitchFamily="34" charset="0"/>
                <a:cs typeface="Calibri" panose="020F0502020204030204" pitchFamily="34" charset="0"/>
              </a:rPr>
              <a:t>Βασική Εφικτή Λύση με Βορειοδυτική </a:t>
            </a:r>
            <a:r>
              <a:rPr lang="el-GR" dirty="0" smtClean="0">
                <a:latin typeface="Calibri" panose="020F0502020204030204" pitchFamily="34" charset="0"/>
                <a:cs typeface="Calibri" panose="020F0502020204030204" pitchFamily="34" charset="0"/>
              </a:rPr>
              <a:t>Γωνία:</a:t>
            </a:r>
            <a:r>
              <a:rPr lang="en-US" dirty="0" smtClean="0">
                <a:latin typeface="Calibri" panose="020F0502020204030204" pitchFamily="34" charset="0"/>
                <a:cs typeface="Calibri" panose="020F0502020204030204" pitchFamily="34" charset="0"/>
              </a:rPr>
              <a:t> </a:t>
            </a:r>
            <a:r>
              <a:rPr lang="el-GR" dirty="0" smtClean="0">
                <a:latin typeface="Calibri" panose="020F0502020204030204" pitchFamily="34" charset="0"/>
                <a:cs typeface="Calibri" panose="020F0502020204030204" pitchFamily="34" charset="0"/>
              </a:rPr>
              <a:t>ξεκινώντας </a:t>
            </a:r>
            <a:r>
              <a:rPr lang="el-GR" dirty="0">
                <a:latin typeface="Calibri" panose="020F0502020204030204" pitchFamily="34" charset="0"/>
                <a:cs typeface="Calibri" panose="020F0502020204030204" pitchFamily="34" charset="0"/>
              </a:rPr>
              <a:t>από πάνω αριστερά, βάζοντας ποσότητες, αφαιρώντας από προσφορά/ζήτηση κ.λπ.)</a:t>
            </a:r>
          </a:p>
          <a:p>
            <a:pPr marL="342900" indent="-342900">
              <a:buClr>
                <a:schemeClr val="tx2"/>
              </a:buClr>
              <a:buFont typeface="+mj-lt"/>
              <a:buAutoNum type="arabicPeriod" startAt="3"/>
            </a:pPr>
            <a:r>
              <a:rPr lang="el-GR" dirty="0" smtClean="0">
                <a:latin typeface="Calibri" panose="020F0502020204030204" pitchFamily="34" charset="0"/>
                <a:cs typeface="Calibri" panose="020F0502020204030204" pitchFamily="34" charset="0"/>
              </a:rPr>
              <a:t>Υπολογισμός </a:t>
            </a:r>
            <a:r>
              <a:rPr lang="el-GR" dirty="0" err="1">
                <a:latin typeface="Calibri" panose="020F0502020204030204" pitchFamily="34" charset="0"/>
                <a:cs typeface="Calibri" panose="020F0502020204030204" pitchFamily="34" charset="0"/>
              </a:rPr>
              <a:t>Rᵢ</a:t>
            </a:r>
            <a:r>
              <a:rPr lang="el-GR" dirty="0">
                <a:latin typeface="Calibri" panose="020F0502020204030204" pitchFamily="34" charset="0"/>
                <a:cs typeface="Calibri" panose="020F0502020204030204" pitchFamily="34" charset="0"/>
              </a:rPr>
              <a:t> και </a:t>
            </a:r>
            <a:r>
              <a:rPr lang="el-GR" dirty="0" err="1">
                <a:latin typeface="Calibri" panose="020F0502020204030204" pitchFamily="34" charset="0"/>
                <a:cs typeface="Calibri" panose="020F0502020204030204" pitchFamily="34" charset="0"/>
              </a:rPr>
              <a:t>Kⱼ</a:t>
            </a:r>
            <a:r>
              <a:rPr lang="el-GR" dirty="0">
                <a:latin typeface="Calibri" panose="020F0502020204030204" pitchFamily="34" charset="0"/>
                <a:cs typeface="Calibri" panose="020F0502020204030204" pitchFamily="34" charset="0"/>
              </a:rPr>
              <a:t> από τα βασικά κελιά (όσα έχουν ποσότητα</a:t>
            </a:r>
            <a:r>
              <a:rPr lang="el-GR" dirty="0" smtClean="0">
                <a:latin typeface="Calibri" panose="020F0502020204030204" pitchFamily="34" charset="0"/>
                <a:cs typeface="Calibri" panose="020F0502020204030204" pitchFamily="34" charset="0"/>
              </a:rPr>
              <a:t>)</a:t>
            </a:r>
            <a:endParaRPr lang="el-GR" dirty="0">
              <a:latin typeface="Calibri" panose="020F0502020204030204" pitchFamily="34" charset="0"/>
              <a:cs typeface="Calibri" panose="020F0502020204030204" pitchFamily="34" charset="0"/>
            </a:endParaRPr>
          </a:p>
          <a:p>
            <a:pPr marL="342900" indent="-342900">
              <a:buClr>
                <a:schemeClr val="tx2"/>
              </a:buClr>
              <a:buFont typeface="+mj-lt"/>
              <a:buAutoNum type="arabicPeriod" startAt="4"/>
            </a:pPr>
            <a:r>
              <a:rPr lang="el-GR" dirty="0" smtClean="0">
                <a:latin typeface="Calibri" panose="020F0502020204030204" pitchFamily="34" charset="0"/>
                <a:cs typeface="Calibri" panose="020F0502020204030204" pitchFamily="34" charset="0"/>
              </a:rPr>
              <a:t>Υπολογισμός </a:t>
            </a:r>
            <a:r>
              <a:rPr lang="el-GR" dirty="0">
                <a:latin typeface="Calibri" panose="020F0502020204030204" pitchFamily="34" charset="0"/>
                <a:cs typeface="Calibri" panose="020F0502020204030204" pitchFamily="34" charset="0"/>
              </a:rPr>
              <a:t>Δείκτη Βελτίωσης </a:t>
            </a:r>
            <a:r>
              <a:rPr lang="el-GR" dirty="0" err="1" smtClean="0">
                <a:latin typeface="Calibri" panose="020F0502020204030204" pitchFamily="34" charset="0"/>
                <a:cs typeface="Calibri" panose="020F0502020204030204" pitchFamily="34" charset="0"/>
              </a:rPr>
              <a:t>Δᵢⱼ</a:t>
            </a:r>
            <a:r>
              <a:rPr lang="el-GR" dirty="0" smtClean="0">
                <a:latin typeface="Calibri" panose="020F0502020204030204" pitchFamily="34" charset="0"/>
                <a:cs typeface="Calibri" panose="020F0502020204030204" pitchFamily="34" charset="0"/>
              </a:rPr>
              <a:t>:</a:t>
            </a:r>
            <a:r>
              <a:rPr lang="en-US" dirty="0" smtClean="0">
                <a:latin typeface="Calibri" panose="020F0502020204030204" pitchFamily="34" charset="0"/>
                <a:cs typeface="Calibri" panose="020F0502020204030204" pitchFamily="34" charset="0"/>
              </a:rPr>
              <a:t> </a:t>
            </a:r>
            <a:r>
              <a:rPr lang="el-GR" dirty="0" smtClean="0">
                <a:latin typeface="Calibri" panose="020F0502020204030204" pitchFamily="34" charset="0"/>
                <a:cs typeface="Calibri" panose="020F0502020204030204" pitchFamily="34" charset="0"/>
              </a:rPr>
              <a:t>Για </a:t>
            </a:r>
            <a:r>
              <a:rPr lang="el-GR" dirty="0">
                <a:latin typeface="Calibri" panose="020F0502020204030204" pitchFamily="34" charset="0"/>
                <a:cs typeface="Calibri" panose="020F0502020204030204" pitchFamily="34" charset="0"/>
              </a:rPr>
              <a:t>όλα τα μη βασικά κελιά, </a:t>
            </a:r>
            <a:r>
              <a:rPr lang="el-GR" dirty="0" smtClean="0">
                <a:latin typeface="Calibri" panose="020F0502020204030204" pitchFamily="34" charset="0"/>
                <a:cs typeface="Calibri" panose="020F0502020204030204" pitchFamily="34" charset="0"/>
              </a:rPr>
              <a:t>υπολογίζεις:</a:t>
            </a:r>
            <a:r>
              <a:rPr lang="en-US" dirty="0" smtClean="0">
                <a:latin typeface="Calibri" panose="020F0502020204030204" pitchFamily="34" charset="0"/>
                <a:cs typeface="Calibri" panose="020F0502020204030204" pitchFamily="34" charset="0"/>
              </a:rPr>
              <a:t> </a:t>
            </a:r>
            <a:r>
              <a:rPr lang="el-GR" dirty="0" err="1" smtClean="0">
                <a:latin typeface="Calibri" panose="020F0502020204030204" pitchFamily="34" charset="0"/>
                <a:cs typeface="Calibri" panose="020F0502020204030204" pitchFamily="34" charset="0"/>
              </a:rPr>
              <a:t>Δᵢⱼ</a:t>
            </a:r>
            <a:r>
              <a:rPr lang="el-GR" dirty="0" smtClean="0">
                <a:latin typeface="Calibri" panose="020F0502020204030204" pitchFamily="34" charset="0"/>
                <a:cs typeface="Calibri" panose="020F0502020204030204" pitchFamily="34" charset="0"/>
              </a:rPr>
              <a:t> </a:t>
            </a:r>
            <a:r>
              <a:rPr lang="el-GR" dirty="0">
                <a:latin typeface="Calibri" panose="020F0502020204030204" pitchFamily="34" charset="0"/>
                <a:cs typeface="Calibri" panose="020F0502020204030204" pitchFamily="34" charset="0"/>
              </a:rPr>
              <a:t>= </a:t>
            </a:r>
            <a:r>
              <a:rPr lang="el-GR" dirty="0" err="1">
                <a:latin typeface="Calibri" panose="020F0502020204030204" pitchFamily="34" charset="0"/>
                <a:cs typeface="Calibri" panose="020F0502020204030204" pitchFamily="34" charset="0"/>
              </a:rPr>
              <a:t>Cᵢⱼ</a:t>
            </a:r>
            <a:r>
              <a:rPr lang="el-GR" dirty="0">
                <a:latin typeface="Calibri" panose="020F0502020204030204" pitchFamily="34" charset="0"/>
                <a:cs typeface="Calibri" panose="020F0502020204030204" pitchFamily="34" charset="0"/>
              </a:rPr>
              <a:t> - (</a:t>
            </a:r>
            <a:r>
              <a:rPr lang="el-GR" dirty="0" err="1">
                <a:latin typeface="Calibri" panose="020F0502020204030204" pitchFamily="34" charset="0"/>
                <a:cs typeface="Calibri" panose="020F0502020204030204" pitchFamily="34" charset="0"/>
              </a:rPr>
              <a:t>Rᵢ</a:t>
            </a:r>
            <a:r>
              <a:rPr lang="el-GR" dirty="0">
                <a:latin typeface="Calibri" panose="020F0502020204030204" pitchFamily="34" charset="0"/>
                <a:cs typeface="Calibri" panose="020F0502020204030204" pitchFamily="34" charset="0"/>
              </a:rPr>
              <a:t> + </a:t>
            </a:r>
            <a:r>
              <a:rPr lang="el-GR" dirty="0" err="1" smtClean="0">
                <a:latin typeface="Calibri" panose="020F0502020204030204" pitchFamily="34" charset="0"/>
                <a:cs typeface="Calibri" panose="020F0502020204030204" pitchFamily="34" charset="0"/>
              </a:rPr>
              <a:t>Kⱼ</a:t>
            </a:r>
            <a:r>
              <a:rPr lang="el-GR" dirty="0" smtClean="0">
                <a:latin typeface="Calibri" panose="020F0502020204030204" pitchFamily="34" charset="0"/>
                <a:cs typeface="Calibri" panose="020F0502020204030204" pitchFamily="34" charset="0"/>
              </a:rPr>
              <a:t>)</a:t>
            </a:r>
            <a:r>
              <a:rPr lang="en-US" dirty="0" smtClean="0">
                <a:latin typeface="Calibri" panose="020F0502020204030204" pitchFamily="34" charset="0"/>
                <a:cs typeface="Calibri" panose="020F0502020204030204" pitchFamily="34" charset="0"/>
              </a:rPr>
              <a:t> </a:t>
            </a:r>
            <a:r>
              <a:rPr lang="el-GR" dirty="0" smtClean="0">
                <a:latin typeface="Calibri" panose="020F0502020204030204" pitchFamily="34" charset="0"/>
                <a:cs typeface="Calibri" panose="020F0502020204030204" pitchFamily="34" charset="0"/>
              </a:rPr>
              <a:t>και ελέγχεις:</a:t>
            </a:r>
            <a:r>
              <a:rPr lang="en-US" dirty="0" smtClean="0">
                <a:latin typeface="Calibri" panose="020F0502020204030204" pitchFamily="34" charset="0"/>
                <a:cs typeface="Calibri" panose="020F0502020204030204" pitchFamily="34" charset="0"/>
              </a:rPr>
              <a:t> </a:t>
            </a:r>
            <a:r>
              <a:rPr lang="el-GR" dirty="0" smtClean="0">
                <a:latin typeface="Calibri" panose="020F0502020204030204" pitchFamily="34" charset="0"/>
                <a:cs typeface="Calibri" panose="020F0502020204030204" pitchFamily="34" charset="0"/>
              </a:rPr>
              <a:t>Αν </a:t>
            </a:r>
            <a:r>
              <a:rPr lang="el-GR" dirty="0">
                <a:latin typeface="Calibri" panose="020F0502020204030204" pitchFamily="34" charset="0"/>
                <a:cs typeface="Calibri" panose="020F0502020204030204" pitchFamily="34" charset="0"/>
              </a:rPr>
              <a:t>όλοι οι Δ ≥ 0 → η λύση είναι </a:t>
            </a:r>
            <a:r>
              <a:rPr lang="el-GR" dirty="0" smtClean="0">
                <a:latin typeface="Calibri" panose="020F0502020204030204" pitchFamily="34" charset="0"/>
                <a:cs typeface="Calibri" panose="020F0502020204030204" pitchFamily="34" charset="0"/>
              </a:rPr>
              <a:t>βέλτιστη</a:t>
            </a:r>
            <a:r>
              <a:rPr lang="en-US" dirty="0" smtClean="0">
                <a:latin typeface="Calibri" panose="020F0502020204030204" pitchFamily="34" charset="0"/>
                <a:cs typeface="Calibri" panose="020F0502020204030204" pitchFamily="34" charset="0"/>
              </a:rPr>
              <a:t>, </a:t>
            </a:r>
            <a:r>
              <a:rPr lang="el-GR" dirty="0" smtClean="0">
                <a:latin typeface="Calibri" panose="020F0502020204030204" pitchFamily="34" charset="0"/>
                <a:cs typeface="Calibri" panose="020F0502020204030204" pitchFamily="34" charset="0"/>
              </a:rPr>
              <a:t>Αν </a:t>
            </a:r>
            <a:r>
              <a:rPr lang="el-GR" dirty="0">
                <a:latin typeface="Calibri" panose="020F0502020204030204" pitchFamily="34" charset="0"/>
                <a:cs typeface="Calibri" panose="020F0502020204030204" pitchFamily="34" charset="0"/>
              </a:rPr>
              <a:t>κάποιος Δ &lt; 0 → κάνεις βελτίωση (εναλλαγές)</a:t>
            </a:r>
          </a:p>
        </p:txBody>
      </p:sp>
    </p:spTree>
    <p:extLst>
      <p:ext uri="{BB962C8B-B14F-4D97-AF65-F5344CB8AC3E}">
        <p14:creationId xmlns:p14="http://schemas.microsoft.com/office/powerpoint/2010/main" xmlns="" val="39626865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title"/>
          </p:nvPr>
        </p:nvSpPr>
        <p:spPr>
          <a:xfrm>
            <a:off x="457200" y="320040"/>
            <a:ext cx="7239000" cy="660688"/>
          </a:xfrm>
        </p:spPr>
        <p:txBody>
          <a:bodyPr>
            <a:normAutofit/>
          </a:bodyPr>
          <a:lstStyle/>
          <a:p>
            <a:pPr algn="ctr"/>
            <a:r>
              <a:rPr lang="el-GR" sz="3000" dirty="0" smtClean="0"/>
              <a:t>ασκηση </a:t>
            </a:r>
            <a:r>
              <a:rPr lang="en-US" sz="3000" dirty="0" smtClean="0"/>
              <a:t>Hungarian</a:t>
            </a:r>
            <a:endParaRPr lang="el-GR" sz="3000" dirty="0"/>
          </a:p>
        </p:txBody>
      </p:sp>
      <p:sp>
        <p:nvSpPr>
          <p:cNvPr id="3" name="Θέση περιεχομένου 2"/>
          <p:cNvSpPr>
            <a:spLocks noGrp="1"/>
          </p:cNvSpPr>
          <p:nvPr>
            <p:ph idx="1"/>
          </p:nvPr>
        </p:nvSpPr>
        <p:spPr>
          <a:xfrm>
            <a:off x="457200" y="1124744"/>
            <a:ext cx="7239000" cy="5330992"/>
          </a:xfrm>
        </p:spPr>
        <p:txBody>
          <a:bodyPr/>
          <a:lstStyle/>
          <a:p>
            <a:r>
              <a:rPr lang="el-GR" sz="1800" dirty="0" smtClean="0">
                <a:latin typeface="Calibri" panose="020F0502020204030204" pitchFamily="34" charset="0"/>
                <a:cs typeface="Calibri" panose="020F0502020204030204" pitchFamily="34" charset="0"/>
              </a:rPr>
              <a:t>Έχουμε </a:t>
            </a:r>
            <a:r>
              <a:rPr lang="el-GR" sz="1800" dirty="0">
                <a:latin typeface="Calibri" panose="020F0502020204030204" pitchFamily="34" charset="0"/>
                <a:cs typeface="Calibri" panose="020F0502020204030204" pitchFamily="34" charset="0"/>
              </a:rPr>
              <a:t>4 υπαλλήλους και 4 έργα. Θέλουμε να αναθέσουμε σε κάθε υπάλληλο ένα έργο με το μικρότερο δυνατό κόστος. Ο πίνακας κόστους έχει ως εξής:</a:t>
            </a:r>
          </a:p>
          <a:p>
            <a:endParaRPr lang="el-GR" dirty="0"/>
          </a:p>
        </p:txBody>
      </p:sp>
      <p:graphicFrame>
        <p:nvGraphicFramePr>
          <p:cNvPr id="4" name="Πίνακας 3"/>
          <p:cNvGraphicFramePr>
            <a:graphicFrameLocks noGrp="1"/>
          </p:cNvGraphicFramePr>
          <p:nvPr>
            <p:extLst>
              <p:ext uri="{D42A27DB-BD31-4B8C-83A1-F6EECF244321}">
                <p14:modId xmlns:p14="http://schemas.microsoft.com/office/powerpoint/2010/main" xmlns="" val="2521737474"/>
              </p:ext>
            </p:extLst>
          </p:nvPr>
        </p:nvGraphicFramePr>
        <p:xfrm>
          <a:off x="1547664" y="2204864"/>
          <a:ext cx="5073015" cy="1146810"/>
        </p:xfrm>
        <a:graphic>
          <a:graphicData uri="http://schemas.openxmlformats.org/drawingml/2006/table">
            <a:tbl>
              <a:tblPr firstRow="1" firstCol="1" bandRow="1">
                <a:tableStyleId>{5C22544A-7EE6-4342-B048-85BDC9FD1C3A}</a:tableStyleId>
              </a:tblPr>
              <a:tblGrid>
                <a:gridCol w="1014603"/>
                <a:gridCol w="1014603"/>
                <a:gridCol w="1014603"/>
                <a:gridCol w="1014603"/>
                <a:gridCol w="1014603"/>
              </a:tblGrid>
              <a:tr h="198120">
                <a:tc>
                  <a:txBody>
                    <a:bodyPr/>
                    <a:lstStyle/>
                    <a:p>
                      <a:pPr>
                        <a:lnSpc>
                          <a:spcPct val="115000"/>
                        </a:lnSpc>
                      </a:pPr>
                      <a:endParaRPr lang="el-GR" sz="1100" dirty="0">
                        <a:effectLst/>
                        <a:latin typeface="Calibri"/>
                        <a:cs typeface="Times New Roman"/>
                      </a:endParaRPr>
                    </a:p>
                  </a:txBody>
                  <a:tcPr marL="9525" marR="9525" marT="9525" marB="9525" anchor="ctr"/>
                </a:tc>
                <a:tc>
                  <a:txBody>
                    <a:bodyPr/>
                    <a:lstStyle/>
                    <a:p>
                      <a:pPr algn="ctr">
                        <a:lnSpc>
                          <a:spcPct val="115000"/>
                        </a:lnSpc>
                        <a:spcAft>
                          <a:spcPts val="0"/>
                        </a:spcAft>
                      </a:pPr>
                      <a:r>
                        <a:rPr lang="el-GR" sz="1200">
                          <a:effectLst/>
                        </a:rPr>
                        <a:t>Ε1</a:t>
                      </a:r>
                      <a:endParaRPr lang="el-GR" sz="1100">
                        <a:effectLst/>
                        <a:latin typeface="Calibri"/>
                        <a:ea typeface="Calibri"/>
                        <a:cs typeface="Times New Roman"/>
                      </a:endParaRPr>
                    </a:p>
                  </a:txBody>
                  <a:tcPr marL="9525" marR="9525" marT="9525" marB="9525" anchor="ctr"/>
                </a:tc>
                <a:tc>
                  <a:txBody>
                    <a:bodyPr/>
                    <a:lstStyle/>
                    <a:p>
                      <a:pPr algn="ctr">
                        <a:lnSpc>
                          <a:spcPct val="115000"/>
                        </a:lnSpc>
                        <a:spcAft>
                          <a:spcPts val="0"/>
                        </a:spcAft>
                      </a:pPr>
                      <a:r>
                        <a:rPr lang="el-GR" sz="1200">
                          <a:effectLst/>
                        </a:rPr>
                        <a:t>Ε2</a:t>
                      </a:r>
                      <a:endParaRPr lang="el-GR" sz="1100">
                        <a:effectLst/>
                        <a:latin typeface="Calibri"/>
                        <a:ea typeface="Calibri"/>
                        <a:cs typeface="Times New Roman"/>
                      </a:endParaRPr>
                    </a:p>
                  </a:txBody>
                  <a:tcPr marL="9525" marR="9525" marT="9525" marB="9525" anchor="ctr"/>
                </a:tc>
                <a:tc>
                  <a:txBody>
                    <a:bodyPr/>
                    <a:lstStyle/>
                    <a:p>
                      <a:pPr algn="ctr">
                        <a:lnSpc>
                          <a:spcPct val="115000"/>
                        </a:lnSpc>
                        <a:spcAft>
                          <a:spcPts val="0"/>
                        </a:spcAft>
                      </a:pPr>
                      <a:r>
                        <a:rPr lang="el-GR" sz="1200">
                          <a:effectLst/>
                        </a:rPr>
                        <a:t>Ε3</a:t>
                      </a:r>
                      <a:endParaRPr lang="el-GR" sz="1100">
                        <a:effectLst/>
                        <a:latin typeface="Calibri"/>
                        <a:ea typeface="Calibri"/>
                        <a:cs typeface="Times New Roman"/>
                      </a:endParaRPr>
                    </a:p>
                  </a:txBody>
                  <a:tcPr marL="9525" marR="9525" marT="9525" marB="9525" anchor="ctr"/>
                </a:tc>
                <a:tc>
                  <a:txBody>
                    <a:bodyPr/>
                    <a:lstStyle/>
                    <a:p>
                      <a:pPr algn="ctr">
                        <a:lnSpc>
                          <a:spcPct val="115000"/>
                        </a:lnSpc>
                        <a:spcAft>
                          <a:spcPts val="0"/>
                        </a:spcAft>
                      </a:pPr>
                      <a:r>
                        <a:rPr lang="el-GR" sz="1200">
                          <a:effectLst/>
                        </a:rPr>
                        <a:t>Ε4</a:t>
                      </a:r>
                      <a:endParaRPr lang="el-GR" sz="1100">
                        <a:effectLst/>
                        <a:latin typeface="Calibri"/>
                        <a:ea typeface="Calibri"/>
                        <a:cs typeface="Times New Roman"/>
                      </a:endParaRPr>
                    </a:p>
                  </a:txBody>
                  <a:tcPr marL="9525" marR="9525" marT="9525" marB="9525" anchor="ctr"/>
                </a:tc>
              </a:tr>
              <a:tr h="198120">
                <a:tc>
                  <a:txBody>
                    <a:bodyPr/>
                    <a:lstStyle/>
                    <a:p>
                      <a:pPr>
                        <a:lnSpc>
                          <a:spcPct val="115000"/>
                        </a:lnSpc>
                        <a:spcAft>
                          <a:spcPts val="0"/>
                        </a:spcAft>
                      </a:pPr>
                      <a:r>
                        <a:rPr lang="el-GR" sz="1200">
                          <a:effectLst/>
                        </a:rPr>
                        <a:t>Α</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0"/>
                        </a:spcAft>
                      </a:pPr>
                      <a:r>
                        <a:rPr lang="el-GR" sz="1200">
                          <a:effectLst/>
                        </a:rPr>
                        <a:t>7</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0"/>
                        </a:spcAft>
                      </a:pPr>
                      <a:r>
                        <a:rPr lang="el-GR" sz="1200">
                          <a:effectLst/>
                        </a:rPr>
                        <a:t>4</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0"/>
                        </a:spcAft>
                      </a:pPr>
                      <a:r>
                        <a:rPr lang="el-GR" sz="1200">
                          <a:effectLst/>
                        </a:rPr>
                        <a:t>6</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0"/>
                        </a:spcAft>
                      </a:pPr>
                      <a:r>
                        <a:rPr lang="el-GR" sz="1200">
                          <a:effectLst/>
                        </a:rPr>
                        <a:t>8</a:t>
                      </a:r>
                      <a:endParaRPr lang="el-GR" sz="1100">
                        <a:effectLst/>
                        <a:latin typeface="Calibri"/>
                        <a:ea typeface="Calibri"/>
                        <a:cs typeface="Times New Roman"/>
                      </a:endParaRPr>
                    </a:p>
                  </a:txBody>
                  <a:tcPr marL="9525" marR="9525" marT="9525" marB="9525" anchor="ctr"/>
                </a:tc>
              </a:tr>
              <a:tr h="198120">
                <a:tc>
                  <a:txBody>
                    <a:bodyPr/>
                    <a:lstStyle/>
                    <a:p>
                      <a:pPr>
                        <a:lnSpc>
                          <a:spcPct val="115000"/>
                        </a:lnSpc>
                        <a:spcAft>
                          <a:spcPts val="0"/>
                        </a:spcAft>
                      </a:pPr>
                      <a:r>
                        <a:rPr lang="el-GR" sz="1200">
                          <a:effectLst/>
                        </a:rPr>
                        <a:t>Β</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0"/>
                        </a:spcAft>
                      </a:pPr>
                      <a:r>
                        <a:rPr lang="el-GR" sz="1200" dirty="0">
                          <a:effectLst/>
                        </a:rPr>
                        <a:t>5</a:t>
                      </a:r>
                      <a:endParaRPr lang="el-GR" sz="1100" dirty="0">
                        <a:effectLst/>
                        <a:latin typeface="Calibri"/>
                        <a:ea typeface="Calibri"/>
                        <a:cs typeface="Times New Roman"/>
                      </a:endParaRPr>
                    </a:p>
                  </a:txBody>
                  <a:tcPr marL="9525" marR="9525" marT="9525" marB="9525" anchor="ctr"/>
                </a:tc>
                <a:tc>
                  <a:txBody>
                    <a:bodyPr/>
                    <a:lstStyle/>
                    <a:p>
                      <a:pPr>
                        <a:lnSpc>
                          <a:spcPct val="115000"/>
                        </a:lnSpc>
                        <a:spcAft>
                          <a:spcPts val="0"/>
                        </a:spcAft>
                      </a:pPr>
                      <a:r>
                        <a:rPr lang="el-GR" sz="1200">
                          <a:effectLst/>
                        </a:rPr>
                        <a:t>3</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0"/>
                        </a:spcAft>
                      </a:pPr>
                      <a:r>
                        <a:rPr lang="el-GR" sz="1200">
                          <a:effectLst/>
                        </a:rPr>
                        <a:t>8</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0"/>
                        </a:spcAft>
                      </a:pPr>
                      <a:r>
                        <a:rPr lang="el-GR" sz="1200">
                          <a:effectLst/>
                        </a:rPr>
                        <a:t>6</a:t>
                      </a:r>
                      <a:endParaRPr lang="el-GR" sz="1100">
                        <a:effectLst/>
                        <a:latin typeface="Calibri"/>
                        <a:ea typeface="Calibri"/>
                        <a:cs typeface="Times New Roman"/>
                      </a:endParaRPr>
                    </a:p>
                  </a:txBody>
                  <a:tcPr marL="9525" marR="9525" marT="9525" marB="9525" anchor="ctr"/>
                </a:tc>
              </a:tr>
              <a:tr h="198120">
                <a:tc>
                  <a:txBody>
                    <a:bodyPr/>
                    <a:lstStyle/>
                    <a:p>
                      <a:pPr>
                        <a:lnSpc>
                          <a:spcPct val="115000"/>
                        </a:lnSpc>
                        <a:spcAft>
                          <a:spcPts val="0"/>
                        </a:spcAft>
                      </a:pPr>
                      <a:r>
                        <a:rPr lang="el-GR" sz="1200">
                          <a:effectLst/>
                        </a:rPr>
                        <a:t>Γ</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0"/>
                        </a:spcAft>
                      </a:pPr>
                      <a:r>
                        <a:rPr lang="el-GR" sz="1200">
                          <a:effectLst/>
                        </a:rPr>
                        <a:t>4</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0"/>
                        </a:spcAft>
                      </a:pPr>
                      <a:r>
                        <a:rPr lang="el-GR" sz="1200">
                          <a:effectLst/>
                        </a:rPr>
                        <a:t>5</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0"/>
                        </a:spcAft>
                      </a:pPr>
                      <a:r>
                        <a:rPr lang="el-GR" sz="1200">
                          <a:effectLst/>
                        </a:rPr>
                        <a:t>7</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0"/>
                        </a:spcAft>
                      </a:pPr>
                      <a:r>
                        <a:rPr lang="el-GR" sz="1200">
                          <a:effectLst/>
                        </a:rPr>
                        <a:t>3</a:t>
                      </a:r>
                      <a:endParaRPr lang="el-GR" sz="1100">
                        <a:effectLst/>
                        <a:latin typeface="Calibri"/>
                        <a:ea typeface="Calibri"/>
                        <a:cs typeface="Times New Roman"/>
                      </a:endParaRPr>
                    </a:p>
                  </a:txBody>
                  <a:tcPr marL="9525" marR="9525" marT="9525" marB="9525" anchor="ctr"/>
                </a:tc>
              </a:tr>
              <a:tr h="205105">
                <a:tc>
                  <a:txBody>
                    <a:bodyPr/>
                    <a:lstStyle/>
                    <a:p>
                      <a:pPr>
                        <a:lnSpc>
                          <a:spcPct val="115000"/>
                        </a:lnSpc>
                        <a:spcAft>
                          <a:spcPts val="0"/>
                        </a:spcAft>
                      </a:pPr>
                      <a:r>
                        <a:rPr lang="el-GR" sz="1200">
                          <a:effectLst/>
                        </a:rPr>
                        <a:t>Δ</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0"/>
                        </a:spcAft>
                      </a:pPr>
                      <a:r>
                        <a:rPr lang="el-GR" sz="1200">
                          <a:effectLst/>
                        </a:rPr>
                        <a:t>6</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0"/>
                        </a:spcAft>
                      </a:pPr>
                      <a:r>
                        <a:rPr lang="el-GR" sz="1200">
                          <a:effectLst/>
                        </a:rPr>
                        <a:t>7</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0"/>
                        </a:spcAft>
                      </a:pPr>
                      <a:r>
                        <a:rPr lang="el-GR" sz="1200">
                          <a:effectLst/>
                        </a:rPr>
                        <a:t>5</a:t>
                      </a:r>
                      <a:endParaRPr lang="el-GR" sz="1100">
                        <a:effectLst/>
                        <a:latin typeface="Calibri"/>
                        <a:ea typeface="Calibri"/>
                        <a:cs typeface="Times New Roman"/>
                      </a:endParaRPr>
                    </a:p>
                  </a:txBody>
                  <a:tcPr marL="9525" marR="9525" marT="9525" marB="9525" anchor="ctr"/>
                </a:tc>
                <a:tc>
                  <a:txBody>
                    <a:bodyPr/>
                    <a:lstStyle/>
                    <a:p>
                      <a:pPr>
                        <a:lnSpc>
                          <a:spcPct val="115000"/>
                        </a:lnSpc>
                        <a:spcAft>
                          <a:spcPts val="0"/>
                        </a:spcAft>
                      </a:pPr>
                      <a:r>
                        <a:rPr lang="el-GR" sz="1200" dirty="0">
                          <a:effectLst/>
                        </a:rPr>
                        <a:t>4</a:t>
                      </a:r>
                      <a:endParaRPr lang="el-GR" sz="1100" dirty="0">
                        <a:effectLst/>
                        <a:latin typeface="Calibri"/>
                        <a:ea typeface="Calibri"/>
                        <a:cs typeface="Times New Roman"/>
                      </a:endParaRPr>
                    </a:p>
                  </a:txBody>
                  <a:tcPr marL="9525" marR="9525" marT="9525" marB="9525" anchor="ctr"/>
                </a:tc>
              </a:tr>
            </a:tbl>
          </a:graphicData>
        </a:graphic>
      </p:graphicFrame>
      <p:sp>
        <p:nvSpPr>
          <p:cNvPr id="5" name="Rectangle 1"/>
          <p:cNvSpPr>
            <a:spLocks noChangeArrowheads="1"/>
          </p:cNvSpPr>
          <p:nvPr/>
        </p:nvSpPr>
        <p:spPr bwMode="auto">
          <a:xfrm>
            <a:off x="581681" y="3593402"/>
            <a:ext cx="7272808"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l-GR" u="sng" dirty="0" smtClean="0">
                <a:latin typeface="Calibri" panose="020F0502020204030204" pitchFamily="34" charset="0"/>
                <a:cs typeface="Calibri" panose="020F0502020204030204" pitchFamily="34" charset="0"/>
              </a:rPr>
              <a:t>Βήματα Επίλυσης</a:t>
            </a:r>
            <a:r>
              <a:rPr kumimoji="0" lang="el-GR" altLang="el-GR" b="0" i="0" u="sng" strike="noStrike" cap="none" normalizeH="0" baseline="0" dirty="0" smtClean="0">
                <a:ln>
                  <a:noFill/>
                </a:ln>
                <a:solidFill>
                  <a:schemeClr val="tx1"/>
                </a:solidFill>
                <a:effectLst/>
                <a:latin typeface="Calibri" pitchFamily="34" charset="0"/>
                <a:ea typeface="Times New Roman" pitchFamily="18" charset="0"/>
                <a:cs typeface="Calibri" pitchFamily="34" charset="0"/>
              </a:rPr>
              <a:t>:</a:t>
            </a:r>
            <a:endParaRPr kumimoji="0" lang="el-GR" altLang="el-GR" b="0" i="0" u="none" strike="noStrike" cap="none" normalizeH="0" baseline="0" dirty="0" smtClean="0">
              <a:ln>
                <a:noFill/>
              </a:ln>
              <a:solidFill>
                <a:schemeClr val="tx1"/>
              </a:solidFill>
              <a:effectLst/>
              <a:latin typeface="Arial" pitchFamily="34" charset="0"/>
              <a:cs typeface="Arial" pitchFamily="34" charset="0"/>
            </a:endParaRPr>
          </a:p>
        </p:txBody>
      </p:sp>
      <p:sp>
        <p:nvSpPr>
          <p:cNvPr id="6" name="Ορθογώνιο 5"/>
          <p:cNvSpPr/>
          <p:nvPr/>
        </p:nvSpPr>
        <p:spPr>
          <a:xfrm>
            <a:off x="611560" y="4149080"/>
            <a:ext cx="7488832" cy="2031325"/>
          </a:xfrm>
          <a:prstGeom prst="rect">
            <a:avLst/>
          </a:prstGeom>
        </p:spPr>
        <p:txBody>
          <a:bodyPr wrap="square">
            <a:spAutoFit/>
          </a:bodyPr>
          <a:lstStyle/>
          <a:p>
            <a:pPr marL="342900" lvl="0" indent="-342900">
              <a:buClr>
                <a:schemeClr val="tx2"/>
              </a:buClr>
              <a:buFont typeface="+mj-lt"/>
              <a:buAutoNum type="arabicPeriod"/>
            </a:pPr>
            <a:r>
              <a:rPr lang="el-GR" dirty="0">
                <a:latin typeface="Calibri" panose="020F0502020204030204" pitchFamily="34" charset="0"/>
                <a:cs typeface="Calibri" panose="020F0502020204030204" pitchFamily="34" charset="0"/>
              </a:rPr>
              <a:t>Αφαίρεση των ελάχιστων τιμών ανά στήλη από κάθε στοιχείο της αντίστοιχης </a:t>
            </a:r>
            <a:r>
              <a:rPr lang="el-GR" dirty="0" smtClean="0">
                <a:latin typeface="Calibri" panose="020F0502020204030204" pitchFamily="34" charset="0"/>
                <a:cs typeface="Calibri" panose="020F0502020204030204" pitchFamily="34" charset="0"/>
              </a:rPr>
              <a:t>στήλης</a:t>
            </a:r>
            <a:endParaRPr lang="el-GR" dirty="0">
              <a:latin typeface="Calibri" panose="020F0502020204030204" pitchFamily="34" charset="0"/>
              <a:cs typeface="Calibri" panose="020F0502020204030204" pitchFamily="34" charset="0"/>
            </a:endParaRPr>
          </a:p>
          <a:p>
            <a:pPr marL="342900" lvl="0" indent="-342900">
              <a:buClr>
                <a:schemeClr val="tx2"/>
              </a:buClr>
              <a:buFont typeface="+mj-lt"/>
              <a:buAutoNum type="arabicPeriod"/>
            </a:pPr>
            <a:r>
              <a:rPr lang="el-GR" dirty="0">
                <a:latin typeface="Calibri" panose="020F0502020204030204" pitchFamily="34" charset="0"/>
                <a:cs typeface="Calibri" panose="020F0502020204030204" pitchFamily="34" charset="0"/>
              </a:rPr>
              <a:t>Επιλογή ανεξάρτητων </a:t>
            </a:r>
            <a:r>
              <a:rPr lang="el-GR" dirty="0" smtClean="0">
                <a:latin typeface="Calibri" panose="020F0502020204030204" pitchFamily="34" charset="0"/>
                <a:cs typeface="Calibri" panose="020F0502020204030204" pitchFamily="34" charset="0"/>
              </a:rPr>
              <a:t>μηδενικών</a:t>
            </a:r>
            <a:endParaRPr lang="el-GR" dirty="0">
              <a:latin typeface="Calibri" panose="020F0502020204030204" pitchFamily="34" charset="0"/>
              <a:cs typeface="Calibri" panose="020F0502020204030204" pitchFamily="34" charset="0"/>
            </a:endParaRPr>
          </a:p>
          <a:p>
            <a:pPr marL="342900" lvl="0" indent="-342900">
              <a:buClr>
                <a:schemeClr val="tx2"/>
              </a:buClr>
              <a:buFont typeface="+mj-lt"/>
              <a:buAutoNum type="arabicPeriod"/>
            </a:pPr>
            <a:r>
              <a:rPr lang="el-GR" dirty="0">
                <a:latin typeface="Calibri" panose="020F0502020204030204" pitchFamily="34" charset="0"/>
                <a:cs typeface="Calibri" panose="020F0502020204030204" pitchFamily="34" charset="0"/>
              </a:rPr>
              <a:t>Σημειώσεις για τις καλυμμένες και μη καλυμμένες γραμμές και </a:t>
            </a:r>
            <a:r>
              <a:rPr lang="el-GR" dirty="0" smtClean="0">
                <a:latin typeface="Calibri" panose="020F0502020204030204" pitchFamily="34" charset="0"/>
                <a:cs typeface="Calibri" panose="020F0502020204030204" pitchFamily="34" charset="0"/>
              </a:rPr>
              <a:t>στήλες</a:t>
            </a:r>
            <a:endParaRPr lang="el-GR" dirty="0">
              <a:latin typeface="Calibri" panose="020F0502020204030204" pitchFamily="34" charset="0"/>
              <a:cs typeface="Calibri" panose="020F0502020204030204" pitchFamily="34" charset="0"/>
            </a:endParaRPr>
          </a:p>
          <a:p>
            <a:pPr marL="342900" lvl="0" indent="-342900">
              <a:buClr>
                <a:schemeClr val="tx2"/>
              </a:buClr>
              <a:buFont typeface="+mj-lt"/>
              <a:buAutoNum type="arabicPeriod"/>
            </a:pPr>
            <a:r>
              <a:rPr lang="el-GR" dirty="0">
                <a:latin typeface="Calibri" panose="020F0502020204030204" pitchFamily="34" charset="0"/>
                <a:cs typeface="Calibri" panose="020F0502020204030204" pitchFamily="34" charset="0"/>
              </a:rPr>
              <a:t>Κάλυψη των γραμμών και στηλών και υπολογισμός του ελάχιστου μη καλυμμένου </a:t>
            </a:r>
            <a:r>
              <a:rPr lang="el-GR" dirty="0" smtClean="0">
                <a:latin typeface="Calibri" panose="020F0502020204030204" pitchFamily="34" charset="0"/>
                <a:cs typeface="Calibri" panose="020F0502020204030204" pitchFamily="34" charset="0"/>
              </a:rPr>
              <a:t>στοιχείου</a:t>
            </a:r>
            <a:endParaRPr lang="el-GR" dirty="0">
              <a:latin typeface="Calibri" panose="020F0502020204030204" pitchFamily="34" charset="0"/>
              <a:cs typeface="Calibri" panose="020F0502020204030204" pitchFamily="34" charset="0"/>
            </a:endParaRPr>
          </a:p>
          <a:p>
            <a:pPr marL="342900" lvl="0" indent="-342900">
              <a:buClr>
                <a:schemeClr val="tx2"/>
              </a:buClr>
              <a:buFont typeface="+mj-lt"/>
              <a:buAutoNum type="arabicPeriod"/>
            </a:pPr>
            <a:r>
              <a:rPr lang="el-GR" dirty="0">
                <a:latin typeface="Calibri" panose="020F0502020204030204" pitchFamily="34" charset="0"/>
                <a:cs typeface="Calibri" panose="020F0502020204030204" pitchFamily="34" charset="0"/>
              </a:rPr>
              <a:t>Νέα ανάθεση και υπολογισμός του συνολικού ελάχιστου </a:t>
            </a:r>
            <a:r>
              <a:rPr lang="el-GR" dirty="0" smtClean="0">
                <a:latin typeface="Calibri" panose="020F0502020204030204" pitchFamily="34" charset="0"/>
                <a:cs typeface="Calibri" panose="020F0502020204030204" pitchFamily="34" charset="0"/>
              </a:rPr>
              <a:t>κόστους</a:t>
            </a:r>
            <a:endParaRPr lang="el-GR"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xmlns="" val="23716363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title"/>
          </p:nvPr>
        </p:nvSpPr>
        <p:spPr>
          <a:xfrm>
            <a:off x="500034" y="214290"/>
            <a:ext cx="7239000" cy="519546"/>
          </a:xfrm>
        </p:spPr>
        <p:txBody>
          <a:bodyPr>
            <a:normAutofit/>
          </a:bodyPr>
          <a:lstStyle/>
          <a:p>
            <a:pPr algn="ctr"/>
            <a:r>
              <a:rPr lang="el-GR" sz="3000" dirty="0" smtClean="0"/>
              <a:t>ΒΙΒΛΙΟΓΡΑΦΙΑ (1/2)</a:t>
            </a:r>
            <a:endParaRPr lang="el-GR" sz="3000" dirty="0"/>
          </a:p>
        </p:txBody>
      </p:sp>
      <p:sp>
        <p:nvSpPr>
          <p:cNvPr id="3" name="Θέση περιεχομένου 2"/>
          <p:cNvSpPr>
            <a:spLocks noGrp="1"/>
          </p:cNvSpPr>
          <p:nvPr>
            <p:ph idx="1"/>
          </p:nvPr>
        </p:nvSpPr>
        <p:spPr>
          <a:xfrm>
            <a:off x="428596" y="928670"/>
            <a:ext cx="7239000" cy="5715040"/>
          </a:xfrm>
        </p:spPr>
        <p:txBody>
          <a:bodyPr>
            <a:normAutofit/>
          </a:bodyPr>
          <a:lstStyle/>
          <a:p>
            <a:r>
              <a:rPr lang="el-GR" sz="1700" dirty="0" err="1" smtClean="0"/>
              <a:t>Taha</a:t>
            </a:r>
            <a:r>
              <a:rPr lang="el-GR" sz="1700" dirty="0" smtClean="0"/>
              <a:t>, H. A. (2017). </a:t>
            </a:r>
            <a:r>
              <a:rPr lang="el-GR" sz="1700" i="1" dirty="0" smtClean="0"/>
              <a:t>Εισαγωγή στην ΕΠΙΧΕΙΡΗΣΙΑΚΗ ΕΡΕΥΝΑ.</a:t>
            </a:r>
            <a:r>
              <a:rPr lang="el-GR" sz="1700" dirty="0" smtClean="0"/>
              <a:t> Θεσσαλονίκη: ΔΕΚΑΤΗ ΕΚΔΟΣΗ, ΕΚΔΟΣΕΙΣ ΤΖΙΟΛΑ.</a:t>
            </a:r>
          </a:p>
          <a:p>
            <a:r>
              <a:rPr lang="el-GR" sz="1700" i="1" dirty="0" smtClean="0"/>
              <a:t>Γραμμικός προγραμματισμός - </a:t>
            </a:r>
            <a:r>
              <a:rPr lang="el-GR" sz="1700" i="1" dirty="0" err="1" smtClean="0"/>
              <a:t>Βικιπαίδεια</a:t>
            </a:r>
            <a:r>
              <a:rPr lang="el-GR" sz="1700" dirty="0" smtClean="0"/>
              <a:t>. (2016, 9 27). Ανάκτηση 4 25, 2025, από https://el.wikipedia.org/wiki/%CE%A0%CF%8D%CE%BB%CE%B7:%CE%9A%CF%8D%CF%81%CE%B9%CE%B1: https://el.wikipedia.org/wiki/%CE%93%CF%81%CE%B1%CE%BC%CE%BC%CE%B9%CE%BA%CF%8C%CF%82_%CF%80%CF%81%CE%BF%CE%B3%CF%81%CE%B1%CE%BC%CE%BC%CE%B1%CF%84%CE%B9%CF%83%CE%BC%CF%8C%CF%82</a:t>
            </a:r>
          </a:p>
          <a:p>
            <a:r>
              <a:rPr lang="el-GR" sz="1700" i="1" dirty="0" smtClean="0"/>
              <a:t>ΓΡΑΜΜΙΚΟΣ ΠΡΟΓΡΑΜΜΑΤΙΣΜΟΣ</a:t>
            </a:r>
            <a:r>
              <a:rPr lang="el-GR" sz="1700" dirty="0" smtClean="0"/>
              <a:t>. (2025, 4 25). Ανάκτηση από https://www.google.com/search?q=%CE%B3%CF%81%CE%B1%CE%BC%CE%BC%CE%B9%CE%BA%CF%8C%CF%83+%CF%80%CF%81%CE%BF%CE%B3%CF%81%CE%B1%CE%BC%CE%BC%CE%B1%CF%84%CE%B9%CF%83%CE%BC%CF%8C%CF%83+%CF%84%CE%BC%CE%B7%CE%BC%CE%B1+%CE%BC%CE%B7%CF%87%CE%B1%CE%BD%CE%B9%CE%BA%CF%: chrome-extension://efaidnbmnnnibpcajpcglclefindmkaj/https://people.iee.ihu.gr/~vkostogl/files/Epixeirisiaki/Grammikos%20Programmatismos.pdf</a:t>
            </a:r>
          </a:p>
        </p:txBody>
      </p:sp>
    </p:spTree>
    <p:extLst>
      <p:ext uri="{BB962C8B-B14F-4D97-AF65-F5344CB8AC3E}">
        <p14:creationId xmlns:p14="http://schemas.microsoft.com/office/powerpoint/2010/main" xmlns="" val="34811660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a:xfrm>
            <a:off x="500034" y="142852"/>
            <a:ext cx="7239000" cy="605808"/>
          </a:xfrm>
        </p:spPr>
        <p:txBody>
          <a:bodyPr>
            <a:normAutofit/>
          </a:bodyPr>
          <a:lstStyle/>
          <a:p>
            <a:pPr algn="ctr"/>
            <a:r>
              <a:rPr lang="el-GR" sz="3000" dirty="0" smtClean="0"/>
              <a:t>ΒΙΒΛΙΟΓΡΑΦΙΑ (2/2)</a:t>
            </a:r>
            <a:endParaRPr lang="el-GR" sz="3000" dirty="0"/>
          </a:p>
        </p:txBody>
      </p:sp>
      <p:sp>
        <p:nvSpPr>
          <p:cNvPr id="3" name="2 - Θέση περιεχομένου"/>
          <p:cNvSpPr>
            <a:spLocks noGrp="1"/>
          </p:cNvSpPr>
          <p:nvPr>
            <p:ph idx="1"/>
          </p:nvPr>
        </p:nvSpPr>
        <p:spPr>
          <a:xfrm>
            <a:off x="457200" y="857232"/>
            <a:ext cx="7239000" cy="5786478"/>
          </a:xfrm>
        </p:spPr>
        <p:txBody>
          <a:bodyPr>
            <a:normAutofit fontScale="25000" lnSpcReduction="20000"/>
          </a:bodyPr>
          <a:lstStyle/>
          <a:p>
            <a:r>
              <a:rPr lang="el-GR" sz="6400" i="1" dirty="0" smtClean="0"/>
              <a:t>Μελέτη και αποτίμηση αλγορίθμων επίλυσης του προβλήματος ανάθεσης</a:t>
            </a:r>
            <a:r>
              <a:rPr lang="el-GR" sz="6400" dirty="0" smtClean="0"/>
              <a:t>. (2025, 4 25). Ανάκτηση από https://www.google.com/search?q=%CE%BC%CE%B5%CE%BB%CE%B5%CF%84%CE%B7+%CE%BA%CE%B1%CE%B9+%CE%B1%CF%80%CE%BF%CF%84%CE%B9%CE%BC%CE%B7%CF%83%CE%B7+%CE%B1%CE%BB%CE%B3%CE%BF%CF%81%CE%B9%CE%B8%CE%BC%CF%89%CF%82+%CE%B5%CF%80%CE%B9%CE%BB%CF%85%CF%83%CE%B7%CF%82+&amp;s: chrome-extension://efaidnbmnnnibpcajpcglclefindmkaj/https://ir.lib.uth.gr/xmlui/bitstream/handle/11615/41315/10704.pdf?sequence=1&amp;isAllowed=y</a:t>
            </a:r>
          </a:p>
          <a:p>
            <a:r>
              <a:rPr lang="el-GR" sz="6400" i="1" dirty="0" smtClean="0"/>
              <a:t>πρόβλημα μεταφοράς</a:t>
            </a:r>
            <a:r>
              <a:rPr lang="el-GR" sz="6400" dirty="0" smtClean="0"/>
              <a:t>. (2025, 4 25). Ανάκτηση από https://www.google.com/search?q=%CE%A0%CF%81%CE%BF%CE%B2%CE%BB%CE%B7%CE%BC%CE%B1+%CE%BC%CE%B5%CF%84%CE%B1%CF%86%CE%BF%CF%81%CE%B1%CF%82&amp;oq=%CE%A0%CF%81%CE%BF%CE%B2%CE%BB%CE%B7%CE%BC%CE%B1+%CE%BC%CE%B5%CF%84%CE%B1%CF%86%CE%BF%CF%81%CE%B1%CF%82&amp;gs_lcrp=EgZj: chrome-extension://efaidnbmnnnibpcajpcglclefindmkaj/https://eclass.upatras.gr/modules/document/file.php/ECON1281/%CE%A0%CE%91%CE%A1%CE%9F%CE%A5%CE%A3%CE%99%CE%91%CE%A3%CE%95%CE%99%CE%A3%20%CE%9C%CE%91%CE%98%CE%97%CE%9C%CE%91%CE%A4%CE%A9%CE%9D/%CE%95%CF%80</a:t>
            </a:r>
          </a:p>
          <a:p>
            <a:r>
              <a:rPr lang="el-GR" sz="6400" i="1" dirty="0" smtClean="0"/>
              <a:t>Τμήμα 2.4: Προβλήματα Κατανομής ή Ανάθεσης</a:t>
            </a:r>
            <a:r>
              <a:rPr lang="el-GR" sz="6400" dirty="0" smtClean="0"/>
              <a:t>. (2025, 4 25). Ανάκτηση από https://www.google.com/search?q=%CF%80%CF%81%CE%BF%CE%B2%CE%BB%CE%B7%CE%BC%CE%B1%CF%84%CE%B1+%CE%BA%CE%B1%CF%84%CE%B1%CE%BD%CE%BF%CE%BC%CE%B7%CF%82+%CE%BA%CE%B1%CE%B9+%CE%B1%CE%BD%CE%B1%CE%B8%CE%B5%CF%83%CE%B7%CF%82&amp;sca_esv=c0e29f6dcc44160e&amp;ei=R1gLaLCMBvm: https://users.uniwa.gr/vmouss/ebooks/optimee/sections/section24_problkatanathesis.html</a:t>
            </a:r>
          </a:p>
          <a:p>
            <a:endParaRPr lang="el-GR"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a:xfrm>
            <a:off x="457200" y="2500306"/>
            <a:ext cx="7239000" cy="2000264"/>
          </a:xfrm>
        </p:spPr>
        <p:txBody>
          <a:bodyPr>
            <a:normAutofit/>
          </a:bodyPr>
          <a:lstStyle/>
          <a:p>
            <a:pPr algn="ctr"/>
            <a:r>
              <a:rPr lang="el-GR" sz="3000" dirty="0" smtClean="0">
                <a:solidFill>
                  <a:schemeClr val="tx2"/>
                </a:solidFill>
              </a:rPr>
              <a:t>σασ ευχαριστω πολυ για τον χρονο σασ!</a:t>
            </a:r>
            <a:r>
              <a:rPr lang="el-GR" sz="4000" dirty="0" smtClean="0">
                <a:solidFill>
                  <a:schemeClr val="tx2"/>
                </a:solidFill>
              </a:rPr>
              <a:t/>
            </a:r>
            <a:br>
              <a:rPr lang="el-GR" sz="4000" dirty="0" smtClean="0">
                <a:solidFill>
                  <a:schemeClr val="tx2"/>
                </a:solidFill>
              </a:rPr>
            </a:br>
            <a:endParaRPr lang="el-GR"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Αφθονία">
  <a:themeElements>
    <a:clrScheme name="Αφθονία">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Αφθονία">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Αφθονία">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426</TotalTime>
  <Words>1432</Words>
  <Application>Microsoft Office PowerPoint</Application>
  <PresentationFormat>Προβολή στην οθόνη (4:3)</PresentationFormat>
  <Paragraphs>257</Paragraphs>
  <Slides>17</Slides>
  <Notes>0</Notes>
  <HiddenSlides>0</HiddenSlides>
  <MMClips>0</MMClips>
  <ScaleCrop>false</ScaleCrop>
  <HeadingPairs>
    <vt:vector size="4" baseType="variant">
      <vt:variant>
        <vt:lpstr>Θέμα</vt:lpstr>
      </vt:variant>
      <vt:variant>
        <vt:i4>1</vt:i4>
      </vt:variant>
      <vt:variant>
        <vt:lpstr>Τίτλοι διαφανειών</vt:lpstr>
      </vt:variant>
      <vt:variant>
        <vt:i4>17</vt:i4>
      </vt:variant>
    </vt:vector>
  </HeadingPairs>
  <TitlesOfParts>
    <vt:vector size="18" baseType="lpstr">
      <vt:lpstr>Αφθονία</vt:lpstr>
      <vt:lpstr>ΕΦΑΡΜΟΓΕΣ ΓΡΑΜΜΙΚΟΥ ΠΡΟΓΡΑΜΜΑΤΙΣΜΟΥ ΣΤΑ ΨΗΦΙΑΚΑ ΣΥΣΤΗΜΑΤΑ</vt:lpstr>
      <vt:lpstr>ΕΙΣΑΓΩΓΗ </vt:lpstr>
      <vt:lpstr>Ιδιοτητεσ του γραμμικου προγραμματισμου </vt:lpstr>
      <vt:lpstr>Θεμελιωδεισ εννοιεσ του γραμμικου προγραμματισμου</vt:lpstr>
      <vt:lpstr>Εφαρμογεσ του γραμμικου προγραμματισμου </vt:lpstr>
      <vt:lpstr>ΠΡΟΒΛΗΜΑ ΜΕΤΑΦΟΡΑΣ ΚΑΙ ΑΝΑΘΕΣΗΣ</vt:lpstr>
      <vt:lpstr>ΕΠΙΛΥΣΗ ΜΕ ΕΙΔΙΚΟΥΣ ΑΛΓΟΡΙΘΜΟΥΣ Ή ΓΕΝΙΚΕΣ ΜΕΘΟΔΟΥΣ (1/6)</vt:lpstr>
      <vt:lpstr>ΕΠΙΛΥΣΗ ΜΕ ΕΙΔΙΚΟΥΣ ΑΛΓΟΡΙΘΜΟΥΣ Ή ΓΕΝΙΚΕΣ ΜΕΘΟΔΟΥΣ (2/6)</vt:lpstr>
      <vt:lpstr>ΕΠΙΛΥΣΗ ΜΕ ΕΙΔΙΚΟΥΣ ΑΛΓΟΡΙΘΜΟΥΣ Ή ΓΕΝΙΚΕΣ ΜΕΘΟΔΟΥΣ (3/6)</vt:lpstr>
      <vt:lpstr>ΕΠΙΛΥΣΗ ΜΕ ΕΙΔΙΚΟΥΣ ΑΛΓΟΡΙΘΜΟΥΣ Ή ΓΕΝΙΚΕΣ ΜΕΘΟΔΟΥΣ (4/6)</vt:lpstr>
      <vt:lpstr>ΕΠΙΛΥΣΗ ΜΕ ΕΙΔΙΚΟΥΣ ΑΛΓΟΡΙΘΜΟΥΣ Ή ΓΕΝΙΚΕΣ ΜΕΘΟΔΟΥΣ (5/6)</vt:lpstr>
      <vt:lpstr>ΕΠΙΛΥΣΗ ΜΕ ΕΙΔΙΚΟΥΣ ΑΛΓΟΡΙΘΜΟΥΣ Ή ΓΕΝΙΚΕΣ ΜΕΘΟΔΟΥΣ (6/6)</vt:lpstr>
      <vt:lpstr>ασκηση MODI</vt:lpstr>
      <vt:lpstr>ασκηση Hungarian</vt:lpstr>
      <vt:lpstr>ΒΙΒΛΙΟΓΡΑΦΙΑ (1/2)</vt:lpstr>
      <vt:lpstr>ΒΙΒΛΙΟΓΡΑΦΙΑ (2/2)</vt:lpstr>
      <vt:lpstr>σασ ευχαριστω πολυ για τον χρονο σασ!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ΕΦΑΡΜΟΓΕΣ ΓΡΑΜΜΙΚΟΥ ΠΡΟΓΡΑΜΜΑΤΙΣΜΟΥ ΣΤΑ ΨΗΦΙΑΚΑ ΣΥΣΤΗΜΑΤΑ</dc:title>
  <dc:creator>User</dc:creator>
  <cp:lastModifiedBy>Ειρήνη</cp:lastModifiedBy>
  <cp:revision>112</cp:revision>
  <dcterms:created xsi:type="dcterms:W3CDTF">2025-04-22T10:07:40Z</dcterms:created>
  <dcterms:modified xsi:type="dcterms:W3CDTF">2025-11-08T10:28:07Z</dcterms:modified>
</cp:coreProperties>
</file>